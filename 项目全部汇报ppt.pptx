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74" r:id="rId5"/>
  </p:sldMasterIdLst>
  <p:notesMasterIdLst>
    <p:notesMasterId r:id="rId7"/>
  </p:notesMasterIdLst>
  <p:sldIdLst>
    <p:sldId id="300" r:id="rId6"/>
    <p:sldId id="301" r:id="rId8"/>
    <p:sldId id="302" r:id="rId9"/>
    <p:sldId id="303" r:id="rId10"/>
    <p:sldId id="304" r:id="rId11"/>
    <p:sldId id="305" r:id="rId12"/>
    <p:sldId id="306" r:id="rId13"/>
    <p:sldId id="307" r:id="rId14"/>
    <p:sldId id="308" r:id="rId15"/>
    <p:sldId id="309" r:id="rId16"/>
    <p:sldId id="310" r:id="rId17"/>
    <p:sldId id="311" r:id="rId18"/>
    <p:sldId id="312" r:id="rId19"/>
    <p:sldId id="313" r:id="rId20"/>
    <p:sldId id="256" r:id="rId21"/>
    <p:sldId id="270" r:id="rId22"/>
    <p:sldId id="314" r:id="rId23"/>
    <p:sldId id="260" r:id="rId24"/>
    <p:sldId id="262" r:id="rId25"/>
    <p:sldId id="289" r:id="rId26"/>
    <p:sldId id="290" r:id="rId27"/>
    <p:sldId id="291" r:id="rId28"/>
    <p:sldId id="263" r:id="rId29"/>
    <p:sldId id="292" r:id="rId30"/>
    <p:sldId id="293" r:id="rId31"/>
    <p:sldId id="294" r:id="rId32"/>
    <p:sldId id="295" r:id="rId33"/>
    <p:sldId id="296" r:id="rId34"/>
    <p:sldId id="266" r:id="rId35"/>
    <p:sldId id="268" r:id="rId36"/>
    <p:sldId id="281" r:id="rId37"/>
    <p:sldId id="298" r:id="rId38"/>
    <p:sldId id="316" r:id="rId39"/>
    <p:sldId id="317" r:id="rId40"/>
    <p:sldId id="318" r:id="rId41"/>
    <p:sldId id="319" r:id="rId42"/>
    <p:sldId id="320" r:id="rId43"/>
    <p:sldId id="321" r:id="rId44"/>
    <p:sldId id="322" r:id="rId45"/>
    <p:sldId id="323" r:id="rId46"/>
    <p:sldId id="324" r:id="rId47"/>
  </p:sldIdLst>
  <p:sldSz cx="12192000" cy="68580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3DCFB"/>
    <a:srgbClr val="F8FAFC"/>
    <a:srgbClr val="F0F4FE"/>
    <a:srgbClr val="71ABF9"/>
    <a:srgbClr val="70AB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50" Type="http://schemas.openxmlformats.org/officeDocument/2006/relationships/tableStyles" Target="tableStyles.xml"/><Relationship Id="rId5" Type="http://schemas.openxmlformats.org/officeDocument/2006/relationships/slideMaster" Target="slideMasters/slideMaster4.xml"/><Relationship Id="rId49" Type="http://schemas.openxmlformats.org/officeDocument/2006/relationships/viewProps" Target="viewProps.xml"/><Relationship Id="rId48" Type="http://schemas.openxmlformats.org/officeDocument/2006/relationships/presProps" Target="presProps.xml"/><Relationship Id="rId47" Type="http://schemas.openxmlformats.org/officeDocument/2006/relationships/slide" Target="slides/slide41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0" Type="http://schemas.openxmlformats.org/officeDocument/2006/relationships/slide" Target="slides/slide34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0" Type="http://schemas.openxmlformats.org/officeDocument/2006/relationships/slide" Target="slides/slide14.xml"/><Relationship Id="rId2" Type="http://schemas.openxmlformats.org/officeDocument/2006/relationships/theme" Target="theme/theme1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各位老师同学好。我是本组 SRS 负责人。挑战需求A 的素材不是需求文档，而是一份 771KB 的澄清对话记录；我的工作是把对话变成可直接开发的需求基线。今天重点讲三部分：澄清了哪些关键问题、遇到什么问题以及怎么解决、最终得到什么结论。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五部分，约 15 分钟。重点在第二、三部分：澄清了什么，以及问题怎么解决。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四项职责：素材提取与整理、需求建模与编写、一致性治理、需求追溯与落地。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四个阶段，版本从 V1.0 到 V2.1，每次澄清一个版本，增量更新不重写。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澄清方法三件套：5W1H 提问清单、场景剧本法、追溯矩阵。最终 13 个主题、110 条裁定、23 条待确认、4 处矛盾、7 处改口。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第一个澄清重点是账号体系。基线是匿名加口令码，升级 A 全部推翻改成账号制：需要注册、不要短信验证码、浏览免登录但提交意向强制登录、口令码整体废除。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第二组是交易与队列，推翻了基线三条行为：成交不再立即下架、递补改为卖家确认、买家不能撤销。队列严格先到先得，库存不限制排队。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第三组是卖家商品管理：取消一次只卖一件；补货后不自动上架；分类不支持移动；商品发布后仅可改库存与类别；图片至多 9 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第四组：历史只显示已出结果；卖家可见客户明文电话但只读；平台管理员是团队决策；存量匿名意向按 RA5 只读归档；系统完全没有通知机制。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处并存矛盾，重点讲两个：C-1 业务方说没定，转成 T-23 并给团队暂定，实现留可配置；C-2 裁定补货后仍需手动上架。其余 2 处已裁定回填。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业务方自己前后改口共 7 处，重点讲两个：自动递补改成卖家确认、成交从即下架改成减 1。我的办法是逐轮比对同一主题，后轮覆盖前轮，正文只保留最终结论。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23 条待确认四类分流。明确不做的 6 条建成 OUT-01 需求项，让测试做反向验证。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最终 SRS V2.1：待澄清标记清零、编号连续、每条需求可追溯来源与验收场景。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禅道四步：新建产品、维护模块、录入需求、管理计划。3 个 Sprint 按依赖关系排。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BB9A4-6188-054A-B886-CEA06595B4D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C796F-0699-D84B-A44F-610FBC4473E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BB9A4-6188-054A-B886-CEA06595B4D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C796F-0699-D84B-A44F-610FBC4473E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21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2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BB9A4-6188-054A-B886-CEA06595B4D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2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2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C796F-0699-D84B-A44F-610FBC4473E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27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28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2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BB9A4-6188-054A-B886-CEA06595B4D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C796F-0699-D84B-A44F-610FBC4473E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4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35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36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37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3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BB9A4-6188-054A-B886-CEA06595B4D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C796F-0699-D84B-A44F-610FBC4473E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4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BB9A4-6188-054A-B886-CEA06595B4D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C796F-0699-D84B-A44F-610FBC4473E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BB9A4-6188-054A-B886-CEA06595B4D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8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C796F-0699-D84B-A44F-610FBC4473E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内容与标题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52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3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4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BB9A4-6188-054A-B886-CEA06595B4D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5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6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C796F-0699-D84B-A44F-610FBC4473E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图片与标题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59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60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1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BB9A4-6188-054A-B886-CEA06595B4D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2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3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C796F-0699-D84B-A44F-610FBC4473E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标题和竖排文字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66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BB9A4-6188-054A-B886-CEA06595B4D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C796F-0699-D84B-A44F-610FBC4473E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竖排标题与文本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15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1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BB9A4-6188-054A-B886-CEA06595B4D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1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1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C796F-0699-D84B-A44F-610FBC4473E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BB9A4-6188-054A-B886-CEA06595B4D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C796F-0699-D84B-A44F-610FBC4473E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BB9A4-6188-054A-B886-CEA06595B4D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C796F-0699-D84B-A44F-610FBC4473E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21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2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BB9A4-6188-054A-B886-CEA06595B4D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2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2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C796F-0699-D84B-A44F-610FBC4473E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27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28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2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BB9A4-6188-054A-B886-CEA06595B4D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C796F-0699-D84B-A44F-610FBC4473E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4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35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36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37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3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BB9A4-6188-054A-B886-CEA06595B4D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C796F-0699-D84B-A44F-610FBC4473E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4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BB9A4-6188-054A-B886-CEA06595B4D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C796F-0699-D84B-A44F-610FBC4473E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BB9A4-6188-054A-B886-CEA06595B4D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8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C796F-0699-D84B-A44F-610FBC4473E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内容与标题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52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3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4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BB9A4-6188-054A-B886-CEA06595B4D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5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6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C796F-0699-D84B-A44F-610FBC4473E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图片与标题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59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60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1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BB9A4-6188-054A-B886-CEA06595B4D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2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3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C796F-0699-D84B-A44F-610FBC4473E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标题和竖排文字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66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BB9A4-6188-054A-B886-CEA06595B4D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C796F-0699-D84B-A44F-610FBC4473E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竖排标题与文本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15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1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BB9A4-6188-054A-B886-CEA06595B4D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1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1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C796F-0699-D84B-A44F-610FBC4473E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0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2" Type="http://schemas.openxmlformats.org/officeDocument/2006/relationships/theme" Target="../theme/theme4.xml"/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4BB9A4-6188-054A-B886-CEA06595B4D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4C796F-0699-D84B-A44F-610FBC4473E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4BB9A4-6188-054A-B886-CEA06595B4D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4C796F-0699-D84B-A44F-610FBC4473E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.xml"/><Relationship Id="rId1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17.xml"/><Relationship Id="rId15" Type="http://schemas.openxmlformats.org/officeDocument/2006/relationships/tags" Target="../tags/tag16.xml"/><Relationship Id="rId14" Type="http://schemas.openxmlformats.org/officeDocument/2006/relationships/tags" Target="../tags/tag15.xml"/><Relationship Id="rId13" Type="http://schemas.openxmlformats.org/officeDocument/2006/relationships/tags" Target="../tags/tag14.xml"/><Relationship Id="rId12" Type="http://schemas.openxmlformats.org/officeDocument/2006/relationships/tags" Target="../tags/tag13.xml"/><Relationship Id="rId11" Type="http://schemas.openxmlformats.org/officeDocument/2006/relationships/tags" Target="../tags/tag12.xml"/><Relationship Id="rId10" Type="http://schemas.openxmlformats.org/officeDocument/2006/relationships/tags" Target="../tags/tag11.xml"/><Relationship Id="rId1" Type="http://schemas.openxmlformats.org/officeDocument/2006/relationships/tags" Target="../tags/tag2.xml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5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417320"/>
            <a:ext cx="54864" cy="31089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43000" y="1417320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D4ED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SOFTWARE REQUIREMENTS SPECIFICATION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43000" y="1828800"/>
            <a:ext cx="10058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挑战需求A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1143000" y="2743200"/>
            <a:ext cx="10058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需求规格说明书 · 工作汇报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43000" y="3611880"/>
            <a:ext cx="10058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在线购物系统（升级 A 包）　|　第 13 组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507492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汇报人：</a:t>
            </a:r>
            <a:r>
              <a:rPr lang="zh-CN" altLang="en-US" sz="1300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王韵童</a:t>
            </a:r>
            <a:r>
              <a:rPr lang="en-US" sz="1300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（</a:t>
            </a:r>
            <a:r>
              <a:rPr lang="zh-CN" altLang="en-US" sz="1300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需求规格说明书</a:t>
            </a:r>
            <a:r>
              <a:rPr lang="en-US" sz="1300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 负责人 / 产品经理）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539496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2026 年 10 月 29 日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D4ED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AGENDA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10607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汇报内容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1060704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6446520"/>
            <a:ext cx="5486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挑战需求A · SRS 工作汇报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509760" y="6446520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第 13 组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40080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D4ED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139696"/>
            <a:ext cx="566928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81328" y="2103120"/>
            <a:ext cx="9966960" cy="60350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工作内容</a:t>
            </a:r>
            <a:endParaRPr lang="en-US" sz="1400" b="1" dirty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四项职责 · 三份文档 · 一条需求基线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2715768"/>
            <a:ext cx="1060704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816352"/>
            <a:ext cx="566928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81328" y="2779776"/>
            <a:ext cx="9966960" cy="60350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需求澄清</a:t>
            </a:r>
            <a:endParaRPr lang="en-US" sz="1400" b="1" dirty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怎么做澄清 · 澄清了哪些关键问题 · 得到什么结论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3392424"/>
            <a:ext cx="1060704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493008"/>
            <a:ext cx="566928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81328" y="3456432"/>
            <a:ext cx="9966960" cy="60350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遇到的问题</a:t>
            </a: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问题</a:t>
            </a:r>
            <a:r>
              <a:rPr lang="zh-CN" altLang="en-US" sz="115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：</a:t>
            </a:r>
            <a:r>
              <a:rPr lang="en-US" sz="115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矛盾 / 改口 / 冲突 ；每类给出解决与结论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4069080"/>
            <a:ext cx="1060704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169664"/>
            <a:ext cx="566928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81328" y="4133088"/>
            <a:ext cx="9966960" cy="60350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未定事项与成果</a:t>
            </a: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23 条待确认四类分流 · SRS V2.1 · 禅道落地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22960" y="4745736"/>
            <a:ext cx="1060704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D4ED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01  ROLE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10607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我</a:t>
            </a:r>
            <a:r>
              <a:rPr lang="zh-CN" altLang="en-US" sz="29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的工作内容</a:t>
            </a:r>
            <a:endParaRPr lang="zh-CN" altLang="en-US" sz="2900" b="1" dirty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1060704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6446520"/>
            <a:ext cx="5486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挑战需求A · SRS 工作汇报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509760" y="6446520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第 13 组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40080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D4ED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048256"/>
            <a:ext cx="566928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①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81328" y="2011680"/>
            <a:ext cx="9966960" cy="68122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素材提取与整理</a:t>
            </a: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r>
              <a:rPr lang="zh-CN" altLang="en-US" sz="115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将</a:t>
            </a:r>
            <a:r>
              <a:rPr lang="en-US" sz="115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澄清对话转成可检索的结构化记录 →《需求澄清记录（挑战需求A）.md》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2702052"/>
            <a:ext cx="1060704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802636"/>
            <a:ext cx="566928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②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81328" y="2766060"/>
            <a:ext cx="9966960" cy="68122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需求建模与编写</a:t>
            </a: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建立 FR / RA / CA / NFR-A / AA 五套编号体系；状态机与 ER 图同步演化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3456432"/>
            <a:ext cx="1060704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557016"/>
            <a:ext cx="566928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③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81328" y="3520440"/>
            <a:ext cx="9966960" cy="68122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0F1E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文档编写与迭代</a:t>
            </a: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4210812"/>
            <a:ext cx="1060704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311396"/>
            <a:ext cx="566928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④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81328" y="4274820"/>
            <a:ext cx="9966960" cy="68122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需求追溯与落地</a:t>
            </a: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每条需求可追溯来源与验收场景；输出禅道录入清单（模块 / 需求 / 计划）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5486400"/>
            <a:ext cx="17678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82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822960" y="5989320"/>
            <a:ext cx="1767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交付文档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90800" y="5486400"/>
            <a:ext cx="17678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82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2590800" y="5989320"/>
            <a:ext cx="1767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功能需求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58640" y="5486400"/>
            <a:ext cx="17678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82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358640" y="5989320"/>
            <a:ext cx="1767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业务规则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26480" y="5486400"/>
            <a:ext cx="17678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82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126480" y="5989320"/>
            <a:ext cx="1767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验收场景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894320" y="5486400"/>
            <a:ext cx="17678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82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110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7894320" y="5989320"/>
            <a:ext cx="1767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澄清裁定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662160" y="5486400"/>
            <a:ext cx="17678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82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V2.1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9662160" y="5989320"/>
            <a:ext cx="1767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最终版本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D4ED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01  WORKFLOW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10607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工作全景：四个阶段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1060704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6446520"/>
            <a:ext cx="5486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挑战需求A · SRS 工作汇报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509760" y="6446520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第 13 组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40080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D4ED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92024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阶段一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240280"/>
            <a:ext cx="2468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素材提取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743200"/>
            <a:ext cx="2468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algn="l">
              <a:buClrTx/>
              <a:buSzTx/>
              <a:buFontTx/>
              <a:buNone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整理需求澄清</a:t>
            </a:r>
            <a:endParaRPr lang="en-US" sz="1100" dirty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310128" y="2404872"/>
            <a:ext cx="164592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192024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阶段二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0" y="2240280"/>
            <a:ext cx="2468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需求澄清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74720" y="2743200"/>
            <a:ext cx="2468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13 主题 · 110 裁定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61888" y="2404872"/>
            <a:ext cx="164592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92024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阶段三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26480" y="2240280"/>
            <a:ext cx="2468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20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需求规格说明书</a:t>
            </a:r>
            <a:r>
              <a:rPr lang="en-US" sz="20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 迭代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126480" y="2743200"/>
            <a:ext cx="2468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V1.0 → V2.1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613648" y="2404872"/>
            <a:ext cx="164592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8240" y="1920240"/>
            <a:ext cx="2468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阶段四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778240" y="2240280"/>
            <a:ext cx="2468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禅道落地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778240" y="2743200"/>
            <a:ext cx="2468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产品 / 需求 / 计划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22960" y="3429000"/>
            <a:ext cx="1060704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365760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版本演进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" y="4114800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V1.0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2960" y="4480560"/>
            <a:ext cx="23774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初稿 · 10 条待澄清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474720" y="4114800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V1.1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0" y="4480560"/>
            <a:ext cx="23774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回填裁定 · 关 9 条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126480" y="4114800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V2.0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126480" y="4480560"/>
            <a:ext cx="23774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4 处矛盾裁定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778240" y="4114800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V2.1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778240" y="4480560"/>
            <a:ext cx="23774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定稿 · 消歧 + RA5 + 决策留痕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22960" y="5257800"/>
            <a:ext cx="1060704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" y="5394960"/>
            <a:ext cx="10607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原则：每次澄清对应一个版本号，全程增量更新，一次都没有推倒重写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D4ED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02  METHOD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10607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需求澄清是怎么做的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1060704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6446520"/>
            <a:ext cx="5486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挑战需求A · SRS 工作汇报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509760" y="6446520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第 13 组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40080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D4ED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368296"/>
            <a:ext cx="566928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81328" y="2331720"/>
            <a:ext cx="9966960" cy="94792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5W1H 提问清单</a:t>
            </a: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对每个需求追问 Who / What / When / Where / Why / How much，逐条列出待澄清项</a:t>
            </a: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→ 产出：V1.0 时列出 10 条待澄清项，后续全部闭环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3288792"/>
            <a:ext cx="1060704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389376"/>
            <a:ext cx="566928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81328" y="3352800"/>
            <a:ext cx="9966960" cy="94792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场景剧本法</a:t>
            </a: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针对每个机制问「如果……会怎样」，列极端场景：库存为 0、下架时有人排队、重复提交、补货后……</a:t>
            </a: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→ 产出：8 条反直觉升级点、4 处并存矛盾被暴露出来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4309872"/>
            <a:ext cx="1060704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410456"/>
            <a:ext cx="566928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81328" y="4373880"/>
            <a:ext cx="9966960" cy="94792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追溯矩阵</a:t>
            </a: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澄清结论 → FR 编号 → 业务规则 → 验收场景，每一条都能双向追溯</a:t>
            </a: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→ 产出：110 条裁定全部落到具体条款，无悬空结论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5532120"/>
            <a:ext cx="212140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82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22960" y="6035040"/>
            <a:ext cx="212140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主题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944368" y="5532120"/>
            <a:ext cx="212140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82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110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2944368" y="6035040"/>
            <a:ext cx="212140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条裁定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65776" y="5532120"/>
            <a:ext cx="212140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82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23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065776" y="6035040"/>
            <a:ext cx="212140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条待确认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87184" y="5532120"/>
            <a:ext cx="212140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82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7187184" y="6035040"/>
            <a:ext cx="212140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处矛盾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308592" y="5532120"/>
            <a:ext cx="2121408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11827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9308592" y="6035040"/>
            <a:ext cx="212140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处改口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D4ED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02  CLARIFICATION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10607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澄清重点①：账号与登录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1060704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6446520"/>
            <a:ext cx="5486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挑战需求A · SRS 工作汇报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509760" y="6446520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第 13 组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40080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D4ED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828800"/>
            <a:ext cx="10607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91C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基线无账号、凭口令码匿名操作 —— </a:t>
            </a:r>
            <a:r>
              <a:rPr lang="zh-CN" altLang="en-US" sz="1400" b="1" dirty="0">
                <a:solidFill>
                  <a:srgbClr val="B91C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挑战</a:t>
            </a:r>
            <a:r>
              <a:rPr lang="en-US" sz="1400" b="1" dirty="0">
                <a:solidFill>
                  <a:srgbClr val="B91C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 A 全部推翻，改为账号制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368296"/>
            <a:ext cx="566928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Q1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81328" y="2331720"/>
            <a:ext cx="9966960" cy="80695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买家需要注册账号吗？</a:t>
            </a: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基线：无注册、匿名提交。</a:t>
            </a: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→ 结论：需要。用户名唯一（4-20 字符、可中文、大小写敏感）；电话必填但不唯一；密码 ≥ 8 位加密存储；默认交易地点选填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3147822"/>
            <a:ext cx="1060704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248406"/>
            <a:ext cx="566928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Q2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81328" y="3211830"/>
            <a:ext cx="9966960" cy="80695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注册要短信验证码吗？</a:t>
            </a: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基线未提。</a:t>
            </a: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→ 结论：不要（A-CL-10）。注册成功后自动登录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4027932"/>
            <a:ext cx="1060704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128516"/>
            <a:ext cx="566928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Q3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81328" y="4091940"/>
            <a:ext cx="9966960" cy="80695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浏览商品需要登录吗？</a:t>
            </a: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争议点：全站登录会抬高门槛。</a:t>
            </a: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→ 结论：浏览与搜索免登录；仅提交购买意向强制登录（CA-6）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2960" y="4908042"/>
            <a:ext cx="1060704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008626"/>
            <a:ext cx="566928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Q4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81328" y="4972050"/>
            <a:ext cx="9966960" cy="80695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口令码还保留吗？</a:t>
            </a: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基线核心机制，升级 A 最大的机制变化。</a:t>
            </a: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→ 结论：整体废除，账号即凭证（RA3）；存量匿名意向按 RA5 只读归档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D4ED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02  CLARIFICATION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10607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澄清重点②：交易与队列机制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1060704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6446520"/>
            <a:ext cx="5486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挑战需求A · SRS 工作汇报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509760" y="6446520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第 13 组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40080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D4ED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828800"/>
            <a:ext cx="10607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91C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这一组澄清推翻了基线三条既有行为 —— 最容易照旧做错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368296"/>
            <a:ext cx="566928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B91C1C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Q1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81328" y="2331720"/>
            <a:ext cx="9966960" cy="66751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成交后商品立即下架吗？</a:t>
            </a: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基线：成交即下架。</a:t>
            </a: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→ 结论：推翻。库存减 1，减到 0 才自动下架（FR-A09）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3008376"/>
            <a:ext cx="1060704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108960"/>
            <a:ext cx="566928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B91C1C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Q2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81328" y="3072384"/>
            <a:ext cx="9966960" cy="66751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队首退出后自动递补下一位吗？</a:t>
            </a: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基线：自动递补。</a:t>
            </a: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→ 结论：推翻。递补由卖家在后台确认发起，不再自动（RA2）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3749040"/>
            <a:ext cx="1060704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849624"/>
            <a:ext cx="566928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B91C1C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Q3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81328" y="3813048"/>
            <a:ext cx="9966960" cy="66751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买家能撤销已提交的意向吗？</a:t>
            </a: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基线：凭口令码可撤销。</a:t>
            </a: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→ 结论：推翻。买家端无撤销入口，提交即终局（FR-A03）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2960" y="4489704"/>
            <a:ext cx="1060704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590288"/>
            <a:ext cx="566928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Q4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81328" y="4553712"/>
            <a:ext cx="9966960" cy="66751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队列怎么排序？能挑买家吗？</a:t>
            </a: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卖家是否可自选成交对象。</a:t>
            </a: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→ 结论：严格先到先得，不可挑人；重新排队回队尾；每商品同时仅 1 笔交易（A-CL-15）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22960" y="5230368"/>
            <a:ext cx="1060704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330952"/>
            <a:ext cx="566928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Q5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481328" y="5294376"/>
            <a:ext cx="9966960" cy="66751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库存是否限制排队人数？</a:t>
            </a: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库存为 1 时还能排队吗。</a:t>
            </a: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→ 结论：不限制。冻结与排队都不占用库存，成交才扣减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D4ED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02  CLARIFICATION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10607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澄清重点③：卖家商品管理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1060704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6446520"/>
            <a:ext cx="5486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挑战需求A · SRS 工作汇报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509760" y="6446520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第 13 组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40080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D4ED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048256"/>
            <a:ext cx="566928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B91C1C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Q1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81328" y="2011680"/>
            <a:ext cx="996696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一次只能卖一件商品吗？</a:t>
            </a: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基线：一次只卖一件。</a:t>
            </a: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→ 结论：推翻。取消限制，多件商品可同时在售、多笔交易并行（FR-A07）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2752344"/>
            <a:ext cx="1060704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852928"/>
            <a:ext cx="566928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Q2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81328" y="2816352"/>
            <a:ext cx="996696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库存补货后会自动恢复在售吗？</a:t>
            </a: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记录里两种说法并存（C-2）。</a:t>
            </a: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→ 结论：不会。补货改回正数后仍为已下架，须手动上架 —— 业务方明确裁定（AA-06）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3557016"/>
            <a:ext cx="1060704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657600"/>
            <a:ext cx="566928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Q3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81328" y="3621024"/>
            <a:ext cx="996696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二级分类支持移动归属吗？</a:t>
            </a: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分类能否调整层级。</a:t>
            </a: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→ 结论：不支持。仅新增 / 改名 / 删除（FR-A08）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4361688"/>
            <a:ext cx="1060704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462272"/>
            <a:ext cx="566928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Q4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81328" y="4425696"/>
            <a:ext cx="996696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商品发布后还能改吗？</a:t>
            </a: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与「可改多图、富媒体」的说法冲突。</a:t>
            </a: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→ 结论：仅可改库存数量与所属类别；名称 / 价格 / 描述 / 图片发布后不可改（A-CL-16）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22960" y="5166360"/>
            <a:ext cx="1060704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5266944"/>
            <a:ext cx="566928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Q5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481328" y="5230368"/>
            <a:ext cx="996696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图片几张、什么格式？</a:t>
            </a: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数量与大小限制未定。</a:t>
            </a: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→ 结论：至多 9 张、JPG / PNG、单张 ≤ 5MB、主图 = 第一张、无图显示占位图（CA-7）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D4ED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02  CLARIFICATION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10607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澄清重点④：查看、合规与存量数据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1060704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6446520"/>
            <a:ext cx="5486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挑战需求A · SRS 工作汇报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509760" y="6446520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第 13 组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40080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D4ED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048256"/>
            <a:ext cx="566928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Q1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81328" y="2011680"/>
            <a:ext cx="996696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买家历史记录显示哪些？</a:t>
            </a: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是否显示还没出结果的意向（C-3 两种说法并存）。</a:t>
            </a: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→ 结论：只显示已出结果的记录，结果栏仅「成功 / 失败」两值；时间倒序、每页 20 条（C-3、T-10）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2752344"/>
            <a:ext cx="1060704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852928"/>
            <a:ext cx="566928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Q2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81328" y="2816352"/>
            <a:ext cx="996696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卖家能看到客户的哪些信息？</a:t>
            </a: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涉及隐私合规。</a:t>
            </a: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→ 结论：用户名、电话（明文不脱敏）、默认交易地点、注册时间；只读、无搜索 / 筛选 / 导出（CA-8）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3557016"/>
            <a:ext cx="1060704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657600"/>
            <a:ext cx="566928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B91C1C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Q3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81328" y="3621024"/>
            <a:ext cx="996696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有没有平台管理员角色？</a:t>
            </a: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业务方从未提及该角色。</a:t>
            </a: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→ 结论：团队决策 —— 本版本不设该角色，二级分类由卖家自行维护（A-CL-09）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4361688"/>
            <a:ext cx="1060704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462272"/>
            <a:ext cx="566928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Q4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81328" y="4425696"/>
            <a:ext cx="996696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基线遗留的匿名意向怎么办？</a:t>
            </a: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口令码废除后，存量数据如何处置。</a:t>
            </a: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→ 结论：RA5 只读归档 —— 不排队、不成交、不挂买家账号、不进买家历史、不提供口令码查询 / 撤销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22960" y="5166360"/>
            <a:ext cx="1060704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5266944"/>
            <a:ext cx="566928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Q5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481328" y="5230368"/>
            <a:ext cx="996696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有没有短信 / 站内通知？</a:t>
            </a: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成交、递补是否需要告知买家。</a:t>
            </a: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→ 结论：完全没有通知机制，买家需自行查看页面（NFR / 2.x）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D4ED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PROBLEM 01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10607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问题</a:t>
            </a:r>
            <a:r>
              <a:rPr lang="en-US" sz="29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①</a:t>
            </a:r>
            <a:r>
              <a:rPr lang="en-US" sz="29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：业务方口径前后矛盾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1060704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6446520"/>
            <a:ext cx="5486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挑战需求A · SRS 工作汇报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509760" y="6446520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第 13 组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40080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D4ED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828800"/>
            <a:ext cx="10607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91C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同一件事在澄清记录里有两种说法，共 4 处 —— 挑两个最关键的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368296"/>
            <a:ext cx="566928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B91C1C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C-1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81328" y="2331720"/>
            <a:ext cx="9966960" cy="136702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下架时队内未成交意向：作废 vs 处理干净再下架</a:t>
            </a: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解决：业务方明确未定 → 转为待确认项 T-23，团队暂定「作废并标记失败」。</a:t>
            </a: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→ 结论：实现做成可配置项，不写死；后续改裁定只需改一处。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3707892"/>
            <a:ext cx="1060704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808476"/>
            <a:ext cx="566928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C-2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81328" y="3771900"/>
            <a:ext cx="9966960" cy="136702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补货后上架方式：手动上架 vs 自动上架</a:t>
            </a: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解决：提请业务方裁定，拿到明确答复。</a:t>
            </a: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→ 结论：不会自动恢复在售，补货后仍须手动上架（已写进 AA-06 验收）。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5394960"/>
            <a:ext cx="1060704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D4ED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PROBLEM 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10607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问题</a:t>
            </a:r>
            <a:r>
              <a:rPr lang="en-US" sz="29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②</a:t>
            </a:r>
            <a:r>
              <a:rPr lang="en-US" sz="29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：业务方前后改口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1060704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6446520"/>
            <a:ext cx="5486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挑战需求A · SRS 工作汇报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509760" y="6446520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第 13 组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40080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D4ED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139696"/>
            <a:ext cx="566928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B91C1C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现象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81328" y="2103120"/>
            <a:ext cx="9966960" cy="117652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同一规则在后轮澄清中被推翻，共 7 处</a:t>
            </a: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最典型的两个：前轮说「队首退出自动递补下一位」，后轮改为卖家确认；前轮说「成交即下架」，后轮改为库存减 1、减到 0 才下架。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3288792"/>
            <a:ext cx="1060704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389376"/>
            <a:ext cx="566928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解决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81328" y="3352800"/>
            <a:ext cx="9966960" cy="117652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建立「口径变更追踪」</a:t>
            </a: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同一主题的不同轮次结论并列比对，后轮覆盖前轮；被推翻的旧口径从正文清除，只保留最终结论。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4538472"/>
            <a:ext cx="1060704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639056"/>
            <a:ext cx="566928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结论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81328" y="4602480"/>
            <a:ext cx="9966960" cy="117652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关键规则按最终口径确定</a:t>
            </a: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递补由卖家确认、成交减 1 —— 同时写进 FR 与验收场景；其余 5 处改口同法处理。另修复 5 处文档内部矛盾（如「匿名提交意向」4 处写保留、3 处写禁止）。</a:t>
            </a: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→ 开发照文档实现，就不会残留任何一条旧口径。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D4ED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03  T-01 ~ T-23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10607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未定事项的处置：23 条待确认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1060704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6446520"/>
            <a:ext cx="5486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挑战需求A · SRS 工作汇报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509760" y="6446520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第 13 组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40080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D4ED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828800"/>
            <a:ext cx="10607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91C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业务方给「本轮临时边界」即表示由团队自决 —— 不是继续等确认，而是分流消化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368296"/>
            <a:ext cx="566928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81328" y="2331720"/>
            <a:ext cx="9966960" cy="76123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团队自定　5 条</a:t>
            </a: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解决：团队按合理默认值定，直接写进 SDD。</a:t>
            </a: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→ 结论：模糊匹配、不区分大小写、密码仅卡 8 位、用户名 4-20 字符、描述字段类型。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3102102"/>
            <a:ext cx="1060704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202686"/>
            <a:ext cx="566928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B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81328" y="3166110"/>
            <a:ext cx="9966960" cy="76123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按最简处理　6 条</a:t>
            </a: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解决：取最简单实现。</a:t>
            </a: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→ 结论：每页 20 条、发布时间倒序、注册后自动登录、会话 7 天、不做失败锁定。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3936492"/>
            <a:ext cx="1060704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037076"/>
            <a:ext cx="566928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B91C1C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81328" y="4000500"/>
            <a:ext cx="9966960" cy="76123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本轮不做　6 条</a:t>
            </a: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解决：单列「明确不做」清单，交测试反向验证。</a:t>
            </a: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→ 结论：历史筛选 / 详情、视频内嵌、客户搜索筛选、含价格地点、三视图跳转 —— 一律不做。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2960" y="4770882"/>
            <a:ext cx="1060704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871466"/>
            <a:ext cx="566928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81328" y="4834890"/>
            <a:ext cx="9966960" cy="76123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留开关　1 条</a:t>
            </a: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解决：T-23 给团队暂定并要求可配置。</a:t>
            </a: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→ 结论：下架时队内意向暂定作废并标记失败，做成可配置项，不写死在服务里。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22960" y="5852160"/>
            <a:ext cx="1060704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D4ED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04  BASELINE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10607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最终成果：SRS V2.1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1060704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6446520"/>
            <a:ext cx="5486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挑战需求A · SRS 工作汇报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509760" y="6446520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第 13 组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40080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D4ED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956816"/>
            <a:ext cx="566928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FR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81328" y="1920240"/>
            <a:ext cx="9966960" cy="55168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功能需求 FR-A01 ~ A13</a:t>
            </a: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买家账号 / 意向 / 浏览 + 卖家商品 / 分类 / 库存 / 客户 + 隔离执行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2481072"/>
            <a:ext cx="1060704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81656"/>
            <a:ext cx="566928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RA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81328" y="2545080"/>
            <a:ext cx="9966960" cy="55168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业务规则 RA1 ~ RA5</a:t>
            </a: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状态机扩展、意向规则、口令码废除、库存规则、存量匿名意向归档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3105912"/>
            <a:ext cx="1060704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206496"/>
            <a:ext cx="566928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CA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81328" y="3169920"/>
            <a:ext cx="9966960" cy="55168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约束 CA-1 ~ CA-8</a:t>
            </a: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含图片富媒体、客户信息合规、补货不自动上架等硬约束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3730752"/>
            <a:ext cx="1060704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831336"/>
            <a:ext cx="566928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NF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81328" y="3794760"/>
            <a:ext cx="9966960" cy="55168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非功能需求 NFR-A 系列</a:t>
            </a: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性能、安全、隐私合规、审计（手动下架纳入审计）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22960" y="4355592"/>
            <a:ext cx="1060704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456176"/>
            <a:ext cx="566928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AA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481328" y="4419600"/>
            <a:ext cx="9966960" cy="55168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验收场景 AA-01 ~ AA-09</a:t>
            </a: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9 条可测步骤，直接作为测试用例输入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22960" y="4980432"/>
            <a:ext cx="1060704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5081016"/>
            <a:ext cx="566928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附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481328" y="5044440"/>
            <a:ext cx="9966960" cy="55168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附录 5.1 / 5.2 / 5.3</a:t>
            </a: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A-CL-01~16 澄清结论 / T-01~T-23 待确认 / W-A1~A5 后续工作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D4ED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04  SCRUM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10607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需求落地：禅道产品与计划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1060704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6446520"/>
            <a:ext cx="5486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挑战需求A · SRS 工作汇报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509760" y="6446520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第 13 组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400800"/>
            <a:ext cx="548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D4ED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874520"/>
            <a:ext cx="2468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① 新建产品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240280"/>
            <a:ext cx="246888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在线购物系统-13 · 产品负责人 王韵童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10128" y="2039112"/>
            <a:ext cx="164592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874520"/>
            <a:ext cx="2468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② 维护模块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0" y="2240280"/>
            <a:ext cx="246888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买家端 / 卖家端 / 公共 · 共 7 个二级模块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61888" y="2039112"/>
            <a:ext cx="164592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874520"/>
            <a:ext cx="2468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③ 录入需求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26480" y="2240280"/>
            <a:ext cx="246888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12条（12 FR ）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613648" y="2039112"/>
            <a:ext cx="164592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0" y="1874520"/>
            <a:ext cx="2468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④ 产品计划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778240" y="2240280"/>
            <a:ext cx="246888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3 个 Sprint · 3 / 5 / 4 条需求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2960" y="3063240"/>
            <a:ext cx="1060704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246120"/>
            <a:ext cx="10607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Sprint 划分（按依赖关系排序，非均分）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3648456"/>
            <a:ext cx="566928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S1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481328" y="3611880"/>
            <a:ext cx="9966960" cy="56692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账号体系与隔离</a:t>
            </a: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FR-A01 注册 / A02 登录 / A03 提交意向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22960" y="4187952"/>
            <a:ext cx="1060704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288536"/>
            <a:ext cx="566928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S2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481328" y="4251960"/>
            <a:ext cx="9966960" cy="56692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卖家商品管理</a:t>
            </a: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A07 多商品 / A08 分类 / A09 库存 / A10 富媒体 / A12 上下架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22960" y="4828032"/>
            <a:ext cx="1060704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4928616"/>
            <a:ext cx="566928" cy="411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S3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481328" y="4892040"/>
            <a:ext cx="9966960" cy="56692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浏览历史与客户</a:t>
            </a:r>
            <a:endParaRPr lang="en-US" sz="14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A04 历史 / A05 筛选 / A06 搜索 / A11 客户 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6" name="文本框 5" descr="{&quot;isTemplate&quot;:true,&quot;type&quot;:&quot;text&quot;}"/>
          <p:cNvSpPr txBox="1"/>
          <p:nvPr/>
        </p:nvSpPr>
        <p:spPr>
          <a:xfrm>
            <a:off x="3431540" y="2028190"/>
            <a:ext cx="4948555" cy="117665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48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在线商城系统</a:t>
            </a:r>
            <a:r>
              <a:rPr lang="zh-CN" sz="48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前端</a:t>
            </a:r>
            <a:endParaRPr lang="zh-CN" sz="48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 flipV="1">
            <a:off x="685800" y="3790950"/>
            <a:ext cx="11014710" cy="76200"/>
          </a:xfrm>
          <a:prstGeom prst="rect">
            <a:avLst/>
          </a:prstGeom>
          <a:solidFill>
            <a:srgbClr val="2563EB"/>
          </a:solidFill>
        </p:spPr>
        <p:txBody>
          <a:bodyPr/>
          <a:p/>
        </p:txBody>
      </p:sp>
      <p:sp>
        <p:nvSpPr>
          <p:cNvPr id="8" name="文本框 7" descr="{&quot;isTemplate&quot;:true,&quot;type&quot;:&quot;text&quot;}"/>
          <p:cNvSpPr txBox="1"/>
          <p:nvPr/>
        </p:nvSpPr>
        <p:spPr>
          <a:xfrm>
            <a:off x="3112770" y="4004945"/>
            <a:ext cx="6250305" cy="49593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200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Vue 3 + Vite + Element Plus </a:t>
            </a:r>
            <a:r>
              <a:rPr lang="zh-CN" sz="200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构建的双角色商城前端</a:t>
            </a:r>
            <a:endParaRPr lang="zh-CN" sz="200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 descr="{&quot;isTemplate&quot;:true,&quot;type&quot;:&quot;text&quot;}"/>
          <p:cNvSpPr txBox="1"/>
          <p:nvPr/>
        </p:nvSpPr>
        <p:spPr>
          <a:xfrm>
            <a:off x="4151630" y="4653280"/>
            <a:ext cx="3691890" cy="495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买家与卖家两条业务链路</a:t>
            </a:r>
            <a:r>
              <a:rPr lang="en-US" sz="13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8 </a:t>
            </a:r>
            <a:r>
              <a:rPr lang="zh-CN" sz="13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个页面完整闭环</a:t>
            </a:r>
            <a:endParaRPr lang="zh-CN" sz="13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 descr="{&quot;isTemplate&quot;:true,&quot;type&quot;:&quot;text&quot;}"/>
          <p:cNvSpPr txBox="1"/>
          <p:nvPr/>
        </p:nvSpPr>
        <p:spPr>
          <a:xfrm>
            <a:off x="1271270" y="5300980"/>
            <a:ext cx="3408680" cy="42672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汇报人：第</a:t>
            </a:r>
            <a:r>
              <a:rPr lang="en-US" altLang="zh-CN" sz="2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13</a:t>
            </a:r>
            <a:r>
              <a:rPr lang="zh-CN" altLang="en-US" sz="2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组</a:t>
            </a:r>
            <a:r>
              <a:rPr lang="en-US" altLang="zh-CN" sz="2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zh-CN" sz="2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陆昌菲</a:t>
            </a:r>
            <a:endParaRPr lang="zh-CN" sz="2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038350" y="5600700"/>
            <a:ext cx="9525" cy="133350"/>
          </a:xfrm>
          <a:prstGeom prst="rect">
            <a:avLst/>
          </a:prstGeom>
          <a:solidFill>
            <a:srgbClr val="E2E8F0"/>
          </a:solidFill>
        </p:spPr>
        <p:txBody>
          <a:bodyPr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矩形 25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261" name="文本框 260" descr="{&quot;isTemplate&quot;:true,&quot;type&quot;:&quot;text&quot;}"/>
          <p:cNvSpPr txBox="1"/>
          <p:nvPr/>
        </p:nvSpPr>
        <p:spPr>
          <a:xfrm>
            <a:off x="685800" y="533400"/>
            <a:ext cx="2648585" cy="61404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altLang="en-US" sz="40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项目</a:t>
            </a:r>
            <a:r>
              <a:rPr lang="zh-CN" altLang="en-US" sz="40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目录结构</a:t>
            </a:r>
            <a:endParaRPr lang="zh-CN" altLang="en-US" sz="40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4" name="矩形 263"/>
          <p:cNvSpPr/>
          <p:nvPr/>
        </p:nvSpPr>
        <p:spPr>
          <a:xfrm>
            <a:off x="767080" y="1400175"/>
            <a:ext cx="685800" cy="38100"/>
          </a:xfrm>
          <a:prstGeom prst="rect">
            <a:avLst/>
          </a:prstGeom>
          <a:solidFill>
            <a:srgbClr val="2563EB"/>
          </a:solidFill>
        </p:spPr>
        <p:txBody>
          <a:bodyPr/>
          <a:p/>
        </p:txBody>
      </p:sp>
      <p:sp>
        <p:nvSpPr>
          <p:cNvPr id="275" name="圆角矩形 274"/>
          <p:cNvSpPr/>
          <p:nvPr/>
        </p:nvSpPr>
        <p:spPr>
          <a:xfrm>
            <a:off x="6023610" y="236855"/>
            <a:ext cx="5765800" cy="6425565"/>
          </a:xfrm>
          <a:prstGeom prst="roundRect">
            <a:avLst>
              <a:gd name="adj" fmla="val 11628"/>
            </a:avLst>
          </a:prstGeom>
          <a:solidFill>
            <a:srgbClr val="F8FAFC"/>
          </a:solidFill>
        </p:spPr>
        <p:txBody>
          <a:bodyPr/>
          <a:p/>
        </p:txBody>
      </p:sp>
      <p:sp>
        <p:nvSpPr>
          <p:cNvPr id="9" name="tree-code"/>
          <p:cNvSpPr txBox="1"/>
          <p:nvPr/>
        </p:nvSpPr>
        <p:spPr>
          <a:xfrm>
            <a:off x="7031990" y="764540"/>
            <a:ext cx="4130675" cy="55010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2000"/>
              </a:lnSpc>
            </a:pPr>
            <a:r>
              <a:rPr lang="en-US" sz="1400" noProof="1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</a:rPr>
              <a:t>src</a:t>
            </a:r>
            <a:endParaRPr lang="en-US" sz="1400" noProof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42000"/>
              </a:lnSpc>
            </a:pPr>
            <a:r>
              <a:rPr lang="en-US" sz="1400" noProof="1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</a:rPr>
              <a:t>├── api      #</a:t>
            </a:r>
            <a:r>
              <a:rPr lang="zh-CN" altLang="en-US" sz="1400" noProof="1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</a:rPr>
              <a:t>网络请求</a:t>
            </a:r>
            <a:endParaRPr lang="en-US" sz="1400" noProof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42000"/>
              </a:lnSpc>
            </a:pPr>
            <a:r>
              <a:rPr lang="en-US" sz="1400" noProof="1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</a:rPr>
              <a:t>│   ├── request.js      #</a:t>
            </a:r>
            <a:r>
              <a:rPr lang="zh-CN" altLang="en-US" sz="1400" noProof="1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</a:rPr>
              <a:t>封装</a:t>
            </a:r>
            <a:r>
              <a:rPr lang="en-US" sz="1400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  <a:sym typeface="+mn-ea"/>
              </a:rPr>
              <a:t>Axios</a:t>
            </a:r>
            <a:endParaRPr lang="en-US" sz="1400">
              <a:solidFill>
                <a:srgbClr val="26251F"/>
              </a:solidFill>
              <a:latin typeface="Times New Roman" panose="02020603050405020304" charset="0"/>
              <a:ea typeface="JetBrains Mono" panose="02000009000000000000"/>
              <a:cs typeface="Times New Roman" panose="02020603050405020304" charset="0"/>
              <a:sym typeface="+mn-ea"/>
            </a:endParaRPr>
          </a:p>
          <a:p>
            <a:pPr>
              <a:lnSpc>
                <a:spcPct val="142000"/>
              </a:lnSpc>
            </a:pPr>
            <a:r>
              <a:rPr lang="en-US" sz="1400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  <a:sym typeface="+mn-ea"/>
              </a:rPr>
              <a:t>│   ├── seller.js      #</a:t>
            </a:r>
            <a:r>
              <a:rPr lang="zh-CN" altLang="en-US" sz="1400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  <a:sym typeface="+mn-ea"/>
              </a:rPr>
              <a:t>卖家端接口</a:t>
            </a:r>
            <a:endParaRPr lang="zh-CN" altLang="en-US" sz="1400">
              <a:solidFill>
                <a:srgbClr val="26251F"/>
              </a:solidFill>
              <a:latin typeface="Times New Roman" panose="02020603050405020304" charset="0"/>
              <a:ea typeface="JetBrains Mono" panose="02000009000000000000"/>
              <a:cs typeface="Times New Roman" panose="02020603050405020304" charset="0"/>
              <a:sym typeface="+mn-ea"/>
            </a:endParaRPr>
          </a:p>
          <a:p>
            <a:pPr>
              <a:lnSpc>
                <a:spcPct val="142000"/>
              </a:lnSpc>
            </a:pPr>
            <a:r>
              <a:rPr lang="en-US" sz="1400" noProof="1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</a:rPr>
              <a:t>│   └── buyer.js       #</a:t>
            </a:r>
            <a:r>
              <a:rPr lang="zh-CN" altLang="en-US" sz="1400" noProof="1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</a:rPr>
              <a:t>买家端接口</a:t>
            </a:r>
            <a:endParaRPr lang="en-US" sz="1400" noProof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42000"/>
              </a:lnSpc>
            </a:pPr>
            <a:r>
              <a:rPr lang="en-US" sz="1400" noProof="1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</a:rPr>
              <a:t>├── stores    #</a:t>
            </a:r>
            <a:r>
              <a:rPr lang="zh-CN" altLang="en-US" sz="1400" noProof="1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</a:rPr>
              <a:t>管理</a:t>
            </a:r>
            <a:r>
              <a:rPr lang="zh-CN" altLang="en-US" sz="1400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  <a:sym typeface="+mn-ea"/>
              </a:rPr>
              <a:t>买家/卖家双 </a:t>
            </a:r>
            <a:r>
              <a:rPr lang="en-US" altLang="zh-CN" sz="1400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  <a:sym typeface="+mn-ea"/>
              </a:rPr>
              <a:t>token </a:t>
            </a:r>
            <a:r>
              <a:rPr lang="zh-CN" altLang="en-US" sz="1400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  <a:sym typeface="+mn-ea"/>
              </a:rPr>
              <a:t>登录态</a:t>
            </a:r>
            <a:endParaRPr lang="en-US" sz="1400" noProof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42000"/>
              </a:lnSpc>
            </a:pPr>
            <a:r>
              <a:rPr lang="en-US" sz="1400" noProof="1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</a:rPr>
              <a:t>│   └──useUserStore.js</a:t>
            </a:r>
            <a:endParaRPr lang="en-US" sz="1400" noProof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42000"/>
              </a:lnSpc>
            </a:pPr>
            <a:r>
              <a:rPr lang="en-US" sz="1400" noProof="1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</a:rPr>
              <a:t>├── views   #</a:t>
            </a:r>
            <a:r>
              <a:rPr lang="zh-CN" altLang="en-US" sz="1400" noProof="1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</a:rPr>
              <a:t>所有业务页面</a:t>
            </a:r>
            <a:endParaRPr lang="en-US" sz="1400" noProof="1">
              <a:solidFill>
                <a:srgbClr val="26251F"/>
              </a:solidFill>
              <a:latin typeface="Times New Roman" panose="02020603050405020304" charset="0"/>
              <a:ea typeface="JetBrains Mono" panose="02000009000000000000"/>
              <a:cs typeface="Times New Roman" panose="02020603050405020304" charset="0"/>
            </a:endParaRPr>
          </a:p>
          <a:p>
            <a:pPr>
              <a:lnSpc>
                <a:spcPct val="142000"/>
              </a:lnSpc>
            </a:pPr>
            <a:r>
              <a:rPr lang="en-US" sz="1400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  <a:sym typeface="+mn-ea"/>
              </a:rPr>
              <a:t>│   ├── HomeSelect.vue    #</a:t>
            </a:r>
            <a:r>
              <a:rPr lang="zh-CN" altLang="en-US" sz="1400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  <a:sym typeface="+mn-ea"/>
              </a:rPr>
              <a:t>商城入口页面</a:t>
            </a:r>
            <a:endParaRPr lang="en-US" sz="1400" noProof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42000"/>
              </a:lnSpc>
            </a:pPr>
            <a:r>
              <a:rPr lang="en-US" sz="1400" noProof="1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</a:rPr>
              <a:t>│   ├── buyer	#</a:t>
            </a:r>
            <a:r>
              <a:rPr lang="zh-CN" altLang="en-US" sz="1400" noProof="1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</a:rPr>
              <a:t>买家页面</a:t>
            </a:r>
            <a:endParaRPr lang="en-US" sz="1400" noProof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42000"/>
              </a:lnSpc>
            </a:pPr>
            <a:r>
              <a:rPr lang="en-US" sz="1400" noProof="1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</a:rPr>
              <a:t>│   └── seller	#</a:t>
            </a:r>
            <a:r>
              <a:rPr lang="zh-CN" altLang="en-US" sz="1400" noProof="1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</a:rPr>
              <a:t>卖家页面</a:t>
            </a:r>
            <a:endParaRPr lang="en-US" sz="1400" noProof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42000"/>
              </a:lnSpc>
            </a:pPr>
            <a:r>
              <a:rPr lang="en-US" sz="1400" noProof="1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</a:rPr>
              <a:t>├── router</a:t>
            </a:r>
            <a:endParaRPr lang="en-US" sz="1400" noProof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42000"/>
              </a:lnSpc>
            </a:pPr>
            <a:r>
              <a:rPr lang="en-US" sz="1400" noProof="1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</a:rPr>
              <a:t>│   └── index.js        #</a:t>
            </a:r>
            <a:r>
              <a:rPr lang="zh-CN" altLang="en-US" sz="1400" noProof="1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</a:rPr>
              <a:t>路由配置</a:t>
            </a:r>
            <a:endParaRPr lang="en-US" sz="1400" noProof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42000"/>
              </a:lnSpc>
            </a:pPr>
            <a:r>
              <a:rPr lang="en-US" sz="1400" noProof="1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</a:rPr>
              <a:t>├── App.vue             #</a:t>
            </a:r>
            <a:r>
              <a:rPr lang="zh-CN" altLang="en-US" sz="1400" noProof="1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</a:rPr>
              <a:t>全局外壳</a:t>
            </a:r>
            <a:endParaRPr lang="en-US" sz="1400" noProof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42000"/>
              </a:lnSpc>
            </a:pPr>
            <a:r>
              <a:rPr lang="en-US" sz="1400" noProof="1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</a:rPr>
              <a:t>└── main.js  </a:t>
            </a:r>
            <a:r>
              <a:rPr lang="zh-CN" altLang="en-US" sz="1400" noProof="1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</a:rPr>
              <a:t>#应用入口</a:t>
            </a:r>
            <a:endParaRPr lang="zh-CN" altLang="en-US" sz="1400" noProof="1">
              <a:solidFill>
                <a:srgbClr val="26251F"/>
              </a:solidFill>
              <a:latin typeface="Times New Roman" panose="02020603050405020304" charset="0"/>
              <a:ea typeface="JetBrains Mono" panose="02000009000000000000"/>
              <a:cs typeface="Times New Roman" panose="02020603050405020304" charset="0"/>
            </a:endParaRPr>
          </a:p>
          <a:p>
            <a:pPr>
              <a:lnSpc>
                <a:spcPct val="142000"/>
              </a:lnSpc>
            </a:pPr>
            <a:r>
              <a:rPr lang="zh-CN" altLang="en-US" sz="1400" noProof="1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</a:rPr>
              <a:t> </a:t>
            </a:r>
            <a:r>
              <a:rPr lang="en-US" altLang="zh-CN" sz="1400" noProof="1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</a:rPr>
              <a:t>                       </a:t>
            </a:r>
            <a:r>
              <a:rPr lang="zh-CN" altLang="en-US" sz="1400" noProof="1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</a:rPr>
              <a:t>(挂载</a:t>
            </a:r>
            <a:r>
              <a:rPr lang="en-US" altLang="zh-CN" sz="1400" noProof="1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</a:rPr>
              <a:t>Vue/Pinia/Router/EP)</a:t>
            </a:r>
            <a:endParaRPr lang="en-US" altLang="zh-CN" sz="1400" noProof="1">
              <a:solidFill>
                <a:srgbClr val="26251F"/>
              </a:solidFill>
              <a:latin typeface="Times New Roman" panose="02020603050405020304" charset="0"/>
              <a:ea typeface="JetBrains Mono" panose="02000009000000000000"/>
              <a:cs typeface="Times New Roman" panose="02020603050405020304" charset="0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229870" y="2001520"/>
            <a:ext cx="34175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152" name="圆角矩形 151"/>
          <p:cNvSpPr/>
          <p:nvPr/>
        </p:nvSpPr>
        <p:spPr>
          <a:xfrm>
            <a:off x="523875" y="171196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</p:spPr>
        <p:txBody>
          <a:bodyPr/>
          <a:p/>
        </p:txBody>
      </p:sp>
      <p:sp>
        <p:nvSpPr>
          <p:cNvPr id="153" name="圆角矩形 152"/>
          <p:cNvSpPr/>
          <p:nvPr/>
        </p:nvSpPr>
        <p:spPr>
          <a:xfrm>
            <a:off x="695325" y="1711960"/>
            <a:ext cx="95250" cy="95250"/>
          </a:xfrm>
          <a:prstGeom prst="roundRect">
            <a:avLst>
              <a:gd name="adj" fmla="val 50000"/>
            </a:avLst>
          </a:prstGeom>
          <a:solidFill>
            <a:srgbClr val="334155"/>
          </a:solidFill>
        </p:spPr>
        <p:txBody>
          <a:bodyPr/>
          <a:p/>
        </p:txBody>
      </p:sp>
      <p:sp>
        <p:nvSpPr>
          <p:cNvPr id="154" name="圆角矩形 153"/>
          <p:cNvSpPr/>
          <p:nvPr/>
        </p:nvSpPr>
        <p:spPr>
          <a:xfrm>
            <a:off x="866775" y="1711960"/>
            <a:ext cx="95250" cy="95250"/>
          </a:xfrm>
          <a:prstGeom prst="roundRect">
            <a:avLst>
              <a:gd name="adj" fmla="val 50000"/>
            </a:avLst>
          </a:prstGeom>
          <a:solidFill>
            <a:srgbClr val="334155"/>
          </a:solidFill>
        </p:spPr>
        <p:txBody>
          <a:bodyPr/>
          <a:p/>
        </p:txBody>
      </p:sp>
      <p:sp>
        <p:nvSpPr>
          <p:cNvPr id="155" name="文本框 154" descr="{&quot;isTemplate&quot;:true,&quot;type&quot;:&quot;text&quot;}"/>
          <p:cNvSpPr txBox="1"/>
          <p:nvPr/>
        </p:nvSpPr>
        <p:spPr>
          <a:xfrm>
            <a:off x="1114425" y="1683385"/>
            <a:ext cx="8191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src/ </a:t>
            </a:r>
            <a:r>
              <a:rPr lang="zh-CN" sz="975" spc="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工程结构</a:t>
            </a:r>
            <a:endParaRPr lang="zh-CN" sz="975" spc="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6" name="圆角矩形 155"/>
          <p:cNvSpPr/>
          <p:nvPr/>
        </p:nvSpPr>
        <p:spPr>
          <a:xfrm>
            <a:off x="523875" y="2169160"/>
            <a:ext cx="381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</p:spPr>
        <p:txBody>
          <a:bodyPr/>
          <a:p/>
        </p:txBody>
      </p:sp>
      <p:sp>
        <p:nvSpPr>
          <p:cNvPr id="157" name="文本框 156" descr="{&quot;isTemplate&quot;:true,&quot;type&quot;:&quot;text&quot;}"/>
          <p:cNvSpPr txBox="1"/>
          <p:nvPr/>
        </p:nvSpPr>
        <p:spPr>
          <a:xfrm>
            <a:off x="638175" y="2112010"/>
            <a:ext cx="476250" cy="171450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en-US" sz="1125" spc="22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i</a:t>
            </a:r>
            <a:r>
              <a:rPr lang="en-US" sz="1125" spc="22">
                <a:latin typeface="微软雅黑" panose="020B0503020204020204" charset="-122"/>
                <a:ea typeface="微软雅黑" panose="020B0503020204020204" charset="-122"/>
                <a:sym typeface="+mn-ea"/>
              </a:rPr>
              <a:t>main.js</a:t>
            </a:r>
            <a:r>
              <a:rPr lang="en-US" sz="1125" spc="22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n</a:t>
            </a:r>
            <a:endParaRPr lang="en-US" sz="1125" spc="22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8" name="矩形 157"/>
          <p:cNvSpPr/>
          <p:nvPr/>
        </p:nvSpPr>
        <p:spPr>
          <a:xfrm>
            <a:off x="1266825" y="2188210"/>
            <a:ext cx="3095625" cy="9525"/>
          </a:xfrm>
          <a:prstGeom prst="rect">
            <a:avLst/>
          </a:prstGeom>
          <a:solidFill>
            <a:srgbClr val="1E293B"/>
          </a:solidFill>
        </p:spPr>
        <p:txBody>
          <a:bodyPr/>
          <a:p/>
        </p:txBody>
      </p:sp>
      <p:sp>
        <p:nvSpPr>
          <p:cNvPr id="159" name="文本框 158" descr="{&quot;isTemplate&quot;:true,&quot;type&quot;:&quot;text&quot;}"/>
          <p:cNvSpPr txBox="1"/>
          <p:nvPr/>
        </p:nvSpPr>
        <p:spPr>
          <a:xfrm>
            <a:off x="4476750" y="2112010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应用入口</a:t>
            </a:r>
            <a:endParaRPr lang="zh-CN" sz="975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0" name="圆角矩形 159"/>
          <p:cNvSpPr/>
          <p:nvPr/>
        </p:nvSpPr>
        <p:spPr>
          <a:xfrm>
            <a:off x="523875" y="2473960"/>
            <a:ext cx="38100" cy="38100"/>
          </a:xfrm>
          <a:prstGeom prst="roundRect">
            <a:avLst>
              <a:gd name="adj" fmla="val 50000"/>
            </a:avLst>
          </a:prstGeom>
          <a:solidFill>
            <a:srgbClr val="334155"/>
          </a:solidFill>
        </p:spPr>
        <p:txBody>
          <a:bodyPr/>
          <a:p/>
        </p:txBody>
      </p:sp>
      <p:sp>
        <p:nvSpPr>
          <p:cNvPr id="161" name="文本框 160" descr="{&quot;isTemplate&quot;:true,&quot;type&quot;:&quot;text&quot;}"/>
          <p:cNvSpPr txBox="1"/>
          <p:nvPr/>
        </p:nvSpPr>
        <p:spPr>
          <a:xfrm>
            <a:off x="676275" y="240728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App.vue </a:t>
            </a:r>
            <a:endParaRPr lang="en-US" sz="1125" spc="22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2" name="矩形 161"/>
          <p:cNvSpPr/>
          <p:nvPr/>
        </p:nvSpPr>
        <p:spPr>
          <a:xfrm>
            <a:off x="1343025" y="2493010"/>
            <a:ext cx="3143250" cy="9525"/>
          </a:xfrm>
          <a:prstGeom prst="rect">
            <a:avLst/>
          </a:prstGeom>
          <a:solidFill>
            <a:srgbClr val="1E293B"/>
          </a:solidFill>
        </p:spPr>
        <p:txBody>
          <a:bodyPr/>
          <a:p/>
        </p:txBody>
      </p:sp>
      <p:sp>
        <p:nvSpPr>
          <p:cNvPr id="163" name="文本框 162" descr="{&quot;isTemplate&quot;:true,&quot;type&quot;:&quot;text&quot;}"/>
          <p:cNvSpPr txBox="1"/>
          <p:nvPr/>
        </p:nvSpPr>
        <p:spPr>
          <a:xfrm>
            <a:off x="4600575" y="2416810"/>
            <a:ext cx="3714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根组件</a:t>
            </a:r>
            <a:endParaRPr lang="zh-CN" sz="975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4" name="圆角矩形 163"/>
          <p:cNvSpPr/>
          <p:nvPr/>
        </p:nvSpPr>
        <p:spPr>
          <a:xfrm>
            <a:off x="523875" y="2778760"/>
            <a:ext cx="38100" cy="38100"/>
          </a:xfrm>
          <a:prstGeom prst="roundRect">
            <a:avLst>
              <a:gd name="adj" fmla="val 50000"/>
            </a:avLst>
          </a:prstGeom>
          <a:solidFill>
            <a:srgbClr val="334155"/>
          </a:solidFill>
        </p:spPr>
        <p:txBody>
          <a:bodyPr/>
          <a:p/>
        </p:txBody>
      </p:sp>
      <p:sp>
        <p:nvSpPr>
          <p:cNvPr id="165" name="文本框 164" descr="{&quot;isTemplate&quot;:true,&quot;type&quot;:&quot;text&quot;}"/>
          <p:cNvSpPr txBox="1"/>
          <p:nvPr/>
        </p:nvSpPr>
        <p:spPr>
          <a:xfrm>
            <a:off x="676275" y="2712085"/>
            <a:ext cx="1075690" cy="22288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router</a:t>
            </a:r>
            <a:r>
              <a:rPr lang="en-US" sz="1125" spc="22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en-US" sz="1125" spc="22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index</a:t>
            </a:r>
            <a:r>
              <a:rPr lang="en-US" sz="1125" spc="22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.</a:t>
            </a:r>
            <a:r>
              <a:rPr lang="en-US" sz="1125" spc="22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js</a:t>
            </a:r>
            <a:endParaRPr lang="en-US" sz="1125" spc="22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6" name="矩形 165"/>
          <p:cNvSpPr/>
          <p:nvPr/>
        </p:nvSpPr>
        <p:spPr>
          <a:xfrm>
            <a:off x="1733550" y="2797810"/>
            <a:ext cx="2647950" cy="9525"/>
          </a:xfrm>
          <a:prstGeom prst="rect">
            <a:avLst/>
          </a:prstGeom>
          <a:solidFill>
            <a:srgbClr val="1E293B"/>
          </a:solidFill>
        </p:spPr>
        <p:txBody>
          <a:bodyPr/>
          <a:p/>
        </p:txBody>
      </p:sp>
      <p:sp>
        <p:nvSpPr>
          <p:cNvPr id="167" name="文本框 166" descr="{&quot;isTemplate&quot;:true,&quot;type&quot;:&quot;text&quot;}"/>
          <p:cNvSpPr txBox="1"/>
          <p:nvPr/>
        </p:nvSpPr>
        <p:spPr>
          <a:xfrm>
            <a:off x="4495800" y="2721610"/>
            <a:ext cx="4762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8 </a:t>
            </a:r>
            <a:r>
              <a:rPr lang="zh-CN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条路由</a:t>
            </a:r>
            <a:endParaRPr lang="zh-CN" sz="975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8" name="圆角矩形 167"/>
          <p:cNvSpPr/>
          <p:nvPr/>
        </p:nvSpPr>
        <p:spPr>
          <a:xfrm>
            <a:off x="523875" y="3083560"/>
            <a:ext cx="381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</p:spPr>
        <p:txBody>
          <a:bodyPr/>
          <a:p/>
        </p:txBody>
      </p:sp>
      <p:sp>
        <p:nvSpPr>
          <p:cNvPr id="169" name="文本框 168" descr="{&quot;isTemplate&quot;:true,&quot;type&quot;:&quot;text&quot;}"/>
          <p:cNvSpPr txBox="1"/>
          <p:nvPr/>
        </p:nvSpPr>
        <p:spPr>
          <a:xfrm>
            <a:off x="676275" y="3016885"/>
            <a:ext cx="895350" cy="171450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en-US" sz="1125" spc="22">
                <a:latin typeface="微软雅黑" panose="020B0503020204020204" charset="-122"/>
                <a:ea typeface="微软雅黑" panose="020B0503020204020204" charset="-122"/>
                <a:sym typeface="+mn-ea"/>
              </a:rPr>
              <a:t>api/request.js</a:t>
            </a:r>
            <a:r>
              <a:rPr lang="en-US" sz="1125" spc="22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.js</a:t>
            </a:r>
            <a:endParaRPr lang="en-US" sz="1125" spc="22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0" name="矩形 169"/>
          <p:cNvSpPr/>
          <p:nvPr/>
        </p:nvSpPr>
        <p:spPr>
          <a:xfrm>
            <a:off x="1685925" y="3102610"/>
            <a:ext cx="2581275" cy="9525"/>
          </a:xfrm>
          <a:prstGeom prst="rect">
            <a:avLst/>
          </a:prstGeom>
          <a:solidFill>
            <a:srgbClr val="1E293B"/>
          </a:solidFill>
        </p:spPr>
        <p:txBody>
          <a:bodyPr/>
          <a:p/>
        </p:txBody>
      </p:sp>
      <p:sp>
        <p:nvSpPr>
          <p:cNvPr id="171" name="文本框 170" descr="{&quot;isTemplate&quot;:true,&quot;type&quot;:&quot;text&quot;}"/>
          <p:cNvSpPr txBox="1"/>
          <p:nvPr/>
        </p:nvSpPr>
        <p:spPr>
          <a:xfrm>
            <a:off x="4381500" y="3026410"/>
            <a:ext cx="5905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Axios </a:t>
            </a:r>
            <a:r>
              <a:rPr lang="zh-CN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封装</a:t>
            </a:r>
            <a:endParaRPr lang="zh-CN" sz="975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2" name="圆角矩形 171"/>
          <p:cNvSpPr/>
          <p:nvPr/>
        </p:nvSpPr>
        <p:spPr>
          <a:xfrm>
            <a:off x="523875" y="3388360"/>
            <a:ext cx="38100" cy="38100"/>
          </a:xfrm>
          <a:prstGeom prst="roundRect">
            <a:avLst>
              <a:gd name="adj" fmla="val 50000"/>
            </a:avLst>
          </a:prstGeom>
          <a:solidFill>
            <a:srgbClr val="334155"/>
          </a:solidFill>
        </p:spPr>
        <p:txBody>
          <a:bodyPr/>
          <a:p/>
        </p:txBody>
      </p:sp>
      <p:sp>
        <p:nvSpPr>
          <p:cNvPr id="173" name="文本框 172" descr="{&quot;isTemplate&quot;:true,&quot;type&quot;:&quot;text&quot;}"/>
          <p:cNvSpPr txBox="1"/>
          <p:nvPr/>
        </p:nvSpPr>
        <p:spPr>
          <a:xfrm>
            <a:off x="676275" y="3321685"/>
            <a:ext cx="723900" cy="22923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api</a:t>
            </a:r>
            <a:r>
              <a:rPr lang="en-US" sz="1125" spc="22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en-US" sz="1125" spc="22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mall</a:t>
            </a:r>
            <a:r>
              <a:rPr lang="en-US" sz="1125" spc="22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.</a:t>
            </a:r>
            <a:r>
              <a:rPr lang="en-US" sz="1125" spc="22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js  </a:t>
            </a:r>
            <a:endParaRPr lang="en-US" sz="1125" spc="22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4" name="矩形 173"/>
          <p:cNvSpPr/>
          <p:nvPr/>
        </p:nvSpPr>
        <p:spPr>
          <a:xfrm>
            <a:off x="1457325" y="3407410"/>
            <a:ext cx="2847975" cy="9525"/>
          </a:xfrm>
          <a:prstGeom prst="rect">
            <a:avLst/>
          </a:prstGeom>
          <a:solidFill>
            <a:srgbClr val="1E293B"/>
          </a:solidFill>
        </p:spPr>
        <p:txBody>
          <a:bodyPr/>
          <a:p/>
        </p:txBody>
      </p:sp>
      <p:sp>
        <p:nvSpPr>
          <p:cNvPr id="175" name="文本框 174" descr="{&quot;isTemplate&quot;:true,&quot;type&quot;:&quot;text&quot;}"/>
          <p:cNvSpPr txBox="1"/>
          <p:nvPr/>
        </p:nvSpPr>
        <p:spPr>
          <a:xfrm>
            <a:off x="4419600" y="3331210"/>
            <a:ext cx="5524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14 </a:t>
            </a:r>
            <a:r>
              <a:rPr lang="zh-CN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个接口</a:t>
            </a:r>
            <a:endParaRPr lang="zh-CN" sz="975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6" name="圆角矩形 175"/>
          <p:cNvSpPr/>
          <p:nvPr/>
        </p:nvSpPr>
        <p:spPr>
          <a:xfrm>
            <a:off x="523875" y="3693160"/>
            <a:ext cx="38100" cy="38100"/>
          </a:xfrm>
          <a:prstGeom prst="roundRect">
            <a:avLst>
              <a:gd name="adj" fmla="val 50000"/>
            </a:avLst>
          </a:prstGeom>
          <a:solidFill>
            <a:srgbClr val="334155"/>
          </a:solidFill>
        </p:spPr>
        <p:txBody>
          <a:bodyPr/>
          <a:p/>
        </p:txBody>
      </p:sp>
      <p:sp>
        <p:nvSpPr>
          <p:cNvPr id="177" name="文本框 176" descr="{&quot;isTemplate&quot;:true,&quot;type&quot;:&quot;text&quot;}"/>
          <p:cNvSpPr txBox="1"/>
          <p:nvPr/>
        </p:nvSpPr>
        <p:spPr>
          <a:xfrm>
            <a:off x="676275" y="3626485"/>
            <a:ext cx="11906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constants/index.js  </a:t>
            </a:r>
            <a:endParaRPr lang="en-US" sz="1125" spc="22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8" name="矩形 177"/>
          <p:cNvSpPr/>
          <p:nvPr/>
        </p:nvSpPr>
        <p:spPr>
          <a:xfrm>
            <a:off x="1981200" y="3721735"/>
            <a:ext cx="2381250" cy="9525"/>
          </a:xfrm>
          <a:prstGeom prst="rect">
            <a:avLst/>
          </a:prstGeom>
          <a:solidFill>
            <a:srgbClr val="1E293B"/>
          </a:solidFill>
        </p:spPr>
        <p:txBody>
          <a:bodyPr/>
          <a:p/>
        </p:txBody>
      </p:sp>
      <p:sp>
        <p:nvSpPr>
          <p:cNvPr id="179" name="文本框 178" descr="{&quot;isTemplate&quot;:true,&quot;type&quot;:&quot;text&quot;}"/>
          <p:cNvSpPr txBox="1"/>
          <p:nvPr/>
        </p:nvSpPr>
        <p:spPr>
          <a:xfrm>
            <a:off x="4476750" y="3636010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状态字典</a:t>
            </a:r>
            <a:endParaRPr lang="zh-CN" sz="975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0" name="圆角矩形 179"/>
          <p:cNvSpPr/>
          <p:nvPr/>
        </p:nvSpPr>
        <p:spPr>
          <a:xfrm>
            <a:off x="523875" y="3997960"/>
            <a:ext cx="381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</p:spPr>
        <p:txBody>
          <a:bodyPr/>
          <a:p/>
        </p:txBody>
      </p:sp>
      <p:sp>
        <p:nvSpPr>
          <p:cNvPr id="181" name="文本框 180" descr="{&quot;isTemplate&quot;:true,&quot;type&quot;:&quot;text&quot;}"/>
          <p:cNvSpPr txBox="1"/>
          <p:nvPr/>
        </p:nvSpPr>
        <p:spPr>
          <a:xfrm>
            <a:off x="676275" y="3931285"/>
            <a:ext cx="419100" cy="171450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en-US" sz="1125" spc="22">
                <a:latin typeface="微软雅黑" panose="020B0503020204020204" charset="-122"/>
                <a:ea typeface="微软雅黑" panose="020B0503020204020204" charset="-122"/>
                <a:sym typeface="+mn-ea"/>
              </a:rPr>
              <a:t>views</a:t>
            </a:r>
            <a:endParaRPr lang="en-US" sz="1125" spc="22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2" name="矩形 181"/>
          <p:cNvSpPr/>
          <p:nvPr/>
        </p:nvSpPr>
        <p:spPr>
          <a:xfrm>
            <a:off x="1209675" y="4017010"/>
            <a:ext cx="3171825" cy="9525"/>
          </a:xfrm>
          <a:prstGeom prst="rect">
            <a:avLst/>
          </a:prstGeom>
          <a:solidFill>
            <a:srgbClr val="1E293B"/>
          </a:solidFill>
        </p:spPr>
        <p:txBody>
          <a:bodyPr/>
          <a:p/>
        </p:txBody>
      </p:sp>
      <p:sp>
        <p:nvSpPr>
          <p:cNvPr id="183" name="文本框 182" descr="{&quot;isTemplate&quot;:true,&quot;type&quot;:&quot;text&quot;}"/>
          <p:cNvSpPr txBox="1"/>
          <p:nvPr/>
        </p:nvSpPr>
        <p:spPr>
          <a:xfrm>
            <a:off x="4495800" y="3940810"/>
            <a:ext cx="4762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8 </a:t>
            </a:r>
            <a:r>
              <a:rPr lang="zh-CN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个页面</a:t>
            </a:r>
            <a:endParaRPr lang="zh-CN" sz="975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4" name="任意多边形 183"/>
          <p:cNvSpPr/>
          <p:nvPr/>
        </p:nvSpPr>
        <p:spPr>
          <a:xfrm>
            <a:off x="523875" y="4483735"/>
            <a:ext cx="4448175" cy="361950"/>
          </a:xfrm>
          <a:custGeom>
            <a:avLst/>
            <a:gdLst/>
            <a:ahLst/>
            <a:cxnLst/>
            <a:pathLst>
              <a:path w="467" h="38">
                <a:moveTo>
                  <a:pt x="0" y="0"/>
                </a:moveTo>
                <a:lnTo>
                  <a:pt x="467" y="0"/>
                </a:lnTo>
                <a:lnTo>
                  <a:pt x="467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85" name="文本框 184" descr="{&quot;isTemplate&quot;:true,&quot;type&quot;:&quot;text&quot;}"/>
          <p:cNvSpPr txBox="1"/>
          <p:nvPr/>
        </p:nvSpPr>
        <p:spPr>
          <a:xfrm>
            <a:off x="523875" y="4683760"/>
            <a:ext cx="9525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Vue 3.5 / Vite 8.3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矩形 25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261" name="文本框 260" descr="{&quot;isTemplate&quot;:true,&quot;type&quot;:&quot;text&quot;}"/>
          <p:cNvSpPr txBox="1"/>
          <p:nvPr/>
        </p:nvSpPr>
        <p:spPr>
          <a:xfrm>
            <a:off x="685800" y="533400"/>
            <a:ext cx="2648585" cy="61404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altLang="en-US" sz="40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项目</a:t>
            </a:r>
            <a:r>
              <a:rPr lang="zh-CN" altLang="en-US" sz="40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目录结构</a:t>
            </a:r>
            <a:endParaRPr lang="zh-CN" altLang="en-US" sz="40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4" name="矩形 263"/>
          <p:cNvSpPr/>
          <p:nvPr/>
        </p:nvSpPr>
        <p:spPr>
          <a:xfrm>
            <a:off x="767080" y="1400175"/>
            <a:ext cx="685800" cy="38100"/>
          </a:xfrm>
          <a:prstGeom prst="rect">
            <a:avLst/>
          </a:prstGeom>
          <a:solidFill>
            <a:srgbClr val="2563EB"/>
          </a:solidFill>
        </p:spPr>
        <p:txBody>
          <a:bodyPr/>
          <a:p/>
        </p:txBody>
      </p:sp>
      <p:sp>
        <p:nvSpPr>
          <p:cNvPr id="275" name="圆角矩形 274"/>
          <p:cNvSpPr/>
          <p:nvPr/>
        </p:nvSpPr>
        <p:spPr>
          <a:xfrm>
            <a:off x="6023610" y="236855"/>
            <a:ext cx="5765800" cy="6425565"/>
          </a:xfrm>
          <a:prstGeom prst="roundRect">
            <a:avLst>
              <a:gd name="adj" fmla="val 11628"/>
            </a:avLst>
          </a:prstGeom>
          <a:solidFill>
            <a:srgbClr val="F8FAFC"/>
          </a:solidFill>
        </p:spPr>
        <p:txBody>
          <a:bodyPr/>
          <a:p/>
        </p:txBody>
      </p:sp>
      <p:sp>
        <p:nvSpPr>
          <p:cNvPr id="9" name="tree-code"/>
          <p:cNvSpPr txBox="1"/>
          <p:nvPr/>
        </p:nvSpPr>
        <p:spPr>
          <a:xfrm>
            <a:off x="7031990" y="764540"/>
            <a:ext cx="4130675" cy="55010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2000"/>
              </a:lnSpc>
            </a:pPr>
            <a:r>
              <a:rPr lang="en-US" sz="1400" noProof="1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</a:rPr>
              <a:t>src</a:t>
            </a:r>
            <a:endParaRPr lang="en-US" sz="1400" noProof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42000"/>
              </a:lnSpc>
            </a:pPr>
            <a:r>
              <a:rPr lang="en-US" sz="1400" noProof="1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</a:rPr>
              <a:t>├── api      #</a:t>
            </a:r>
            <a:r>
              <a:rPr lang="zh-CN" altLang="en-US" sz="1400" noProof="1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</a:rPr>
              <a:t>网络请求</a:t>
            </a:r>
            <a:endParaRPr lang="en-US" sz="1400" noProof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42000"/>
              </a:lnSpc>
            </a:pPr>
            <a:r>
              <a:rPr lang="en-US" sz="1400" noProof="1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</a:rPr>
              <a:t>│   ├── request.js      #</a:t>
            </a:r>
            <a:r>
              <a:rPr lang="zh-CN" altLang="en-US" sz="1400" noProof="1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</a:rPr>
              <a:t>封装</a:t>
            </a:r>
            <a:r>
              <a:rPr lang="en-US" sz="1400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  <a:sym typeface="+mn-ea"/>
              </a:rPr>
              <a:t>Axios</a:t>
            </a:r>
            <a:endParaRPr lang="en-US" sz="1400">
              <a:solidFill>
                <a:srgbClr val="26251F"/>
              </a:solidFill>
              <a:latin typeface="Times New Roman" panose="02020603050405020304" charset="0"/>
              <a:ea typeface="JetBrains Mono" panose="02000009000000000000"/>
              <a:cs typeface="Times New Roman" panose="02020603050405020304" charset="0"/>
              <a:sym typeface="+mn-ea"/>
            </a:endParaRPr>
          </a:p>
          <a:p>
            <a:pPr>
              <a:lnSpc>
                <a:spcPct val="142000"/>
              </a:lnSpc>
            </a:pPr>
            <a:r>
              <a:rPr lang="en-US" sz="1400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  <a:sym typeface="+mn-ea"/>
              </a:rPr>
              <a:t>│   ├── seller.js      #</a:t>
            </a:r>
            <a:r>
              <a:rPr lang="zh-CN" altLang="en-US" sz="1400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  <a:sym typeface="+mn-ea"/>
              </a:rPr>
              <a:t>卖家端接口</a:t>
            </a:r>
            <a:endParaRPr lang="zh-CN" altLang="en-US" sz="1400">
              <a:solidFill>
                <a:srgbClr val="26251F"/>
              </a:solidFill>
              <a:latin typeface="Times New Roman" panose="02020603050405020304" charset="0"/>
              <a:ea typeface="JetBrains Mono" panose="02000009000000000000"/>
              <a:cs typeface="Times New Roman" panose="02020603050405020304" charset="0"/>
              <a:sym typeface="+mn-ea"/>
            </a:endParaRPr>
          </a:p>
          <a:p>
            <a:pPr>
              <a:lnSpc>
                <a:spcPct val="142000"/>
              </a:lnSpc>
            </a:pPr>
            <a:r>
              <a:rPr lang="en-US" sz="1400" noProof="1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</a:rPr>
              <a:t>│   └── buyer.js       #</a:t>
            </a:r>
            <a:r>
              <a:rPr lang="zh-CN" altLang="en-US" sz="1400" noProof="1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</a:rPr>
              <a:t>买家端接口</a:t>
            </a:r>
            <a:endParaRPr lang="en-US" sz="1400" noProof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42000"/>
              </a:lnSpc>
            </a:pPr>
            <a:r>
              <a:rPr lang="en-US" sz="1400" noProof="1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</a:rPr>
              <a:t>├── stores    #</a:t>
            </a:r>
            <a:r>
              <a:rPr lang="zh-CN" altLang="en-US" sz="1400" noProof="1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</a:rPr>
              <a:t>管理</a:t>
            </a:r>
            <a:r>
              <a:rPr lang="zh-CN" altLang="en-US" sz="1400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  <a:sym typeface="+mn-ea"/>
              </a:rPr>
              <a:t>买家/卖家双 </a:t>
            </a:r>
            <a:r>
              <a:rPr lang="en-US" altLang="zh-CN" sz="1400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  <a:sym typeface="+mn-ea"/>
              </a:rPr>
              <a:t>token </a:t>
            </a:r>
            <a:r>
              <a:rPr lang="zh-CN" altLang="en-US" sz="1400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  <a:sym typeface="+mn-ea"/>
              </a:rPr>
              <a:t>登录态</a:t>
            </a:r>
            <a:endParaRPr lang="en-US" sz="1400" noProof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42000"/>
              </a:lnSpc>
            </a:pPr>
            <a:r>
              <a:rPr lang="en-US" sz="1400" noProof="1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</a:rPr>
              <a:t>│   └──useUserStore.js</a:t>
            </a:r>
            <a:endParaRPr lang="en-US" sz="1400" noProof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42000"/>
              </a:lnSpc>
            </a:pPr>
            <a:r>
              <a:rPr lang="en-US" sz="1400" noProof="1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</a:rPr>
              <a:t>├── views   #</a:t>
            </a:r>
            <a:r>
              <a:rPr lang="zh-CN" altLang="en-US" sz="1400" noProof="1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</a:rPr>
              <a:t>所有业务页面</a:t>
            </a:r>
            <a:endParaRPr lang="en-US" sz="1400" noProof="1">
              <a:solidFill>
                <a:srgbClr val="26251F"/>
              </a:solidFill>
              <a:latin typeface="Times New Roman" panose="02020603050405020304" charset="0"/>
              <a:ea typeface="JetBrains Mono" panose="02000009000000000000"/>
              <a:cs typeface="Times New Roman" panose="02020603050405020304" charset="0"/>
            </a:endParaRPr>
          </a:p>
          <a:p>
            <a:pPr>
              <a:lnSpc>
                <a:spcPct val="142000"/>
              </a:lnSpc>
            </a:pPr>
            <a:r>
              <a:rPr lang="en-US" sz="1400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  <a:sym typeface="+mn-ea"/>
              </a:rPr>
              <a:t>│   ├── HomeSelect.vue    #</a:t>
            </a:r>
            <a:r>
              <a:rPr lang="zh-CN" altLang="en-US" sz="1400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  <a:sym typeface="+mn-ea"/>
              </a:rPr>
              <a:t>商城入口页面</a:t>
            </a:r>
            <a:endParaRPr lang="en-US" sz="1400" noProof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42000"/>
              </a:lnSpc>
            </a:pPr>
            <a:r>
              <a:rPr lang="en-US" sz="1400" noProof="1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</a:rPr>
              <a:t>│   ├── buyer	#</a:t>
            </a:r>
            <a:r>
              <a:rPr lang="zh-CN" altLang="en-US" sz="1400" noProof="1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</a:rPr>
              <a:t>买家页面</a:t>
            </a:r>
            <a:endParaRPr lang="en-US" sz="1400" noProof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42000"/>
              </a:lnSpc>
            </a:pPr>
            <a:r>
              <a:rPr lang="en-US" sz="1400" noProof="1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</a:rPr>
              <a:t>│   └── seller	#</a:t>
            </a:r>
            <a:r>
              <a:rPr lang="zh-CN" altLang="en-US" sz="1400" noProof="1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</a:rPr>
              <a:t>卖家页面</a:t>
            </a:r>
            <a:endParaRPr lang="en-US" sz="1400" noProof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42000"/>
              </a:lnSpc>
            </a:pPr>
            <a:r>
              <a:rPr lang="en-US" sz="1400" noProof="1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</a:rPr>
              <a:t>├── router</a:t>
            </a:r>
            <a:endParaRPr lang="en-US" sz="1400" noProof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42000"/>
              </a:lnSpc>
            </a:pPr>
            <a:r>
              <a:rPr lang="en-US" sz="1400" noProof="1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</a:rPr>
              <a:t>│   └── index.js        #</a:t>
            </a:r>
            <a:r>
              <a:rPr lang="zh-CN" altLang="en-US" sz="1400" noProof="1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</a:rPr>
              <a:t>路由配置</a:t>
            </a:r>
            <a:endParaRPr lang="en-US" sz="1400" noProof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42000"/>
              </a:lnSpc>
            </a:pPr>
            <a:r>
              <a:rPr lang="en-US" sz="1400" noProof="1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</a:rPr>
              <a:t>├── App.vue             #</a:t>
            </a:r>
            <a:r>
              <a:rPr lang="zh-CN" altLang="en-US" sz="1400" noProof="1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</a:rPr>
              <a:t>全局外壳</a:t>
            </a:r>
            <a:endParaRPr lang="en-US" sz="1400" noProof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42000"/>
              </a:lnSpc>
            </a:pPr>
            <a:r>
              <a:rPr lang="en-US" sz="1400" noProof="1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</a:rPr>
              <a:t>└── main.js  </a:t>
            </a:r>
            <a:r>
              <a:rPr lang="zh-CN" altLang="en-US" sz="1400" noProof="1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</a:rPr>
              <a:t>#应用入口</a:t>
            </a:r>
            <a:endParaRPr lang="zh-CN" altLang="en-US" sz="1400" noProof="1">
              <a:solidFill>
                <a:srgbClr val="26251F"/>
              </a:solidFill>
              <a:latin typeface="Times New Roman" panose="02020603050405020304" charset="0"/>
              <a:ea typeface="JetBrains Mono" panose="02000009000000000000"/>
              <a:cs typeface="Times New Roman" panose="02020603050405020304" charset="0"/>
            </a:endParaRPr>
          </a:p>
          <a:p>
            <a:pPr>
              <a:lnSpc>
                <a:spcPct val="142000"/>
              </a:lnSpc>
            </a:pPr>
            <a:r>
              <a:rPr lang="zh-CN" altLang="en-US" sz="1400" noProof="1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</a:rPr>
              <a:t> </a:t>
            </a:r>
            <a:r>
              <a:rPr lang="en-US" altLang="zh-CN" sz="1400" noProof="1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</a:rPr>
              <a:t>                       </a:t>
            </a:r>
            <a:r>
              <a:rPr lang="zh-CN" altLang="en-US" sz="1400" noProof="1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</a:rPr>
              <a:t>(挂载</a:t>
            </a:r>
            <a:r>
              <a:rPr lang="en-US" altLang="zh-CN" sz="1400" noProof="1">
                <a:solidFill>
                  <a:srgbClr val="26251F"/>
                </a:solidFill>
                <a:latin typeface="Times New Roman" panose="02020603050405020304" charset="0"/>
                <a:ea typeface="JetBrains Mono" panose="02000009000000000000"/>
                <a:cs typeface="Times New Roman" panose="02020603050405020304" charset="0"/>
              </a:rPr>
              <a:t>Vue/Pinia/Router/EP)</a:t>
            </a:r>
            <a:endParaRPr lang="en-US" altLang="zh-CN" sz="1400" noProof="1">
              <a:solidFill>
                <a:srgbClr val="26251F"/>
              </a:solidFill>
              <a:latin typeface="Times New Roman" panose="02020603050405020304" charset="0"/>
              <a:ea typeface="JetBrains Mono" panose="02000009000000000000"/>
              <a:cs typeface="Times New Roman" panose="02020603050405020304" charset="0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229870" y="2001520"/>
            <a:ext cx="34175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152" name="圆角矩形 151"/>
          <p:cNvSpPr/>
          <p:nvPr/>
        </p:nvSpPr>
        <p:spPr>
          <a:xfrm>
            <a:off x="523875" y="171196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</p:spPr>
        <p:txBody>
          <a:bodyPr/>
          <a:p/>
        </p:txBody>
      </p:sp>
      <p:sp>
        <p:nvSpPr>
          <p:cNvPr id="153" name="圆角矩形 152"/>
          <p:cNvSpPr/>
          <p:nvPr/>
        </p:nvSpPr>
        <p:spPr>
          <a:xfrm>
            <a:off x="695325" y="1711960"/>
            <a:ext cx="95250" cy="95250"/>
          </a:xfrm>
          <a:prstGeom prst="roundRect">
            <a:avLst>
              <a:gd name="adj" fmla="val 50000"/>
            </a:avLst>
          </a:prstGeom>
          <a:solidFill>
            <a:srgbClr val="334155"/>
          </a:solidFill>
        </p:spPr>
        <p:txBody>
          <a:bodyPr/>
          <a:p/>
        </p:txBody>
      </p:sp>
      <p:sp>
        <p:nvSpPr>
          <p:cNvPr id="154" name="圆角矩形 153"/>
          <p:cNvSpPr/>
          <p:nvPr/>
        </p:nvSpPr>
        <p:spPr>
          <a:xfrm>
            <a:off x="866775" y="1711960"/>
            <a:ext cx="95250" cy="95250"/>
          </a:xfrm>
          <a:prstGeom prst="roundRect">
            <a:avLst>
              <a:gd name="adj" fmla="val 50000"/>
            </a:avLst>
          </a:prstGeom>
          <a:solidFill>
            <a:srgbClr val="334155"/>
          </a:solidFill>
        </p:spPr>
        <p:txBody>
          <a:bodyPr/>
          <a:p/>
        </p:txBody>
      </p:sp>
      <p:sp>
        <p:nvSpPr>
          <p:cNvPr id="155" name="文本框 154" descr="{&quot;isTemplate&quot;:true,&quot;type&quot;:&quot;text&quot;}"/>
          <p:cNvSpPr txBox="1"/>
          <p:nvPr/>
        </p:nvSpPr>
        <p:spPr>
          <a:xfrm>
            <a:off x="1114425" y="1683385"/>
            <a:ext cx="8191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src/ </a:t>
            </a:r>
            <a:r>
              <a:rPr lang="zh-CN" sz="975" spc="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工程结构</a:t>
            </a:r>
            <a:endParaRPr lang="zh-CN" sz="975" spc="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6" name="圆角矩形 155"/>
          <p:cNvSpPr/>
          <p:nvPr/>
        </p:nvSpPr>
        <p:spPr>
          <a:xfrm>
            <a:off x="523875" y="2169160"/>
            <a:ext cx="381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</p:spPr>
        <p:txBody>
          <a:bodyPr/>
          <a:p/>
        </p:txBody>
      </p:sp>
      <p:sp>
        <p:nvSpPr>
          <p:cNvPr id="157" name="文本框 156" descr="{&quot;isTemplate&quot;:true,&quot;type&quot;:&quot;text&quot;}"/>
          <p:cNvSpPr txBox="1"/>
          <p:nvPr/>
        </p:nvSpPr>
        <p:spPr>
          <a:xfrm>
            <a:off x="638175" y="2112010"/>
            <a:ext cx="476250" cy="171450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en-US" sz="1125" spc="22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i</a:t>
            </a:r>
            <a:r>
              <a:rPr lang="en-US" sz="1125" spc="22">
                <a:latin typeface="微软雅黑" panose="020B0503020204020204" charset="-122"/>
                <a:ea typeface="微软雅黑" panose="020B0503020204020204" charset="-122"/>
                <a:sym typeface="+mn-ea"/>
              </a:rPr>
              <a:t>main.js</a:t>
            </a:r>
            <a:r>
              <a:rPr lang="en-US" sz="1125" spc="22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n</a:t>
            </a:r>
            <a:endParaRPr lang="en-US" sz="1125" spc="22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8" name="矩形 157"/>
          <p:cNvSpPr/>
          <p:nvPr/>
        </p:nvSpPr>
        <p:spPr>
          <a:xfrm>
            <a:off x="1266825" y="2188210"/>
            <a:ext cx="3095625" cy="9525"/>
          </a:xfrm>
          <a:prstGeom prst="rect">
            <a:avLst/>
          </a:prstGeom>
          <a:solidFill>
            <a:srgbClr val="1E293B"/>
          </a:solidFill>
        </p:spPr>
        <p:txBody>
          <a:bodyPr/>
          <a:p/>
        </p:txBody>
      </p:sp>
      <p:sp>
        <p:nvSpPr>
          <p:cNvPr id="159" name="文本框 158" descr="{&quot;isTemplate&quot;:true,&quot;type&quot;:&quot;text&quot;}"/>
          <p:cNvSpPr txBox="1"/>
          <p:nvPr/>
        </p:nvSpPr>
        <p:spPr>
          <a:xfrm>
            <a:off x="4476750" y="2112010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应用入口</a:t>
            </a:r>
            <a:endParaRPr lang="zh-CN" sz="975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0" name="圆角矩形 159"/>
          <p:cNvSpPr/>
          <p:nvPr/>
        </p:nvSpPr>
        <p:spPr>
          <a:xfrm>
            <a:off x="523875" y="2473960"/>
            <a:ext cx="38100" cy="38100"/>
          </a:xfrm>
          <a:prstGeom prst="roundRect">
            <a:avLst>
              <a:gd name="adj" fmla="val 50000"/>
            </a:avLst>
          </a:prstGeom>
          <a:solidFill>
            <a:srgbClr val="334155"/>
          </a:solidFill>
        </p:spPr>
        <p:txBody>
          <a:bodyPr/>
          <a:p/>
        </p:txBody>
      </p:sp>
      <p:sp>
        <p:nvSpPr>
          <p:cNvPr id="161" name="文本框 160" descr="{&quot;isTemplate&quot;:true,&quot;type&quot;:&quot;text&quot;}"/>
          <p:cNvSpPr txBox="1"/>
          <p:nvPr/>
        </p:nvSpPr>
        <p:spPr>
          <a:xfrm>
            <a:off x="676275" y="240728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App.vue </a:t>
            </a:r>
            <a:endParaRPr lang="en-US" sz="1125" spc="22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2" name="矩形 161"/>
          <p:cNvSpPr/>
          <p:nvPr/>
        </p:nvSpPr>
        <p:spPr>
          <a:xfrm>
            <a:off x="1343025" y="2493010"/>
            <a:ext cx="3143250" cy="9525"/>
          </a:xfrm>
          <a:prstGeom prst="rect">
            <a:avLst/>
          </a:prstGeom>
          <a:solidFill>
            <a:srgbClr val="1E293B"/>
          </a:solidFill>
        </p:spPr>
        <p:txBody>
          <a:bodyPr/>
          <a:p/>
        </p:txBody>
      </p:sp>
      <p:sp>
        <p:nvSpPr>
          <p:cNvPr id="163" name="文本框 162" descr="{&quot;isTemplate&quot;:true,&quot;type&quot;:&quot;text&quot;}"/>
          <p:cNvSpPr txBox="1"/>
          <p:nvPr/>
        </p:nvSpPr>
        <p:spPr>
          <a:xfrm>
            <a:off x="4600575" y="2416810"/>
            <a:ext cx="3714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根组件</a:t>
            </a:r>
            <a:endParaRPr lang="zh-CN" sz="975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4" name="圆角矩形 163"/>
          <p:cNvSpPr/>
          <p:nvPr/>
        </p:nvSpPr>
        <p:spPr>
          <a:xfrm>
            <a:off x="523875" y="2778760"/>
            <a:ext cx="38100" cy="38100"/>
          </a:xfrm>
          <a:prstGeom prst="roundRect">
            <a:avLst>
              <a:gd name="adj" fmla="val 50000"/>
            </a:avLst>
          </a:prstGeom>
          <a:solidFill>
            <a:srgbClr val="334155"/>
          </a:solidFill>
        </p:spPr>
        <p:txBody>
          <a:bodyPr/>
          <a:p/>
        </p:txBody>
      </p:sp>
      <p:sp>
        <p:nvSpPr>
          <p:cNvPr id="165" name="文本框 164" descr="{&quot;isTemplate&quot;:true,&quot;type&quot;:&quot;text&quot;}"/>
          <p:cNvSpPr txBox="1"/>
          <p:nvPr/>
        </p:nvSpPr>
        <p:spPr>
          <a:xfrm>
            <a:off x="676275" y="2712085"/>
            <a:ext cx="1075690" cy="22288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router</a:t>
            </a:r>
            <a:r>
              <a:rPr lang="en-US" sz="1125" spc="22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en-US" sz="1125" spc="22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index</a:t>
            </a:r>
            <a:r>
              <a:rPr lang="en-US" sz="1125" spc="22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.</a:t>
            </a:r>
            <a:r>
              <a:rPr lang="en-US" sz="1125" spc="22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js</a:t>
            </a:r>
            <a:endParaRPr lang="en-US" sz="1125" spc="22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6" name="矩形 165"/>
          <p:cNvSpPr/>
          <p:nvPr/>
        </p:nvSpPr>
        <p:spPr>
          <a:xfrm>
            <a:off x="1733550" y="2797810"/>
            <a:ext cx="2647950" cy="9525"/>
          </a:xfrm>
          <a:prstGeom prst="rect">
            <a:avLst/>
          </a:prstGeom>
          <a:solidFill>
            <a:srgbClr val="1E293B"/>
          </a:solidFill>
        </p:spPr>
        <p:txBody>
          <a:bodyPr/>
          <a:p/>
        </p:txBody>
      </p:sp>
      <p:sp>
        <p:nvSpPr>
          <p:cNvPr id="167" name="文本框 166" descr="{&quot;isTemplate&quot;:true,&quot;type&quot;:&quot;text&quot;}"/>
          <p:cNvSpPr txBox="1"/>
          <p:nvPr/>
        </p:nvSpPr>
        <p:spPr>
          <a:xfrm>
            <a:off x="4495800" y="2721610"/>
            <a:ext cx="4762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8 </a:t>
            </a:r>
            <a:r>
              <a:rPr lang="zh-CN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条路由</a:t>
            </a:r>
            <a:endParaRPr lang="zh-CN" sz="975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8" name="圆角矩形 167"/>
          <p:cNvSpPr/>
          <p:nvPr/>
        </p:nvSpPr>
        <p:spPr>
          <a:xfrm>
            <a:off x="523875" y="3083560"/>
            <a:ext cx="381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</p:spPr>
        <p:txBody>
          <a:bodyPr/>
          <a:p/>
        </p:txBody>
      </p:sp>
      <p:sp>
        <p:nvSpPr>
          <p:cNvPr id="169" name="文本框 168" descr="{&quot;isTemplate&quot;:true,&quot;type&quot;:&quot;text&quot;}"/>
          <p:cNvSpPr txBox="1"/>
          <p:nvPr/>
        </p:nvSpPr>
        <p:spPr>
          <a:xfrm>
            <a:off x="676275" y="3016885"/>
            <a:ext cx="895350" cy="171450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en-US" sz="1125" spc="22">
                <a:latin typeface="微软雅黑" panose="020B0503020204020204" charset="-122"/>
                <a:ea typeface="微软雅黑" panose="020B0503020204020204" charset="-122"/>
                <a:sym typeface="+mn-ea"/>
              </a:rPr>
              <a:t>api/request.js</a:t>
            </a:r>
            <a:r>
              <a:rPr lang="en-US" sz="1125" spc="22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.js</a:t>
            </a:r>
            <a:endParaRPr lang="en-US" sz="1125" spc="22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0" name="矩形 169"/>
          <p:cNvSpPr/>
          <p:nvPr/>
        </p:nvSpPr>
        <p:spPr>
          <a:xfrm>
            <a:off x="1685925" y="3102610"/>
            <a:ext cx="2581275" cy="9525"/>
          </a:xfrm>
          <a:prstGeom prst="rect">
            <a:avLst/>
          </a:prstGeom>
          <a:solidFill>
            <a:srgbClr val="1E293B"/>
          </a:solidFill>
        </p:spPr>
        <p:txBody>
          <a:bodyPr/>
          <a:p/>
        </p:txBody>
      </p:sp>
      <p:sp>
        <p:nvSpPr>
          <p:cNvPr id="171" name="文本框 170" descr="{&quot;isTemplate&quot;:true,&quot;type&quot;:&quot;text&quot;}"/>
          <p:cNvSpPr txBox="1"/>
          <p:nvPr/>
        </p:nvSpPr>
        <p:spPr>
          <a:xfrm>
            <a:off x="4381500" y="3026410"/>
            <a:ext cx="5905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Axios </a:t>
            </a:r>
            <a:r>
              <a:rPr lang="zh-CN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封装</a:t>
            </a:r>
            <a:endParaRPr lang="zh-CN" sz="975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2" name="圆角矩形 171"/>
          <p:cNvSpPr/>
          <p:nvPr/>
        </p:nvSpPr>
        <p:spPr>
          <a:xfrm>
            <a:off x="523875" y="3388360"/>
            <a:ext cx="38100" cy="38100"/>
          </a:xfrm>
          <a:prstGeom prst="roundRect">
            <a:avLst>
              <a:gd name="adj" fmla="val 50000"/>
            </a:avLst>
          </a:prstGeom>
          <a:solidFill>
            <a:srgbClr val="334155"/>
          </a:solidFill>
        </p:spPr>
        <p:txBody>
          <a:bodyPr/>
          <a:p/>
        </p:txBody>
      </p:sp>
      <p:sp>
        <p:nvSpPr>
          <p:cNvPr id="173" name="文本框 172" descr="{&quot;isTemplate&quot;:true,&quot;type&quot;:&quot;text&quot;}"/>
          <p:cNvSpPr txBox="1"/>
          <p:nvPr/>
        </p:nvSpPr>
        <p:spPr>
          <a:xfrm>
            <a:off x="676275" y="3321685"/>
            <a:ext cx="723900" cy="22923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api</a:t>
            </a:r>
            <a:r>
              <a:rPr lang="en-US" sz="1125" spc="22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en-US" sz="1125" spc="22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mall</a:t>
            </a:r>
            <a:r>
              <a:rPr lang="en-US" sz="1125" spc="22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.</a:t>
            </a:r>
            <a:r>
              <a:rPr lang="en-US" sz="1125" spc="22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js  </a:t>
            </a:r>
            <a:endParaRPr lang="en-US" sz="1125" spc="22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4" name="矩形 173"/>
          <p:cNvSpPr/>
          <p:nvPr/>
        </p:nvSpPr>
        <p:spPr>
          <a:xfrm>
            <a:off x="1457325" y="3407410"/>
            <a:ext cx="2847975" cy="9525"/>
          </a:xfrm>
          <a:prstGeom prst="rect">
            <a:avLst/>
          </a:prstGeom>
          <a:solidFill>
            <a:srgbClr val="1E293B"/>
          </a:solidFill>
        </p:spPr>
        <p:txBody>
          <a:bodyPr/>
          <a:p/>
        </p:txBody>
      </p:sp>
      <p:sp>
        <p:nvSpPr>
          <p:cNvPr id="175" name="文本框 174" descr="{&quot;isTemplate&quot;:true,&quot;type&quot;:&quot;text&quot;}"/>
          <p:cNvSpPr txBox="1"/>
          <p:nvPr/>
        </p:nvSpPr>
        <p:spPr>
          <a:xfrm>
            <a:off x="4419600" y="3331210"/>
            <a:ext cx="5524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14 </a:t>
            </a:r>
            <a:r>
              <a:rPr lang="zh-CN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个接口</a:t>
            </a:r>
            <a:endParaRPr lang="zh-CN" sz="975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6" name="圆角矩形 175"/>
          <p:cNvSpPr/>
          <p:nvPr/>
        </p:nvSpPr>
        <p:spPr>
          <a:xfrm>
            <a:off x="523875" y="3693160"/>
            <a:ext cx="38100" cy="38100"/>
          </a:xfrm>
          <a:prstGeom prst="roundRect">
            <a:avLst>
              <a:gd name="adj" fmla="val 50000"/>
            </a:avLst>
          </a:prstGeom>
          <a:solidFill>
            <a:srgbClr val="334155"/>
          </a:solidFill>
        </p:spPr>
        <p:txBody>
          <a:bodyPr/>
          <a:p/>
        </p:txBody>
      </p:sp>
      <p:sp>
        <p:nvSpPr>
          <p:cNvPr id="177" name="文本框 176" descr="{&quot;isTemplate&quot;:true,&quot;type&quot;:&quot;text&quot;}"/>
          <p:cNvSpPr txBox="1"/>
          <p:nvPr/>
        </p:nvSpPr>
        <p:spPr>
          <a:xfrm>
            <a:off x="676275" y="3626485"/>
            <a:ext cx="11906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constants/index.js  </a:t>
            </a:r>
            <a:endParaRPr lang="en-US" sz="1125" spc="22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8" name="矩形 177"/>
          <p:cNvSpPr/>
          <p:nvPr/>
        </p:nvSpPr>
        <p:spPr>
          <a:xfrm>
            <a:off x="1981200" y="3721735"/>
            <a:ext cx="2381250" cy="9525"/>
          </a:xfrm>
          <a:prstGeom prst="rect">
            <a:avLst/>
          </a:prstGeom>
          <a:solidFill>
            <a:srgbClr val="1E293B"/>
          </a:solidFill>
        </p:spPr>
        <p:txBody>
          <a:bodyPr/>
          <a:p/>
        </p:txBody>
      </p:sp>
      <p:sp>
        <p:nvSpPr>
          <p:cNvPr id="179" name="文本框 178" descr="{&quot;isTemplate&quot;:true,&quot;type&quot;:&quot;text&quot;}"/>
          <p:cNvSpPr txBox="1"/>
          <p:nvPr/>
        </p:nvSpPr>
        <p:spPr>
          <a:xfrm>
            <a:off x="4476750" y="3636010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状态字典</a:t>
            </a:r>
            <a:endParaRPr lang="zh-CN" sz="975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0" name="圆角矩形 179"/>
          <p:cNvSpPr/>
          <p:nvPr/>
        </p:nvSpPr>
        <p:spPr>
          <a:xfrm>
            <a:off x="523875" y="3997960"/>
            <a:ext cx="381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</p:spPr>
        <p:txBody>
          <a:bodyPr/>
          <a:p/>
        </p:txBody>
      </p:sp>
      <p:sp>
        <p:nvSpPr>
          <p:cNvPr id="181" name="文本框 180" descr="{&quot;isTemplate&quot;:true,&quot;type&quot;:&quot;text&quot;}"/>
          <p:cNvSpPr txBox="1"/>
          <p:nvPr/>
        </p:nvSpPr>
        <p:spPr>
          <a:xfrm>
            <a:off x="676275" y="3931285"/>
            <a:ext cx="419100" cy="171450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en-US" sz="1125" spc="22">
                <a:latin typeface="微软雅黑" panose="020B0503020204020204" charset="-122"/>
                <a:ea typeface="微软雅黑" panose="020B0503020204020204" charset="-122"/>
                <a:sym typeface="+mn-ea"/>
              </a:rPr>
              <a:t>views</a:t>
            </a:r>
            <a:endParaRPr lang="en-US" sz="1125" spc="22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2" name="矩形 181"/>
          <p:cNvSpPr/>
          <p:nvPr/>
        </p:nvSpPr>
        <p:spPr>
          <a:xfrm>
            <a:off x="1209675" y="4017010"/>
            <a:ext cx="3171825" cy="9525"/>
          </a:xfrm>
          <a:prstGeom prst="rect">
            <a:avLst/>
          </a:prstGeom>
          <a:solidFill>
            <a:srgbClr val="1E293B"/>
          </a:solidFill>
        </p:spPr>
        <p:txBody>
          <a:bodyPr/>
          <a:p/>
        </p:txBody>
      </p:sp>
      <p:sp>
        <p:nvSpPr>
          <p:cNvPr id="183" name="文本框 182" descr="{&quot;isTemplate&quot;:true,&quot;type&quot;:&quot;text&quot;}"/>
          <p:cNvSpPr txBox="1"/>
          <p:nvPr/>
        </p:nvSpPr>
        <p:spPr>
          <a:xfrm>
            <a:off x="4495800" y="3940810"/>
            <a:ext cx="4762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8 </a:t>
            </a:r>
            <a:r>
              <a:rPr lang="zh-CN" sz="97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</a:rPr>
              <a:t>个页面</a:t>
            </a:r>
            <a:endParaRPr lang="zh-CN" sz="975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4" name="任意多边形 183"/>
          <p:cNvSpPr/>
          <p:nvPr/>
        </p:nvSpPr>
        <p:spPr>
          <a:xfrm>
            <a:off x="523875" y="4483735"/>
            <a:ext cx="4448175" cy="361950"/>
          </a:xfrm>
          <a:custGeom>
            <a:avLst/>
            <a:gdLst/>
            <a:ahLst/>
            <a:cxnLst/>
            <a:pathLst>
              <a:path w="467" h="38">
                <a:moveTo>
                  <a:pt x="0" y="0"/>
                </a:moveTo>
                <a:lnTo>
                  <a:pt x="467" y="0"/>
                </a:lnTo>
                <a:lnTo>
                  <a:pt x="467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185" name="文本框 184" descr="{&quot;isTemplate&quot;:true,&quot;type&quot;:&quot;text&quot;}"/>
          <p:cNvSpPr txBox="1"/>
          <p:nvPr/>
        </p:nvSpPr>
        <p:spPr>
          <a:xfrm>
            <a:off x="523875" y="4683760"/>
            <a:ext cx="9525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Vue 3.5 / Vite 8.3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矩形 29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296" name="矩形 295"/>
          <p:cNvSpPr/>
          <p:nvPr/>
        </p:nvSpPr>
        <p:spPr>
          <a:xfrm>
            <a:off x="0" y="0"/>
            <a:ext cx="5334000" cy="6858000"/>
          </a:xfrm>
          <a:prstGeom prst="rect">
            <a:avLst/>
          </a:prstGeom>
          <a:solidFill>
            <a:srgbClr val="F8FAFC"/>
          </a:solidFill>
        </p:spPr>
        <p:txBody>
          <a:bodyPr/>
          <a:p/>
        </p:txBody>
      </p:sp>
      <p:sp>
        <p:nvSpPr>
          <p:cNvPr id="297" name="文本框 296" descr="{&quot;isTemplate&quot;:true,&quot;type&quot;:&quot;text&quot;}"/>
          <p:cNvSpPr txBox="1"/>
          <p:nvPr/>
        </p:nvSpPr>
        <p:spPr>
          <a:xfrm>
            <a:off x="685800" y="1104900"/>
            <a:ext cx="3377565" cy="168148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0" b="1" spc="-300">
                <a:gradFill>
                  <a:gsLst>
                    <a:gs pos="0">
                      <a:srgbClr val="2563EB"/>
                    </a:gs>
                    <a:gs pos="100000">
                      <a:srgbClr val="60A5FA"/>
                    </a:gs>
                  </a:gsLst>
                  <a:lin ang="2700000" scaled="1"/>
                </a:gra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sz="12000" b="1" spc="-300">
              <a:gradFill>
                <a:gsLst>
                  <a:gs pos="0">
                    <a:srgbClr val="2563EB"/>
                  </a:gs>
                  <a:gs pos="100000">
                    <a:srgbClr val="60A5FA"/>
                  </a:gs>
                </a:gsLst>
                <a:lin ang="2700000" scaled="1"/>
              </a:gra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8" name="矩形 297"/>
          <p:cNvSpPr/>
          <p:nvPr/>
        </p:nvSpPr>
        <p:spPr>
          <a:xfrm>
            <a:off x="685800" y="3238500"/>
            <a:ext cx="685800" cy="38100"/>
          </a:xfrm>
          <a:prstGeom prst="rect">
            <a:avLst/>
          </a:prstGeom>
          <a:solidFill>
            <a:srgbClr val="2563EB"/>
          </a:solidFill>
        </p:spPr>
        <p:txBody>
          <a:bodyPr/>
          <a:p/>
        </p:txBody>
      </p:sp>
      <p:sp>
        <p:nvSpPr>
          <p:cNvPr id="299" name="文本框 298" descr="{&quot;isTemplate&quot;:true,&quot;type&quot;:&quot;text&quot;}"/>
          <p:cNvSpPr txBox="1"/>
          <p:nvPr/>
        </p:nvSpPr>
        <p:spPr>
          <a:xfrm>
            <a:off x="685800" y="3581400"/>
            <a:ext cx="4567555" cy="120142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48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页面设计与流转</a:t>
            </a:r>
            <a:endParaRPr lang="zh-CN" sz="48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1" name="矩形 300"/>
          <p:cNvSpPr/>
          <p:nvPr/>
        </p:nvSpPr>
        <p:spPr>
          <a:xfrm>
            <a:off x="5704205" y="0"/>
            <a:ext cx="6487795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矩形 36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69" name="文本框 368" descr="{&quot;isTemplate&quot;:true,&quot;type&quot;:&quot;text&quot;}"/>
          <p:cNvSpPr txBox="1"/>
          <p:nvPr/>
        </p:nvSpPr>
        <p:spPr>
          <a:xfrm>
            <a:off x="685800" y="533400"/>
            <a:ext cx="388620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买家链路：提交与查询意向</a:t>
            </a:r>
            <a:endParaRPr lang="zh-CN" sz="25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0" name="文本框 369" descr="{&quot;isTemplate&quot;:true,&quot;type&quot;:&quot;text&quot;}"/>
          <p:cNvSpPr txBox="1"/>
          <p:nvPr/>
        </p:nvSpPr>
        <p:spPr>
          <a:xfrm>
            <a:off x="10439400" y="647700"/>
            <a:ext cx="10668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页面设计与流转</a:t>
            </a:r>
            <a:endParaRPr lang="zh-CN" sz="1050" spc="1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l="1897" t="8695" b="2864"/>
          <a:stretch>
            <a:fillRect/>
          </a:stretch>
        </p:blipFill>
        <p:spPr>
          <a:xfrm>
            <a:off x="839470" y="1556385"/>
            <a:ext cx="8677275" cy="511429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031875" y="1088390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/>
              <a:t>入口页面</a:t>
            </a:r>
            <a:endParaRPr lang="zh-CN" altLang="en-US" sz="2000" b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矩形 36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69" name="文本框 368" descr="{&quot;isTemplate&quot;:true,&quot;type&quot;:&quot;text&quot;}"/>
          <p:cNvSpPr txBox="1"/>
          <p:nvPr/>
        </p:nvSpPr>
        <p:spPr>
          <a:xfrm>
            <a:off x="685800" y="533400"/>
            <a:ext cx="388620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买家链路：提交与查询意向</a:t>
            </a:r>
            <a:endParaRPr lang="zh-CN" sz="25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0" name="文本框 369" descr="{&quot;isTemplate&quot;:true,&quot;type&quot;:&quot;text&quot;}"/>
          <p:cNvSpPr txBox="1"/>
          <p:nvPr/>
        </p:nvSpPr>
        <p:spPr>
          <a:xfrm>
            <a:off x="10439400" y="647700"/>
            <a:ext cx="10668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页面设计与流转</a:t>
            </a:r>
            <a:endParaRPr lang="zh-CN" sz="1050" spc="1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7300" r="-1082" b="11806"/>
          <a:stretch>
            <a:fillRect/>
          </a:stretch>
        </p:blipFill>
        <p:spPr>
          <a:xfrm>
            <a:off x="623570" y="1651635"/>
            <a:ext cx="8976995" cy="476186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8480" y="1124585"/>
            <a:ext cx="4163060" cy="3451225"/>
          </a:xfrm>
          <a:prstGeom prst="rect">
            <a:avLst/>
          </a:prstGeom>
        </p:spPr>
      </p:pic>
      <p:cxnSp>
        <p:nvCxnSpPr>
          <p:cNvPr id="4" name="直接箭头连接符 3"/>
          <p:cNvCxnSpPr/>
          <p:nvPr/>
        </p:nvCxnSpPr>
        <p:spPr>
          <a:xfrm flipV="1">
            <a:off x="4572000" y="2924810"/>
            <a:ext cx="2821940" cy="613410"/>
          </a:xfrm>
          <a:prstGeom prst="straightConnector1">
            <a:avLst/>
          </a:prstGeom>
          <a:ln>
            <a:solidFill>
              <a:srgbClr val="00B05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031875" y="1088390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/>
              <a:t>买家登录页面</a:t>
            </a:r>
            <a:r>
              <a:rPr lang="en-US" altLang="zh-CN" sz="2000" b="1"/>
              <a:t>--&gt;</a:t>
            </a:r>
            <a:r>
              <a:rPr lang="zh-CN" altLang="en-US" sz="2000" b="1"/>
              <a:t>注册</a:t>
            </a:r>
            <a:r>
              <a:rPr lang="zh-CN" altLang="en-US" sz="2000" b="1"/>
              <a:t>页面</a:t>
            </a:r>
            <a:endParaRPr lang="zh-CN" altLang="en-US" sz="2000" b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矩形 36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69" name="文本框 368" descr="{&quot;isTemplate&quot;:true,&quot;type&quot;:&quot;text&quot;}"/>
          <p:cNvSpPr txBox="1"/>
          <p:nvPr/>
        </p:nvSpPr>
        <p:spPr>
          <a:xfrm>
            <a:off x="685800" y="533400"/>
            <a:ext cx="388620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买家链路：提交与查询意向</a:t>
            </a:r>
            <a:endParaRPr lang="zh-CN" sz="25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0" name="文本框 369" descr="{&quot;isTemplate&quot;:true,&quot;type&quot;:&quot;text&quot;}"/>
          <p:cNvSpPr txBox="1"/>
          <p:nvPr/>
        </p:nvSpPr>
        <p:spPr>
          <a:xfrm>
            <a:off x="10439400" y="647700"/>
            <a:ext cx="10668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页面设计与流转</a:t>
            </a:r>
            <a:endParaRPr lang="zh-CN" sz="1050" spc="1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l="816" t="7952" b="23351"/>
          <a:stretch>
            <a:fillRect/>
          </a:stretch>
        </p:blipFill>
        <p:spPr>
          <a:xfrm>
            <a:off x="407670" y="1268730"/>
            <a:ext cx="7649210" cy="344297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4380" y="3572510"/>
            <a:ext cx="4443730" cy="3146425"/>
          </a:xfrm>
          <a:prstGeom prst="rect">
            <a:avLst/>
          </a:prstGeom>
        </p:spPr>
      </p:pic>
      <p:cxnSp>
        <p:nvCxnSpPr>
          <p:cNvPr id="5" name="直接箭头连接符 4"/>
          <p:cNvCxnSpPr/>
          <p:nvPr/>
        </p:nvCxnSpPr>
        <p:spPr>
          <a:xfrm>
            <a:off x="7104380" y="2636520"/>
            <a:ext cx="2160270" cy="1656080"/>
          </a:xfrm>
          <a:prstGeom prst="straightConnector1">
            <a:avLst/>
          </a:prstGeom>
          <a:ln>
            <a:solidFill>
              <a:srgbClr val="92D05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5880100" y="476250"/>
            <a:ext cx="40640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/>
              <a:t>买家端商品列表页面</a:t>
            </a:r>
            <a:r>
              <a:rPr lang="en-US" altLang="zh-CN" sz="2000" b="1"/>
              <a:t>--&gt;</a:t>
            </a:r>
            <a:r>
              <a:rPr lang="zh-CN" altLang="en-US" sz="2000" b="1"/>
              <a:t>商品详情页面</a:t>
            </a:r>
            <a:r>
              <a:rPr lang="en-US" altLang="zh-CN" sz="2000" b="1"/>
              <a:t>--&gt;</a:t>
            </a:r>
            <a:r>
              <a:rPr lang="zh-CN" altLang="en-US" sz="2000" b="1"/>
              <a:t>提交购买</a:t>
            </a:r>
            <a:r>
              <a:rPr lang="zh-CN" altLang="en-US" sz="2000" b="1"/>
              <a:t>意向</a:t>
            </a:r>
            <a:endParaRPr lang="zh-CN" altLang="en-US" sz="2000" b="1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矩形 36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69" name="文本框 368" descr="{&quot;isTemplate&quot;:true,&quot;type&quot;:&quot;text&quot;}"/>
          <p:cNvSpPr txBox="1"/>
          <p:nvPr/>
        </p:nvSpPr>
        <p:spPr>
          <a:xfrm>
            <a:off x="685800" y="533400"/>
            <a:ext cx="388620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买家链路：提交与查询意向</a:t>
            </a:r>
            <a:endParaRPr lang="zh-CN" sz="25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0" name="文本框 369" descr="{&quot;isTemplate&quot;:true,&quot;type&quot;:&quot;text&quot;}"/>
          <p:cNvSpPr txBox="1"/>
          <p:nvPr/>
        </p:nvSpPr>
        <p:spPr>
          <a:xfrm>
            <a:off x="10439400" y="647700"/>
            <a:ext cx="10668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页面设计与流转</a:t>
            </a:r>
            <a:endParaRPr lang="zh-CN" sz="1050" spc="1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1357" t="8787" r="5350" b="36611"/>
          <a:stretch>
            <a:fillRect/>
          </a:stretch>
        </p:blipFill>
        <p:spPr>
          <a:xfrm>
            <a:off x="623570" y="1772285"/>
            <a:ext cx="9865360" cy="374459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031875" y="1088390"/>
            <a:ext cx="52177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/>
              <a:t>历史意向页面，可查询买家</a:t>
            </a:r>
            <a:r>
              <a:rPr lang="zh-CN" altLang="en-US" sz="2000" b="1"/>
              <a:t>用户的历史</a:t>
            </a:r>
            <a:r>
              <a:rPr lang="zh-CN" altLang="en-US" sz="2000" b="1"/>
              <a:t>交易</a:t>
            </a:r>
            <a:endParaRPr lang="zh-CN" altLang="en-US" sz="2000" b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矩形 39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93" name="文本框 392" descr="{&quot;isTemplate&quot;:true,&quot;type&quot;:&quot;text&quot;}"/>
          <p:cNvSpPr txBox="1"/>
          <p:nvPr/>
        </p:nvSpPr>
        <p:spPr>
          <a:xfrm>
            <a:off x="685800" y="533400"/>
            <a:ext cx="323850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卖家链路：管理与处理</a:t>
            </a:r>
            <a:endParaRPr lang="zh-CN" sz="25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4" name="文本框 393" descr="{&quot;isTemplate&quot;:true,&quot;type&quot;:&quot;text&quot;}"/>
          <p:cNvSpPr txBox="1"/>
          <p:nvPr/>
        </p:nvSpPr>
        <p:spPr>
          <a:xfrm>
            <a:off x="10439400" y="647700"/>
            <a:ext cx="10668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页面设计与流转</a:t>
            </a:r>
            <a:endParaRPr lang="zh-CN" sz="1050" spc="1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7" name="圆角矩形 426"/>
          <p:cNvSpPr/>
          <p:nvPr/>
        </p:nvSpPr>
        <p:spPr>
          <a:xfrm>
            <a:off x="685800" y="65436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</p:spPr>
        <p:txBody>
          <a:bodyPr/>
          <a:p/>
        </p:txBody>
      </p:sp>
      <p:sp>
        <p:nvSpPr>
          <p:cNvPr id="428" name="文本框 427" descr="{&quot;isTemplate&quot;:true,&quot;type&quot;:&quot;text&quot;}"/>
          <p:cNvSpPr txBox="1"/>
          <p:nvPr/>
        </p:nvSpPr>
        <p:spPr>
          <a:xfrm>
            <a:off x="838200" y="6496050"/>
            <a:ext cx="13716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mall-front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在线商城系统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l="1897" t="8695" b="2864"/>
          <a:stretch>
            <a:fillRect/>
          </a:stretch>
        </p:blipFill>
        <p:spPr>
          <a:xfrm>
            <a:off x="335280" y="1412240"/>
            <a:ext cx="7125335" cy="419989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190" y="1700530"/>
            <a:ext cx="5013960" cy="317944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655820" y="764540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/>
              <a:t>卖家登录入口</a:t>
            </a:r>
            <a:r>
              <a:rPr lang="en-US" altLang="zh-CN" sz="2000" b="1"/>
              <a:t>--&gt;</a:t>
            </a:r>
            <a:r>
              <a:rPr lang="zh-CN" altLang="en-US" sz="2000" b="1"/>
              <a:t>卖家登录页面</a:t>
            </a:r>
            <a:endParaRPr lang="zh-CN" altLang="en-US" sz="2000" b="1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矩形 39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93" name="文本框 392" descr="{&quot;isTemplate&quot;:true,&quot;type&quot;:&quot;text&quot;}"/>
          <p:cNvSpPr txBox="1"/>
          <p:nvPr/>
        </p:nvSpPr>
        <p:spPr>
          <a:xfrm>
            <a:off x="685800" y="533400"/>
            <a:ext cx="323850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卖家链路：管理与处理</a:t>
            </a:r>
            <a:endParaRPr lang="zh-CN" sz="25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4" name="文本框 393" descr="{&quot;isTemplate&quot;:true,&quot;type&quot;:&quot;text&quot;}"/>
          <p:cNvSpPr txBox="1"/>
          <p:nvPr/>
        </p:nvSpPr>
        <p:spPr>
          <a:xfrm>
            <a:off x="10439400" y="647700"/>
            <a:ext cx="10668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页面设计与流转</a:t>
            </a:r>
            <a:endParaRPr lang="zh-CN" sz="1050" spc="1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7" name="圆角矩形 426"/>
          <p:cNvSpPr/>
          <p:nvPr/>
        </p:nvSpPr>
        <p:spPr>
          <a:xfrm>
            <a:off x="706120" y="690372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</p:spPr>
        <p:txBody>
          <a:bodyPr/>
          <a:p/>
        </p:txBody>
      </p:sp>
      <p:sp>
        <p:nvSpPr>
          <p:cNvPr id="428" name="文本框 427" descr="{&quot;isTemplate&quot;:true,&quot;type&quot;:&quot;text&quot;}"/>
          <p:cNvSpPr txBox="1"/>
          <p:nvPr/>
        </p:nvSpPr>
        <p:spPr>
          <a:xfrm>
            <a:off x="858520" y="6856095"/>
            <a:ext cx="13716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mall-front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在线商城系统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t="4608"/>
          <a:stretch>
            <a:fillRect/>
          </a:stretch>
        </p:blipFill>
        <p:spPr>
          <a:xfrm>
            <a:off x="263525" y="1340485"/>
            <a:ext cx="7995285" cy="446913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8300" y="1412240"/>
            <a:ext cx="3457575" cy="340614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rcRect l="23620" t="27103" r="8458" b="15285"/>
          <a:stretch>
            <a:fillRect/>
          </a:stretch>
        </p:blipFill>
        <p:spPr>
          <a:xfrm>
            <a:off x="7386320" y="5334635"/>
            <a:ext cx="4826000" cy="1427480"/>
          </a:xfrm>
          <a:prstGeom prst="rect">
            <a:avLst/>
          </a:prstGeom>
        </p:spPr>
      </p:pic>
      <p:cxnSp>
        <p:nvCxnSpPr>
          <p:cNvPr id="6" name="直接箭头连接符 5"/>
          <p:cNvCxnSpPr/>
          <p:nvPr/>
        </p:nvCxnSpPr>
        <p:spPr>
          <a:xfrm flipV="1">
            <a:off x="6908800" y="1700530"/>
            <a:ext cx="1296035" cy="79184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>
            <a:off x="7407910" y="4852035"/>
            <a:ext cx="796925" cy="44894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5880100" y="260350"/>
            <a:ext cx="406400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/>
              <a:t>卖家商品页面</a:t>
            </a:r>
            <a:r>
              <a:rPr lang="en-US" altLang="zh-CN" sz="2000" b="1"/>
              <a:t>--&gt;1.</a:t>
            </a:r>
            <a:r>
              <a:rPr lang="zh-CN" altLang="en-US" sz="2000" b="1"/>
              <a:t>查看商品</a:t>
            </a:r>
            <a:r>
              <a:rPr lang="zh-CN" altLang="en-US" sz="2000" b="1"/>
              <a:t>详情</a:t>
            </a:r>
            <a:endParaRPr lang="zh-CN" altLang="en-US" sz="2000" b="1"/>
          </a:p>
          <a:p>
            <a:r>
              <a:rPr lang="en-US" altLang="zh-CN" sz="2000" b="1"/>
              <a:t>2.</a:t>
            </a:r>
            <a:r>
              <a:rPr lang="zh-CN" altLang="en-US" sz="2000" b="1"/>
              <a:t>更改商品状态</a:t>
            </a:r>
            <a:r>
              <a:rPr lang="en-US" altLang="zh-CN" sz="2000" b="1"/>
              <a:t>    3.</a:t>
            </a:r>
            <a:r>
              <a:rPr lang="zh-CN" altLang="en-US" sz="2000" b="1"/>
              <a:t>修改商品</a:t>
            </a:r>
            <a:r>
              <a:rPr lang="zh-CN" altLang="en-US" sz="2000" b="1"/>
              <a:t>库存</a:t>
            </a:r>
            <a:endParaRPr lang="zh-CN" altLang="en-US" sz="2000" b="1"/>
          </a:p>
          <a:p>
            <a:r>
              <a:rPr lang="en-US" altLang="zh-CN" sz="2000" b="1"/>
              <a:t>4.</a:t>
            </a:r>
            <a:r>
              <a:rPr lang="zh-CN" altLang="en-US" sz="2000" b="1"/>
              <a:t>处理商品对应的交易</a:t>
            </a:r>
            <a:endParaRPr lang="zh-CN" altLang="en-US" sz="2000" b="1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矩形 39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93" name="文本框 392" descr="{&quot;isTemplate&quot;:true,&quot;type&quot;:&quot;text&quot;}"/>
          <p:cNvSpPr txBox="1"/>
          <p:nvPr/>
        </p:nvSpPr>
        <p:spPr>
          <a:xfrm>
            <a:off x="685800" y="533400"/>
            <a:ext cx="323850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卖家链路：管理与处理</a:t>
            </a:r>
            <a:endParaRPr lang="zh-CN" sz="25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4" name="文本框 393" descr="{&quot;isTemplate&quot;:true,&quot;type&quot;:&quot;text&quot;}"/>
          <p:cNvSpPr txBox="1"/>
          <p:nvPr/>
        </p:nvSpPr>
        <p:spPr>
          <a:xfrm>
            <a:off x="10439400" y="647700"/>
            <a:ext cx="10668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页面设计与流转</a:t>
            </a:r>
            <a:endParaRPr lang="zh-CN" sz="1050" spc="1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8" name="文本框 427" descr="{&quot;isTemplate&quot;:true,&quot;type&quot;:&quot;text&quot;}"/>
          <p:cNvSpPr txBox="1"/>
          <p:nvPr/>
        </p:nvSpPr>
        <p:spPr>
          <a:xfrm>
            <a:off x="838200" y="6496050"/>
            <a:ext cx="13716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mall-front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在线商城系统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11225" y="1196340"/>
            <a:ext cx="91789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/>
              <a:t>携带商品</a:t>
            </a:r>
            <a:r>
              <a:rPr lang="en-US" altLang="zh-CN" sz="2000" b="1"/>
              <a:t>id </a:t>
            </a:r>
            <a:r>
              <a:rPr lang="zh-CN" altLang="en-US" sz="2000" b="1"/>
              <a:t>跳转到</a:t>
            </a:r>
            <a:r>
              <a:rPr lang="en-US" altLang="zh-CN" sz="2000" b="1"/>
              <a:t> </a:t>
            </a:r>
            <a:r>
              <a:rPr lang="zh-CN" altLang="en-US" sz="2000" b="1"/>
              <a:t>意向队列页面，对交易进行处理，处理后会改变意向的</a:t>
            </a:r>
            <a:r>
              <a:rPr lang="zh-CN" altLang="en-US" sz="2000" b="1"/>
              <a:t>状态</a:t>
            </a:r>
            <a:endParaRPr lang="zh-CN" altLang="en-US" sz="2000" b="1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175" y="1816100"/>
            <a:ext cx="10564495" cy="3122295"/>
          </a:xfrm>
          <a:prstGeom prst="rect">
            <a:avLst/>
          </a:prstGeom>
        </p:spPr>
      </p:pic>
      <p:graphicFrame>
        <p:nvGraphicFramePr>
          <p:cNvPr id="11" name="表格 10"/>
          <p:cNvGraphicFramePr/>
          <p:nvPr>
            <p:custDataLst>
              <p:tags r:id="rId2"/>
            </p:custDataLst>
          </p:nvPr>
        </p:nvGraphicFramePr>
        <p:xfrm>
          <a:off x="2135505" y="4938395"/>
          <a:ext cx="8681085" cy="767715"/>
        </p:xfrm>
        <a:graphic>
          <a:graphicData uri="http://schemas.openxmlformats.org/drawingml/2006/table">
            <a:tbl>
              <a:tblPr/>
              <a:tblGrid>
                <a:gridCol w="2893695"/>
                <a:gridCol w="2893695"/>
                <a:gridCol w="2893695"/>
              </a:tblGrid>
              <a:tr h="338455">
                <a:tc>
                  <a:txBody>
                    <a:bodyPr/>
                    <a:p>
                      <a:r>
                        <a:rPr lang="en-US" altLang="zh-CN" sz="1200" b="1" i="0">
                          <a:solidFill>
                            <a:schemeClr val="tx1"/>
                          </a:solidFill>
                          <a:latin typeface="Segoe WPC"/>
                          <a:ea typeface="Segoe WPC"/>
                        </a:rPr>
                        <a:t>QUEUED</a:t>
                      </a:r>
                      <a:endParaRPr lang="en-US" altLang="zh-CN" sz="1200" b="1" i="0">
                        <a:solidFill>
                          <a:schemeClr val="tx1"/>
                        </a:solidFill>
                        <a:latin typeface="Segoe WPC"/>
                        <a:ea typeface="Segoe WPC"/>
                      </a:endParaRPr>
                    </a:p>
                  </a:txBody>
                  <a:tcPr marL="63817" marR="63817" marT="32067" marB="320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1100" b="1" i="0">
                          <a:solidFill>
                            <a:schemeClr val="tx1"/>
                          </a:solidFill>
                          <a:latin typeface="Segoe WPC"/>
                          <a:ea typeface="Segoe WPC"/>
                        </a:rPr>
                        <a:t>排队中</a:t>
                      </a:r>
                      <a:endParaRPr lang="zh-CN" altLang="en-US" sz="1100" b="1" i="0">
                        <a:solidFill>
                          <a:schemeClr val="tx1"/>
                        </a:solidFill>
                        <a:latin typeface="Segoe WPC"/>
                        <a:ea typeface="Segoe WPC"/>
                      </a:endParaRPr>
                    </a:p>
                  </a:txBody>
                  <a:tcPr marL="63817" marR="63817" marT="32067" marB="320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1100" b="1" i="0">
                          <a:solidFill>
                            <a:schemeClr val="tx1"/>
                          </a:solidFill>
                          <a:latin typeface="Segoe WPC"/>
                          <a:ea typeface="Segoe WPC"/>
                        </a:rPr>
                        <a:t> </a:t>
                      </a:r>
                      <a:r>
                        <a:rPr lang="en-US" altLang="zh-CN" sz="1200" b="1" i="0">
                          <a:solidFill>
                            <a:schemeClr val="tx1"/>
                          </a:solidFill>
                          <a:latin typeface="Segoe WPC"/>
                          <a:ea typeface="Segoe WPC"/>
                        </a:rPr>
                        <a:t>START</a:t>
                      </a:r>
                      <a:r>
                        <a:rPr lang="zh-CN" altLang="en-US" sz="1100" b="1" i="0">
                          <a:solidFill>
                            <a:schemeClr val="tx1"/>
                          </a:solidFill>
                          <a:latin typeface="Segoe WPC"/>
                          <a:ea typeface="Segoe WPC"/>
                        </a:rPr>
                        <a:t>（进入交易）</a:t>
                      </a:r>
                      <a:endParaRPr lang="zh-CN" altLang="en-US" sz="1100" b="1" i="0">
                        <a:solidFill>
                          <a:schemeClr val="tx1"/>
                        </a:solidFill>
                        <a:latin typeface="Segoe WPC"/>
                        <a:ea typeface="Segoe WPC"/>
                      </a:endParaRPr>
                    </a:p>
                  </a:txBody>
                  <a:tcPr marL="63817" marR="63817" marT="32067" marB="320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8780">
                <a:tc>
                  <a:txBody>
                    <a:bodyPr/>
                    <a:p>
                      <a:r>
                        <a:rPr lang="en-US" altLang="zh-CN" sz="1200" b="1" i="0">
                          <a:solidFill>
                            <a:schemeClr val="tx1"/>
                          </a:solidFill>
                          <a:latin typeface="Segoe WPC"/>
                          <a:ea typeface="Segoe WPC"/>
                        </a:rPr>
                        <a:t>TRADING</a:t>
                      </a:r>
                      <a:endParaRPr lang="en-US" altLang="zh-CN" sz="1200" b="1" i="0">
                        <a:solidFill>
                          <a:schemeClr val="tx1"/>
                        </a:solidFill>
                        <a:latin typeface="Segoe WPC"/>
                        <a:ea typeface="Segoe WPC"/>
                      </a:endParaRPr>
                    </a:p>
                  </a:txBody>
                  <a:tcPr marL="63817" marR="63817" marT="32067" marB="320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1100" b="1" i="0">
                          <a:solidFill>
                            <a:schemeClr val="tx1"/>
                          </a:solidFill>
                          <a:latin typeface="Segoe WPC"/>
                          <a:ea typeface="Segoe WPC"/>
                        </a:rPr>
                        <a:t>交易中</a:t>
                      </a:r>
                      <a:endParaRPr lang="zh-CN" altLang="en-US" sz="1100" b="1" i="0">
                        <a:solidFill>
                          <a:schemeClr val="tx1"/>
                        </a:solidFill>
                        <a:latin typeface="Segoe WPC"/>
                        <a:ea typeface="Segoe WPC"/>
                      </a:endParaRPr>
                    </a:p>
                  </a:txBody>
                  <a:tcPr marL="63817" marR="63817" marT="32067" marB="320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1200" b="1" i="0">
                          <a:solidFill>
                            <a:schemeClr val="tx1"/>
                          </a:solidFill>
                          <a:latin typeface="Segoe WPC"/>
                          <a:ea typeface="Segoe WPC"/>
                        </a:rPr>
                        <a:t>SUCCESS</a:t>
                      </a:r>
                      <a:r>
                        <a:rPr lang="zh-CN" altLang="en-US" sz="1100" b="1" i="0">
                          <a:solidFill>
                            <a:schemeClr val="tx1"/>
                          </a:solidFill>
                          <a:latin typeface="Segoe WPC"/>
                          <a:ea typeface="Segoe WPC"/>
                        </a:rPr>
                        <a:t>（交易成功）</a:t>
                      </a:r>
                      <a:r>
                        <a:rPr lang="en-US" altLang="zh-CN" sz="1100" b="1" i="0">
                          <a:solidFill>
                            <a:schemeClr val="tx1"/>
                          </a:solidFill>
                          <a:latin typeface="Segoe WPC"/>
                          <a:ea typeface="Segoe WPC"/>
                        </a:rPr>
                        <a:t>/ </a:t>
                      </a:r>
                      <a:r>
                        <a:rPr lang="en-US" altLang="zh-CN" sz="1200" b="1" i="0">
                          <a:solidFill>
                            <a:schemeClr val="tx1"/>
                          </a:solidFill>
                          <a:latin typeface="Segoe WPC"/>
                          <a:ea typeface="Segoe WPC"/>
                        </a:rPr>
                        <a:t>FAILURE</a:t>
                      </a:r>
                      <a:r>
                        <a:rPr lang="zh-CN" altLang="en-US" sz="1100" b="1" i="0">
                          <a:solidFill>
                            <a:schemeClr val="tx1"/>
                          </a:solidFill>
                          <a:latin typeface="Segoe WPC"/>
                          <a:ea typeface="Segoe WPC"/>
                        </a:rPr>
                        <a:t>（作废）</a:t>
                      </a:r>
                      <a:r>
                        <a:rPr lang="en-US" altLang="zh-CN" sz="1100" b="1" i="0">
                          <a:solidFill>
                            <a:schemeClr val="tx1"/>
                          </a:solidFill>
                          <a:latin typeface="Segoe WPC"/>
                          <a:ea typeface="Segoe WPC"/>
                        </a:rPr>
                        <a:t>/</a:t>
                      </a:r>
                      <a:r>
                        <a:rPr lang="en-US" altLang="zh-CN" sz="1200" b="1" i="0">
                          <a:solidFill>
                            <a:schemeClr val="tx1"/>
                          </a:solidFill>
                          <a:latin typeface="Segoe WPC"/>
                          <a:ea typeface="Segoe WPC"/>
                        </a:rPr>
                        <a:t> RE_QUEUE</a:t>
                      </a:r>
                      <a:r>
                        <a:rPr lang="zh-CN" altLang="en-US" sz="1100" b="1" i="0">
                          <a:solidFill>
                            <a:schemeClr val="tx1"/>
                          </a:solidFill>
                          <a:latin typeface="Segoe WPC"/>
                          <a:ea typeface="Segoe WPC"/>
                        </a:rPr>
                        <a:t>（重新排队到队尾）</a:t>
                      </a:r>
                      <a:endParaRPr lang="zh-CN" altLang="en-US" sz="1100" b="1" i="0">
                        <a:solidFill>
                          <a:schemeClr val="tx1"/>
                        </a:solidFill>
                        <a:latin typeface="Segoe WPC"/>
                        <a:ea typeface="Segoe WPC"/>
                      </a:endParaRPr>
                    </a:p>
                  </a:txBody>
                  <a:tcPr marL="63817" marR="63817" marT="32067" marB="3206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矩形 39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93" name="文本框 392" descr="{&quot;isTemplate&quot;:true,&quot;type&quot;:&quot;text&quot;}"/>
          <p:cNvSpPr txBox="1"/>
          <p:nvPr/>
        </p:nvSpPr>
        <p:spPr>
          <a:xfrm>
            <a:off x="685800" y="533400"/>
            <a:ext cx="323850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卖家链路：管理与处理</a:t>
            </a:r>
            <a:endParaRPr lang="zh-CN" sz="25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4" name="文本框 393" descr="{&quot;isTemplate&quot;:true,&quot;type&quot;:&quot;text&quot;}"/>
          <p:cNvSpPr txBox="1"/>
          <p:nvPr/>
        </p:nvSpPr>
        <p:spPr>
          <a:xfrm>
            <a:off x="10439400" y="647700"/>
            <a:ext cx="10668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页面设计与流转</a:t>
            </a:r>
            <a:endParaRPr lang="zh-CN" sz="1050" spc="1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8" name="文本框 427" descr="{&quot;isTemplate&quot;:true,&quot;type&quot;:&quot;text&quot;}"/>
          <p:cNvSpPr txBox="1"/>
          <p:nvPr/>
        </p:nvSpPr>
        <p:spPr>
          <a:xfrm>
            <a:off x="838200" y="6496050"/>
            <a:ext cx="13716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mall-front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在线商城系统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1052195"/>
            <a:ext cx="9030970" cy="531558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024245" y="692150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/>
              <a:t>发布商品页面</a:t>
            </a:r>
            <a:endParaRPr lang="zh-CN" altLang="en-US" sz="2000" b="1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文本框 392" descr="{&quot;isTemplate&quot;:true,&quot;type&quot;:&quot;text&quot;}"/>
          <p:cNvSpPr txBox="1"/>
          <p:nvPr/>
        </p:nvSpPr>
        <p:spPr>
          <a:xfrm>
            <a:off x="685800" y="533400"/>
            <a:ext cx="323850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卖家链路：管理与处理</a:t>
            </a:r>
            <a:endParaRPr lang="zh-CN" sz="25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4" name="文本框 393" descr="{&quot;isTemplate&quot;:true,&quot;type&quot;:&quot;text&quot;}"/>
          <p:cNvSpPr txBox="1"/>
          <p:nvPr/>
        </p:nvSpPr>
        <p:spPr>
          <a:xfrm>
            <a:off x="10439400" y="647700"/>
            <a:ext cx="10668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页面设计与流转</a:t>
            </a:r>
            <a:endParaRPr lang="zh-CN" sz="1050" spc="1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8" name="文本框 427" descr="{&quot;isTemplate&quot;:true,&quot;type&quot;:&quot;text&quot;}"/>
          <p:cNvSpPr txBox="1"/>
          <p:nvPr/>
        </p:nvSpPr>
        <p:spPr>
          <a:xfrm>
            <a:off x="838200" y="6496050"/>
            <a:ext cx="13716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mall-front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在线商城系统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r="2998" b="7008"/>
          <a:stretch>
            <a:fillRect/>
          </a:stretch>
        </p:blipFill>
        <p:spPr>
          <a:xfrm>
            <a:off x="685800" y="1196340"/>
            <a:ext cx="9082405" cy="504698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655820" y="764540"/>
            <a:ext cx="50596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/>
              <a:t>分类管理页面，二级分类绑定商品</a:t>
            </a:r>
            <a:r>
              <a:rPr lang="en-US" altLang="zh-CN" sz="2000" b="1"/>
              <a:t>ID</a:t>
            </a:r>
            <a:endParaRPr lang="en-US" altLang="zh-CN" sz="2000" b="1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文本框 392" descr="{&quot;isTemplate&quot;:true,&quot;type&quot;:&quot;text&quot;}"/>
          <p:cNvSpPr txBox="1"/>
          <p:nvPr/>
        </p:nvSpPr>
        <p:spPr>
          <a:xfrm>
            <a:off x="685800" y="533400"/>
            <a:ext cx="323850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卖家链路：管理与处理</a:t>
            </a:r>
            <a:endParaRPr lang="zh-CN" sz="25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4" name="文本框 393" descr="{&quot;isTemplate&quot;:true,&quot;type&quot;:&quot;text&quot;}"/>
          <p:cNvSpPr txBox="1"/>
          <p:nvPr/>
        </p:nvSpPr>
        <p:spPr>
          <a:xfrm>
            <a:off x="10439400" y="647700"/>
            <a:ext cx="10668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页面设计与流转</a:t>
            </a:r>
            <a:endParaRPr lang="zh-CN" sz="1050" spc="1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8" name="文本框 427" descr="{&quot;isTemplate&quot;:true,&quot;type&quot;:&quot;text&quot;}"/>
          <p:cNvSpPr txBox="1"/>
          <p:nvPr/>
        </p:nvSpPr>
        <p:spPr>
          <a:xfrm>
            <a:off x="838200" y="6496050"/>
            <a:ext cx="13716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mall-front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在线商城系统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931545"/>
            <a:ext cx="9974580" cy="266382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t="5749"/>
          <a:stretch>
            <a:fillRect/>
          </a:stretch>
        </p:blipFill>
        <p:spPr>
          <a:xfrm>
            <a:off x="767080" y="3356610"/>
            <a:ext cx="9965055" cy="320992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652010" y="533400"/>
            <a:ext cx="50596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/>
              <a:t>历史下架商品页面</a:t>
            </a:r>
            <a:r>
              <a:rPr lang="en-US" altLang="zh-CN" sz="2000" b="1"/>
              <a:t>       </a:t>
            </a:r>
            <a:r>
              <a:rPr lang="zh-CN" altLang="en-US" sz="2000" b="1"/>
              <a:t>修改密码页面</a:t>
            </a:r>
            <a:r>
              <a:rPr lang="en-US" altLang="zh-CN" sz="2000" b="1"/>
              <a:t>     </a:t>
            </a:r>
            <a:endParaRPr lang="en-US" altLang="zh-CN" sz="2000" b="1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矩形 1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15" name="矩形 114"/>
          <p:cNvSpPr/>
          <p:nvPr/>
        </p:nvSpPr>
        <p:spPr>
          <a:xfrm>
            <a:off x="0" y="0"/>
            <a:ext cx="5334000" cy="6858000"/>
          </a:xfrm>
          <a:prstGeom prst="rect">
            <a:avLst/>
          </a:prstGeom>
          <a:solidFill>
            <a:srgbClr val="F8FAFC"/>
          </a:solidFill>
        </p:spPr>
        <p:txBody>
          <a:bodyPr/>
          <a:p/>
        </p:txBody>
      </p:sp>
      <p:sp>
        <p:nvSpPr>
          <p:cNvPr id="116" name="文本框 115" descr="{&quot;isTemplate&quot;:true,&quot;type&quot;:&quot;text&quot;}"/>
          <p:cNvSpPr txBox="1"/>
          <p:nvPr/>
        </p:nvSpPr>
        <p:spPr>
          <a:xfrm>
            <a:off x="685800" y="1104900"/>
            <a:ext cx="4191000" cy="1828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0" b="1" spc="-300">
                <a:gradFill>
                  <a:gsLst>
                    <a:gs pos="0">
                      <a:srgbClr val="2563EB"/>
                    </a:gs>
                    <a:gs pos="100000">
                      <a:srgbClr val="60A5FA"/>
                    </a:gs>
                  </a:gsLst>
                  <a:lin ang="2700000" scaled="1"/>
                </a:gra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sz="12000" b="1" spc="-300">
              <a:gradFill>
                <a:gsLst>
                  <a:gs pos="0">
                    <a:srgbClr val="2563EB"/>
                  </a:gs>
                  <a:gs pos="100000">
                    <a:srgbClr val="60A5FA"/>
                  </a:gs>
                </a:gsLst>
                <a:lin ang="2700000" scaled="1"/>
              </a:gra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" name="矩形 116"/>
          <p:cNvSpPr/>
          <p:nvPr/>
        </p:nvSpPr>
        <p:spPr>
          <a:xfrm>
            <a:off x="685800" y="3238500"/>
            <a:ext cx="685800" cy="38100"/>
          </a:xfrm>
          <a:prstGeom prst="rect">
            <a:avLst/>
          </a:prstGeom>
          <a:solidFill>
            <a:srgbClr val="2563EB"/>
          </a:solidFill>
        </p:spPr>
        <p:txBody>
          <a:bodyPr/>
          <a:p/>
        </p:txBody>
      </p:sp>
      <p:sp>
        <p:nvSpPr>
          <p:cNvPr id="118" name="文本框 117" descr="{&quot;isTemplate&quot;:true,&quot;type&quot;:&quot;text&quot;}"/>
          <p:cNvSpPr txBox="1"/>
          <p:nvPr/>
        </p:nvSpPr>
        <p:spPr>
          <a:xfrm>
            <a:off x="685800" y="3581400"/>
            <a:ext cx="4191000" cy="126873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48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页面实现</a:t>
            </a:r>
            <a:endParaRPr lang="zh-CN" sz="48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矩形 15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52" name="文本框 151" descr="{&quot;isTemplate&quot;:true,&quot;type&quot;:&quot;text&quot;}"/>
          <p:cNvSpPr txBox="1"/>
          <p:nvPr/>
        </p:nvSpPr>
        <p:spPr>
          <a:xfrm>
            <a:off x="685800" y="533400"/>
            <a:ext cx="194310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开发框架与运行</a:t>
            </a:r>
            <a:r>
              <a:rPr lang="zh-CN" sz="25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逻辑</a:t>
            </a:r>
            <a:endParaRPr lang="zh-CN" sz="25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4" name="圆角矩形 153"/>
          <p:cNvSpPr/>
          <p:nvPr>
            <p:custDataLst>
              <p:tags r:id="rId1"/>
            </p:custDataLst>
          </p:nvPr>
        </p:nvSpPr>
        <p:spPr>
          <a:xfrm>
            <a:off x="685800" y="1143000"/>
            <a:ext cx="9332595" cy="1332865"/>
          </a:xfrm>
          <a:prstGeom prst="roundRect">
            <a:avLst>
              <a:gd name="adj" fmla="val 8000"/>
            </a:avLst>
          </a:prstGeom>
          <a:solidFill>
            <a:srgbClr val="F8FAFC"/>
          </a:solidFill>
        </p:spPr>
        <p:txBody>
          <a:bodyPr/>
          <a:p/>
        </p:txBody>
      </p:sp>
      <p:sp>
        <p:nvSpPr>
          <p:cNvPr id="155" name="文本框 154" descr="{&quot;isTemplate&quot;:true,&quot;type&quot;:&quot;text&quot;}"/>
          <p:cNvSpPr txBox="1"/>
          <p:nvPr>
            <p:custDataLst>
              <p:tags r:id="rId2"/>
            </p:custDataLst>
          </p:nvPr>
        </p:nvSpPr>
        <p:spPr>
          <a:xfrm>
            <a:off x="876300" y="1276350"/>
            <a:ext cx="285750" cy="923925"/>
          </a:xfrm>
          <a:prstGeom prst="rect">
            <a:avLst/>
          </a:prstGeom>
        </p:spPr>
        <p:txBody>
          <a:bodyPr wrap="none" lIns="0" tIns="28575" rIns="0" bIns="0"/>
          <a:p>
            <a:pPr>
              <a:lnSpc>
                <a:spcPct val="100000"/>
              </a:lnSpc>
            </a:pPr>
            <a:r>
              <a:rPr lang="en-US" sz="1125" b="1" spc="75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sz="1125" b="1" spc="75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6" name="文本框 155" descr="{&quot;isTemplate&quot;:true,&quot;type&quot;:&quot;text&quot;}"/>
          <p:cNvSpPr txBox="1"/>
          <p:nvPr>
            <p:custDataLst>
              <p:tags r:id="rId3"/>
            </p:custDataLst>
          </p:nvPr>
        </p:nvSpPr>
        <p:spPr>
          <a:xfrm>
            <a:off x="1333500" y="1276350"/>
            <a:ext cx="1457325" cy="200025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zh-CN" altLang="en-US" sz="12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开发框架：</a:t>
            </a:r>
            <a:r>
              <a:rPr lang="en-US" altLang="zh-CN" sz="12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Vue 3 </a:t>
            </a:r>
            <a:endParaRPr lang="en-US" altLang="zh-CN" sz="127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8" name="文本框 157" descr="{&quot;isTemplate&quot;:true,&quot;type&quot;:&quot;text&quot;}"/>
          <p:cNvSpPr txBox="1"/>
          <p:nvPr>
            <p:custDataLst>
              <p:tags r:id="rId4"/>
            </p:custDataLst>
          </p:nvPr>
        </p:nvSpPr>
        <p:spPr>
          <a:xfrm>
            <a:off x="1333500" y="1533525"/>
            <a:ext cx="8492490" cy="953770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>
              <a:lnSpc>
                <a:spcPct val="160000"/>
              </a:lnSpc>
            </a:pPr>
            <a:r>
              <a:rPr lang="zh-CN" altLang="en-US" sz="13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项目前端使用 </a:t>
            </a:r>
            <a:r>
              <a:rPr lang="en-US" altLang="zh-CN" sz="13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Vue3，</a:t>
            </a:r>
            <a:r>
              <a:rPr lang="zh-CN" altLang="en-US" sz="13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全部页面组件采用&lt;</a:t>
            </a:r>
            <a:r>
              <a:rPr lang="en-US" altLang="zh-CN" sz="13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script setup&gt;</a:t>
            </a:r>
            <a:r>
              <a:rPr lang="zh-CN" altLang="en-US" sz="13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语法，通过</a:t>
            </a:r>
            <a:r>
              <a:rPr lang="en-US" altLang="zh-CN" sz="13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ref</a:t>
            </a:r>
            <a:r>
              <a:rPr lang="zh-CN" altLang="en-US" sz="13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维护响应式数据。页面加载时，在</a:t>
            </a:r>
            <a:r>
              <a:rPr lang="en-US" altLang="zh-CN" sz="13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onMounted</a:t>
            </a:r>
            <a:r>
              <a:rPr lang="zh-CN" altLang="en-US" sz="13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生命周期钩子中请求后端数据、校验登录状态。父子组件使用</a:t>
            </a:r>
            <a:r>
              <a:rPr lang="en-US" altLang="zh-CN" sz="13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props</a:t>
            </a:r>
            <a:r>
              <a:rPr lang="zh-CN" altLang="en-US" sz="13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en-US" altLang="zh-CN" sz="13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emits</a:t>
            </a:r>
            <a:r>
              <a:rPr lang="zh-CN" altLang="en-US" sz="13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通信，也可借助路由参数</a:t>
            </a:r>
            <a:endParaRPr lang="zh-CN" altLang="en-US" sz="13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60000"/>
              </a:lnSpc>
            </a:pPr>
            <a:r>
              <a:rPr lang="zh-CN" altLang="en-US" sz="13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传递数据。</a:t>
            </a:r>
            <a:endParaRPr lang="zh-CN" altLang="en-US" sz="13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9" name="圆角矩形 158"/>
          <p:cNvSpPr/>
          <p:nvPr>
            <p:custDataLst>
              <p:tags r:id="rId5"/>
            </p:custDataLst>
          </p:nvPr>
        </p:nvSpPr>
        <p:spPr>
          <a:xfrm>
            <a:off x="685800" y="2466975"/>
            <a:ext cx="9321800" cy="1282065"/>
          </a:xfrm>
          <a:prstGeom prst="roundRect">
            <a:avLst>
              <a:gd name="adj" fmla="val 8065"/>
            </a:avLst>
          </a:prstGeom>
          <a:solidFill>
            <a:srgbClr val="F8FAFC"/>
          </a:solidFill>
        </p:spPr>
        <p:txBody>
          <a:bodyPr/>
          <a:p/>
        </p:txBody>
      </p:sp>
      <p:sp>
        <p:nvSpPr>
          <p:cNvPr id="160" name="文本框 159" descr="{&quot;isTemplate&quot;:true,&quot;type&quot;:&quot;text&quot;}"/>
          <p:cNvSpPr txBox="1"/>
          <p:nvPr>
            <p:custDataLst>
              <p:tags r:id="rId6"/>
            </p:custDataLst>
          </p:nvPr>
        </p:nvSpPr>
        <p:spPr>
          <a:xfrm>
            <a:off x="876300" y="2600325"/>
            <a:ext cx="285750" cy="914400"/>
          </a:xfrm>
          <a:prstGeom prst="rect">
            <a:avLst/>
          </a:prstGeom>
        </p:spPr>
        <p:txBody>
          <a:bodyPr wrap="none" lIns="0" tIns="28575" rIns="0" bIns="0"/>
          <a:p>
            <a:pPr>
              <a:lnSpc>
                <a:spcPct val="100000"/>
              </a:lnSpc>
            </a:pPr>
            <a:r>
              <a:rPr lang="en-US" sz="1125" b="1" spc="75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sz="1125" b="1" spc="75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1" name="文本框 160" descr="{&quot;isTemplate&quot;:true,&quot;type&quot;:&quot;text&quot;}"/>
          <p:cNvSpPr txBox="1"/>
          <p:nvPr>
            <p:custDataLst>
              <p:tags r:id="rId7"/>
            </p:custDataLst>
          </p:nvPr>
        </p:nvSpPr>
        <p:spPr>
          <a:xfrm>
            <a:off x="1333500" y="2600325"/>
            <a:ext cx="1476375" cy="200025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zh-CN" altLang="en-US" sz="12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构建工具：</a:t>
            </a:r>
            <a:r>
              <a:rPr lang="en-US" altLang="zh-CN" sz="12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Vite </a:t>
            </a:r>
            <a:r>
              <a:rPr lang="zh-CN" altLang="en-US" sz="12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构建与开发服务器</a:t>
            </a:r>
            <a:endParaRPr lang="zh-CN" altLang="en-US" sz="127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3" name="文本框 162" descr="{&quot;isTemplate&quot;:true,&quot;type&quot;:&quot;text&quot;}"/>
          <p:cNvSpPr txBox="1"/>
          <p:nvPr>
            <p:custDataLst>
              <p:tags r:id="rId8"/>
            </p:custDataLst>
          </p:nvPr>
        </p:nvSpPr>
        <p:spPr>
          <a:xfrm>
            <a:off x="1333500" y="2857500"/>
            <a:ext cx="8492490" cy="73533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altLang="en-US" sz="13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项目基于 </a:t>
            </a:r>
            <a:r>
              <a:rPr lang="en-US" altLang="zh-CN" sz="13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Vite </a:t>
            </a:r>
            <a:r>
              <a:rPr lang="zh-CN" altLang="en-US" sz="13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搭建开发环境，修改代码</a:t>
            </a:r>
            <a:r>
              <a:rPr lang="zh-CN" altLang="en-US" sz="13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时，页面可以实时刷新，同时</a:t>
            </a:r>
            <a:r>
              <a:rPr lang="zh-CN" altLang="en-US" sz="13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配置</a:t>
            </a:r>
            <a:r>
              <a:rPr lang="en-US" sz="13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proxy </a:t>
            </a:r>
            <a:r>
              <a:rPr lang="zh-CN" sz="13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代理，</a:t>
            </a:r>
            <a:r>
              <a:rPr lang="zh-CN" altLang="en-US" sz="13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解决开发时的跨域问题。</a:t>
            </a:r>
            <a:endParaRPr lang="zh-CN" altLang="en-US" sz="13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4" name="圆角矩形 163"/>
          <p:cNvSpPr/>
          <p:nvPr>
            <p:custDataLst>
              <p:tags r:id="rId9"/>
            </p:custDataLst>
          </p:nvPr>
        </p:nvSpPr>
        <p:spPr>
          <a:xfrm>
            <a:off x="685800" y="3781425"/>
            <a:ext cx="9321800" cy="1228725"/>
          </a:xfrm>
          <a:prstGeom prst="roundRect">
            <a:avLst>
              <a:gd name="adj" fmla="val 8000"/>
            </a:avLst>
          </a:prstGeom>
          <a:solidFill>
            <a:srgbClr val="F8FAFC"/>
          </a:solidFill>
        </p:spPr>
        <p:txBody>
          <a:bodyPr/>
          <a:p/>
        </p:txBody>
      </p:sp>
      <p:sp>
        <p:nvSpPr>
          <p:cNvPr id="165" name="文本框 164" descr="{&quot;isTemplate&quot;:true,&quot;type&quot;:&quot;text&quot;}"/>
          <p:cNvSpPr txBox="1"/>
          <p:nvPr>
            <p:custDataLst>
              <p:tags r:id="rId10"/>
            </p:custDataLst>
          </p:nvPr>
        </p:nvSpPr>
        <p:spPr>
          <a:xfrm>
            <a:off x="876300" y="3914775"/>
            <a:ext cx="285750" cy="923925"/>
          </a:xfrm>
          <a:prstGeom prst="rect">
            <a:avLst/>
          </a:prstGeom>
        </p:spPr>
        <p:txBody>
          <a:bodyPr wrap="none" lIns="0" tIns="28575" rIns="0" bIns="0"/>
          <a:p>
            <a:pPr>
              <a:lnSpc>
                <a:spcPct val="100000"/>
              </a:lnSpc>
            </a:pPr>
            <a:r>
              <a:rPr lang="en-US" sz="1125" b="1" spc="75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sz="1125" b="1" spc="75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6" name="文本框 165" descr="{&quot;isTemplate&quot;:true,&quot;type&quot;:&quot;text&quot;}"/>
          <p:cNvSpPr txBox="1"/>
          <p:nvPr>
            <p:custDataLst>
              <p:tags r:id="rId11"/>
            </p:custDataLst>
          </p:nvPr>
        </p:nvSpPr>
        <p:spPr>
          <a:xfrm>
            <a:off x="1333500" y="3914775"/>
            <a:ext cx="1924050" cy="200025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en-US" altLang="zh-CN" sz="12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Vue Router </a:t>
            </a:r>
            <a:r>
              <a:rPr lang="zh-CN" altLang="en-US" sz="12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路由管理</a:t>
            </a:r>
            <a:endParaRPr lang="zh-CN" altLang="en-US" sz="127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8" name="文本框 167" descr="{&quot;isTemplate&quot;:true,&quot;type&quot;:&quot;text&quot;}"/>
          <p:cNvSpPr txBox="1"/>
          <p:nvPr>
            <p:custDataLst>
              <p:tags r:id="rId12"/>
            </p:custDataLst>
          </p:nvPr>
        </p:nvSpPr>
        <p:spPr>
          <a:xfrm>
            <a:off x="1333500" y="4171950"/>
            <a:ext cx="8493125" cy="600075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>
              <a:lnSpc>
                <a:spcPct val="160000"/>
              </a:lnSpc>
            </a:pPr>
            <a:r>
              <a:rPr lang="zh-CN" altLang="en-US" sz="13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使用 </a:t>
            </a:r>
            <a:r>
              <a:rPr lang="en-US" altLang="zh-CN" sz="13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Vue Router </a:t>
            </a:r>
            <a:r>
              <a:rPr lang="zh-CN" altLang="en-US" sz="13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管理页面跳转，采用 </a:t>
            </a:r>
            <a:r>
              <a:rPr lang="en-US" altLang="zh-CN" sz="13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History </a:t>
            </a:r>
            <a:r>
              <a:rPr lang="zh-CN" altLang="en-US" sz="13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模式，地址栏不带 #。页面组件使用路由懒加载，实现按需加载，提升首页加载速度。</a:t>
            </a:r>
            <a:endParaRPr lang="zh-CN" altLang="en-US" sz="13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9" name="圆角矩形 168"/>
          <p:cNvSpPr/>
          <p:nvPr>
            <p:custDataLst>
              <p:tags r:id="rId13"/>
            </p:custDataLst>
          </p:nvPr>
        </p:nvSpPr>
        <p:spPr>
          <a:xfrm>
            <a:off x="685800" y="5105400"/>
            <a:ext cx="9333230" cy="1170940"/>
          </a:xfrm>
          <a:prstGeom prst="roundRect">
            <a:avLst>
              <a:gd name="adj" fmla="val 8065"/>
            </a:avLst>
          </a:prstGeom>
          <a:solidFill>
            <a:srgbClr val="F8FAFC"/>
          </a:solidFill>
        </p:spPr>
        <p:txBody>
          <a:bodyPr/>
          <a:p/>
        </p:txBody>
      </p:sp>
      <p:sp>
        <p:nvSpPr>
          <p:cNvPr id="170" name="文本框 169" descr="{&quot;isTemplate&quot;:true,&quot;type&quot;:&quot;text&quot;}"/>
          <p:cNvSpPr txBox="1"/>
          <p:nvPr>
            <p:custDataLst>
              <p:tags r:id="rId14"/>
            </p:custDataLst>
          </p:nvPr>
        </p:nvSpPr>
        <p:spPr>
          <a:xfrm>
            <a:off x="876300" y="5238750"/>
            <a:ext cx="285750" cy="914400"/>
          </a:xfrm>
          <a:prstGeom prst="rect">
            <a:avLst/>
          </a:prstGeom>
        </p:spPr>
        <p:txBody>
          <a:bodyPr wrap="none" lIns="0" tIns="28575" rIns="0" bIns="0"/>
          <a:p>
            <a:pPr>
              <a:lnSpc>
                <a:spcPct val="100000"/>
              </a:lnSpc>
            </a:pPr>
            <a:r>
              <a:rPr lang="en-US" sz="1125" b="1" spc="75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sz="1125" b="1" spc="75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1" name="文本框 170" descr="{&quot;isTemplate&quot;:true,&quot;type&quot;:&quot;text&quot;}"/>
          <p:cNvSpPr txBox="1"/>
          <p:nvPr>
            <p:custDataLst>
              <p:tags r:id="rId15"/>
            </p:custDataLst>
          </p:nvPr>
        </p:nvSpPr>
        <p:spPr>
          <a:xfrm>
            <a:off x="1333500" y="5238750"/>
            <a:ext cx="1781175" cy="200025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en-US" altLang="zh-CN" sz="12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Axios </a:t>
            </a:r>
            <a:r>
              <a:rPr lang="zh-CN" altLang="en-US" sz="12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网络请求封装</a:t>
            </a:r>
            <a:endParaRPr lang="zh-CN" altLang="en-US" sz="127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3" name="文本框 172" descr="{&quot;isTemplate&quot;:true,&quot;type&quot;:&quot;text&quot;}"/>
          <p:cNvSpPr txBox="1"/>
          <p:nvPr>
            <p:custDataLst>
              <p:tags r:id="rId16"/>
            </p:custDataLst>
          </p:nvPr>
        </p:nvSpPr>
        <p:spPr>
          <a:xfrm>
            <a:off x="1333500" y="5495925"/>
            <a:ext cx="8492490" cy="72263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altLang="en-US" sz="13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对 </a:t>
            </a:r>
            <a:r>
              <a:rPr lang="en-US" altLang="zh-CN" sz="13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Axios </a:t>
            </a:r>
            <a:r>
              <a:rPr lang="zh-CN" altLang="en-US" sz="13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进行统一封装，设置请求超时时间。通过响应拦截器统一处理后端返回结果，成功则返回数据，失败弹出错误提示，网络异常也统一提示。所有业务接口集中管理，一共封装了 14 个接口函数。</a:t>
            </a:r>
            <a:endParaRPr lang="zh-CN" altLang="en-US" sz="13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矩形 134"/>
          <p:cNvSpPr/>
          <p:nvPr/>
        </p:nvSpPr>
        <p:spPr>
          <a:xfrm>
            <a:off x="-24765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36" name="文本框 135" descr="{&quot;isTemplate&quot;:true,&quot;type&quot;:&quot;text&quot;}"/>
          <p:cNvSpPr txBox="1"/>
          <p:nvPr/>
        </p:nvSpPr>
        <p:spPr>
          <a:xfrm>
            <a:off x="551180" y="260985"/>
            <a:ext cx="4610735" cy="433705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zh-CN" sz="2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公共能力与复用</a:t>
            </a:r>
            <a:r>
              <a:rPr lang="zh-CN" sz="2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组件</a:t>
            </a:r>
            <a:endParaRPr lang="zh-CN" sz="26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95325" y="1196340"/>
            <a:ext cx="9330055" cy="922020"/>
          </a:xfrm>
          <a:prstGeom prst="rect">
            <a:avLst/>
          </a:prstGeom>
          <a:solidFill>
            <a:srgbClr val="F0F4FE"/>
          </a:solidFill>
        </p:spPr>
        <p:txBody>
          <a:bodyPr wrap="square" rtlCol="0">
            <a:spAutoFit/>
          </a:bodyPr>
          <a:p>
            <a:r>
              <a:rPr lang="en-US" altLang="zh-CN" b="1"/>
              <a:t>1. </a:t>
            </a:r>
            <a:r>
              <a:rPr lang="zh-CN" altLang="en-US" b="1"/>
              <a:t>全局导航栏（</a:t>
            </a:r>
            <a:r>
              <a:rPr lang="en-US" altLang="zh-CN" b="1"/>
              <a:t>App.vue）：</a:t>
            </a:r>
            <a:r>
              <a:rPr lang="zh-CN" altLang="en-US" b="1"/>
              <a:t>按登录身份动态切换买家/卖家菜单，登出即清态回入口——一处实现、15 个页面共享</a:t>
            </a:r>
            <a:endParaRPr lang="zh-CN" altLang="en-US" b="1"/>
          </a:p>
          <a:p>
            <a:endParaRPr lang="zh-CN" altLang="en-US" b="1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t="1702"/>
          <a:stretch>
            <a:fillRect/>
          </a:stretch>
        </p:blipFill>
        <p:spPr>
          <a:xfrm>
            <a:off x="479425" y="2132330"/>
            <a:ext cx="7251700" cy="334708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1585" y="5535295"/>
            <a:ext cx="7869555" cy="88011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0280" y="2852420"/>
            <a:ext cx="4547235" cy="92138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矩形 1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36" name="文本框 135" descr="{&quot;isTemplate&quot;:true,&quot;type&quot;:&quot;text&quot;}"/>
          <p:cNvSpPr txBox="1"/>
          <p:nvPr/>
        </p:nvSpPr>
        <p:spPr>
          <a:xfrm>
            <a:off x="551180" y="260985"/>
            <a:ext cx="4610735" cy="433705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zh-CN" sz="2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公共能力与复用组件</a:t>
            </a:r>
            <a:endParaRPr lang="zh-CN" sz="26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8340" y="1124585"/>
            <a:ext cx="9598660" cy="4523105"/>
          </a:xfrm>
          <a:prstGeom prst="rect">
            <a:avLst/>
          </a:prstGeom>
          <a:solidFill>
            <a:srgbClr val="F0F4FE"/>
          </a:solidFill>
        </p:spPr>
        <p:txBody>
          <a:bodyPr wrap="square" rtlCol="0">
            <a:spAutoFit/>
          </a:bodyPr>
          <a:p>
            <a:r>
              <a:rPr lang="en-US" altLang="zh-CN" b="1"/>
              <a:t>2.  </a:t>
            </a:r>
            <a:r>
              <a:rPr lang="zh-CN" altLang="en-US" b="1"/>
              <a:t>统一请求层（</a:t>
            </a:r>
            <a:r>
              <a:rPr lang="en-US" altLang="zh-CN" b="1"/>
              <a:t>request.js）：</a:t>
            </a:r>
            <a:endParaRPr lang="en-US" altLang="zh-CN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/>
              <a:t>请求拦截器：按 </a:t>
            </a:r>
            <a:r>
              <a:rPr lang="en-US" altLang="zh-CN" b="1"/>
              <a:t>URL </a:t>
            </a:r>
            <a:r>
              <a:rPr lang="zh-CN" altLang="en-US" b="1"/>
              <a:t>前缀 /</a:t>
            </a:r>
            <a:r>
              <a:rPr lang="en-US" altLang="zh-CN" b="1"/>
              <a:t>buyer/、/seller/ </a:t>
            </a:r>
            <a:r>
              <a:rPr lang="zh-CN" altLang="en-US" b="1"/>
              <a:t>自动注入对应 </a:t>
            </a:r>
            <a:r>
              <a:rPr lang="en-US" altLang="zh-CN" b="1"/>
              <a:t>Bearer token（</a:t>
            </a:r>
            <a:r>
              <a:rPr lang="zh-CN" altLang="en-US" b="1"/>
              <a:t>双身份互不干扰）</a:t>
            </a:r>
            <a:endParaRPr lang="zh-CN" altLang="en-US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/>
              <a:t>响应拦截器：401 统一"登录失效"提示 + 清对应身份 + 跳回入口；业务错误统一 </a:t>
            </a:r>
            <a:r>
              <a:rPr lang="en-US" altLang="zh-CN" b="1"/>
              <a:t>ElMessage </a:t>
            </a:r>
            <a:r>
              <a:rPr lang="zh-CN" altLang="en-US" b="1"/>
              <a:t>弹出</a:t>
            </a:r>
            <a:endParaRPr lang="zh-CN" altLang="en-US" b="1"/>
          </a:p>
          <a:p>
            <a:endParaRPr lang="zh-CN" altLang="en-US" b="1"/>
          </a:p>
          <a:p>
            <a:r>
              <a:rPr lang="en-US" altLang="zh-CN" b="1"/>
              <a:t>3. Element Plus </a:t>
            </a:r>
            <a:r>
              <a:rPr lang="zh-CN" altLang="en-US" b="1"/>
              <a:t>组件复用</a:t>
            </a:r>
            <a:r>
              <a:rPr lang="zh-CN" altLang="en-US" b="1"/>
              <a:t>模式：</a:t>
            </a:r>
            <a:endParaRPr lang="zh-CN" altLang="en-US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/>
              <a:t>列表页三件套：</a:t>
            </a:r>
            <a:r>
              <a:rPr lang="en-US" altLang="zh-CN" b="1"/>
              <a:t>el-table </a:t>
            </a:r>
            <a:r>
              <a:rPr lang="zh-CN" altLang="en-US" b="1"/>
              <a:t>（表格</a:t>
            </a:r>
            <a:r>
              <a:rPr lang="zh-CN" altLang="en-US" b="1"/>
              <a:t>组件）</a:t>
            </a:r>
            <a:r>
              <a:rPr lang="en-US" altLang="zh-CN" b="1"/>
              <a:t>+ el-tag</a:t>
            </a:r>
            <a:r>
              <a:rPr lang="zh-CN" altLang="en-US" b="1"/>
              <a:t>（标签</a:t>
            </a:r>
            <a:r>
              <a:rPr lang="zh-CN" altLang="en-US" b="1"/>
              <a:t>组件，自带颜色）+ </a:t>
            </a:r>
            <a:r>
              <a:rPr lang="en-US" altLang="zh-CN" b="1"/>
              <a:t>el-pagination</a:t>
            </a:r>
            <a:r>
              <a:rPr lang="zh-CN" altLang="en-US" b="1"/>
              <a:t>（分页</a:t>
            </a:r>
            <a:r>
              <a:rPr lang="zh-CN" altLang="en-US" b="1"/>
              <a:t>组件）</a:t>
            </a:r>
            <a:endParaRPr lang="en-US" altLang="zh-CN" b="1"/>
          </a:p>
          <a:p>
            <a:pPr indent="457200"/>
            <a:r>
              <a:rPr lang="zh-CN" altLang="en-US" b="1"/>
              <a:t>商品列表/历史意向/客户列表等 7 个页面复用同一模式</a:t>
            </a:r>
            <a:endParaRPr lang="zh-CN" altLang="en-US" b="1"/>
          </a:p>
          <a:p>
            <a:pPr indent="457200"/>
            <a:endParaRPr lang="zh-CN" altLang="en-US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/>
              <a:t>表单类：</a:t>
            </a:r>
            <a:r>
              <a:rPr lang="en-US" altLang="zh-CN" b="1"/>
              <a:t>el-form </a:t>
            </a:r>
            <a:r>
              <a:rPr lang="zh-CN" altLang="en-US" b="1"/>
              <a:t>系列 —— 登录/注册/发布商品/修改密码复用</a:t>
            </a:r>
            <a:endParaRPr lang="zh-CN" altLang="en-US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/>
              <a:t>弹窗子表：</a:t>
            </a:r>
            <a:r>
              <a:rPr lang="en-US" altLang="zh-CN" b="1"/>
              <a:t>el-dialog </a:t>
            </a:r>
            <a:r>
              <a:rPr lang="zh-CN" altLang="en-US" b="1"/>
              <a:t>内嵌表格 —— 修改库存（卖家商品列表）、客户购买历史（客户列表）、分类新增/重命名（分类管理）</a:t>
            </a:r>
            <a:endParaRPr lang="zh-CN" altLang="en-US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/>
              <a:t>图片相关：</a:t>
            </a:r>
            <a:r>
              <a:rPr lang="en-US" altLang="zh-CN" b="1"/>
              <a:t>el-upload（</a:t>
            </a:r>
            <a:r>
              <a:rPr lang="zh-CN" altLang="en-US" b="1"/>
              <a:t>自定义 </a:t>
            </a:r>
            <a:r>
              <a:rPr lang="en-US" altLang="zh-CN" b="1"/>
              <a:t>http-request </a:t>
            </a:r>
            <a:r>
              <a:rPr lang="zh-CN" altLang="en-US" b="1"/>
              <a:t>上传图片）+ </a:t>
            </a:r>
            <a:r>
              <a:rPr lang="en-US" altLang="zh-CN" b="1"/>
              <a:t>el-image（</a:t>
            </a:r>
            <a:r>
              <a:rPr lang="zh-CN" altLang="en-US" b="1"/>
              <a:t>大图预览）</a:t>
            </a:r>
            <a:endParaRPr lang="zh-CN" altLang="en-US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/>
              <a:t>表格：表格操作列使用 作用域插槽（#</a:t>
            </a:r>
            <a:r>
              <a:rPr lang="en-US" altLang="zh-CN" b="1"/>
              <a:t>default="{row}"）</a:t>
            </a:r>
            <a:r>
              <a:rPr lang="zh-CN" altLang="en-US" b="1"/>
              <a:t>实现行级操作</a:t>
            </a:r>
            <a:r>
              <a:rPr lang="zh-CN" altLang="en-US" b="1">
                <a:sym typeface="+mn-ea"/>
              </a:rPr>
              <a:t>——卖家商品列表、</a:t>
            </a:r>
            <a:endParaRPr lang="zh-CN" altLang="en-US" b="1">
              <a:sym typeface="+mn-ea"/>
            </a:endParaRPr>
          </a:p>
          <a:p>
            <a:pPr indent="457200">
              <a:buFont typeface="Arial" panose="020B0604020202020204" pitchFamily="34" charset="0"/>
              <a:buNone/>
            </a:pPr>
            <a:r>
              <a:rPr lang="zh-CN" altLang="en-US" b="1"/>
              <a:t>商品意向</a:t>
            </a:r>
            <a:r>
              <a:rPr lang="zh-CN" altLang="en-US" b="1"/>
              <a:t>队列</a:t>
            </a:r>
            <a:endParaRPr lang="zh-CN" altLang="en-US" b="1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07893" y="1304365"/>
            <a:ext cx="1155326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Seller</a:t>
            </a:r>
            <a:r>
              <a:rPr lang="zh-CN" altLang="en-US" sz="2800" b="1" dirty="0"/>
              <a:t>用户新需求变化</a:t>
            </a:r>
            <a:r>
              <a:rPr lang="zh-CN" altLang="zh-CN" sz="2800" b="1" dirty="0"/>
              <a:t>内容</a:t>
            </a:r>
            <a:r>
              <a:rPr lang="zh-CN" altLang="zh-CN" sz="2800" dirty="0"/>
              <a:t>：</a:t>
            </a:r>
            <a:endParaRPr lang="zh-CN" altLang="zh-CN" sz="2800" dirty="0"/>
          </a:p>
          <a:p>
            <a:pPr lvl="0"/>
            <a:r>
              <a:rPr lang="zh-CN" altLang="zh-CN" sz="2800" b="1" dirty="0"/>
              <a:t>商品模式</a:t>
            </a:r>
            <a:r>
              <a:rPr lang="zh-CN" altLang="zh-CN" sz="2800" dirty="0"/>
              <a:t>：基线全局</a:t>
            </a:r>
            <a:r>
              <a:rPr lang="zh-CN" altLang="zh-CN" sz="2800" dirty="0">
                <a:solidFill>
                  <a:srgbClr val="FF0000"/>
                </a:solidFill>
              </a:rPr>
              <a:t>仅 1 件在售 </a:t>
            </a:r>
            <a:r>
              <a:rPr lang="zh-CN" altLang="zh-CN" sz="2800" dirty="0"/>
              <a:t>→ 升级后支持</a:t>
            </a:r>
            <a:r>
              <a:rPr lang="zh-CN" altLang="zh-CN" sz="2800" dirty="0">
                <a:solidFill>
                  <a:srgbClr val="FF0000"/>
                </a:solidFill>
              </a:rPr>
              <a:t>多商品</a:t>
            </a:r>
            <a:r>
              <a:rPr lang="zh-CN" altLang="zh-CN" sz="2800" dirty="0"/>
              <a:t>并行，每个商品独立队列 / 冻结</a:t>
            </a:r>
            <a:endParaRPr lang="zh-CN" altLang="zh-CN" sz="2800" dirty="0"/>
          </a:p>
          <a:p>
            <a:pPr lvl="0"/>
            <a:r>
              <a:rPr lang="zh-CN" altLang="zh-CN" sz="2800" b="1" dirty="0"/>
              <a:t>新增能力</a:t>
            </a:r>
            <a:r>
              <a:rPr lang="zh-CN" altLang="zh-CN" sz="2800" dirty="0"/>
              <a:t>：</a:t>
            </a:r>
            <a:r>
              <a:rPr lang="zh-CN" altLang="zh-CN" sz="2800" dirty="0">
                <a:solidFill>
                  <a:srgbClr val="FF0000"/>
                </a:solidFill>
              </a:rPr>
              <a:t>二级分类管理</a:t>
            </a:r>
            <a:r>
              <a:rPr lang="zh-CN" altLang="zh-CN" sz="2800" dirty="0"/>
              <a:t>、</a:t>
            </a:r>
            <a:r>
              <a:rPr lang="zh-CN" altLang="zh-CN" sz="2800" dirty="0">
                <a:solidFill>
                  <a:srgbClr val="FF0000"/>
                </a:solidFill>
              </a:rPr>
              <a:t>商品库存管理</a:t>
            </a:r>
            <a:r>
              <a:rPr lang="zh-CN" altLang="zh-CN" sz="2800" dirty="0"/>
              <a:t>、</a:t>
            </a:r>
            <a:r>
              <a:rPr lang="zh-CN" altLang="zh-CN" sz="2800" dirty="0">
                <a:solidFill>
                  <a:srgbClr val="FF0000"/>
                </a:solidFill>
              </a:rPr>
              <a:t>多图 + 富文本描述</a:t>
            </a:r>
            <a:r>
              <a:rPr lang="zh-CN" altLang="zh-CN" sz="2800" dirty="0"/>
              <a:t>、手动上架、客户视图</a:t>
            </a:r>
            <a:endParaRPr lang="zh-CN" altLang="zh-CN" sz="2800" dirty="0"/>
          </a:p>
          <a:p>
            <a:pPr lvl="0"/>
            <a:r>
              <a:rPr lang="zh-CN" altLang="zh-CN" sz="2800" b="1" dirty="0"/>
              <a:t>规则重构</a:t>
            </a:r>
            <a:r>
              <a:rPr lang="zh-CN" altLang="zh-CN" sz="2800" dirty="0"/>
              <a:t>：取消意向成交后自动递补（改为卖家手动确认）、废除口令码匿名意向（新意向绑定买家账号）</a:t>
            </a:r>
            <a:endParaRPr lang="zh-CN" altLang="zh-CN" sz="2800" dirty="0"/>
          </a:p>
        </p:txBody>
      </p:sp>
      <p:sp>
        <p:nvSpPr>
          <p:cNvPr id="5" name="文本框 4"/>
          <p:cNvSpPr txBox="1"/>
          <p:nvPr/>
        </p:nvSpPr>
        <p:spPr>
          <a:xfrm>
            <a:off x="558053" y="403412"/>
            <a:ext cx="2790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Seller</a:t>
            </a:r>
            <a:r>
              <a:rPr lang="zh-CN" altLang="en-US" dirty="0"/>
              <a:t>后端</a:t>
            </a:r>
            <a:r>
              <a:rPr lang="en-US" altLang="zh-CN" dirty="0"/>
              <a:t>+</a:t>
            </a:r>
            <a:r>
              <a:rPr lang="zh-CN" altLang="en-US" dirty="0"/>
              <a:t>数据库</a:t>
            </a:r>
            <a:endParaRPr lang="zh-CN" alt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16858" y="1166406"/>
            <a:ext cx="8001000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后端结构：</a:t>
            </a:r>
            <a:endParaRPr lang="en-US" altLang="zh-CN" sz="2400" dirty="0"/>
          </a:p>
          <a:p>
            <a:pPr lvl="0"/>
            <a:r>
              <a:rPr lang="zh-CN" altLang="zh-CN" sz="2400" b="1" dirty="0"/>
              <a:t>Controller 层</a:t>
            </a:r>
            <a:r>
              <a:rPr lang="zh-CN" altLang="zh-CN" sz="2400" dirty="0"/>
              <a:t>：SellerController，统一接口前缀 /api/seller，共 22 个接口</a:t>
            </a:r>
            <a:endParaRPr lang="zh-CN" altLang="zh-CN" sz="2400" dirty="0"/>
          </a:p>
          <a:p>
            <a:pPr lvl="0"/>
            <a:r>
              <a:rPr lang="zh-CN" altLang="zh-CN" sz="2400" b="1" dirty="0"/>
              <a:t>Service 层</a:t>
            </a:r>
            <a:r>
              <a:rPr lang="zh-CN" altLang="zh-CN" sz="2400" dirty="0"/>
              <a:t>：SellerService / ProductService / IntentService / CategoryService / BuyerAccountService，核心业务逻辑</a:t>
            </a:r>
            <a:endParaRPr lang="zh-CN" altLang="zh-CN" sz="2400" dirty="0"/>
          </a:p>
          <a:p>
            <a:pPr lvl="0"/>
            <a:r>
              <a:rPr lang="zh-CN" altLang="zh-CN" sz="2400" b="1" dirty="0"/>
              <a:t>Mapper 层</a:t>
            </a:r>
            <a:r>
              <a:rPr lang="zh-CN" altLang="zh-CN" sz="2400" dirty="0"/>
              <a:t>：对应 5 个 Mapper，数据库 CRUD</a:t>
            </a:r>
            <a:endParaRPr lang="zh-CN" altLang="zh-CN" sz="2400" dirty="0"/>
          </a:p>
          <a:p>
            <a:pPr lvl="0"/>
            <a:r>
              <a:rPr lang="zh-CN" altLang="zh-CN" sz="2400" b="1" dirty="0"/>
              <a:t>Entity 层</a:t>
            </a:r>
            <a:r>
              <a:rPr lang="zh-CN" altLang="zh-CN" sz="2400" dirty="0"/>
              <a:t>：</a:t>
            </a:r>
            <a:r>
              <a:rPr lang="zh-CN" altLang="en-US" sz="2400" dirty="0"/>
              <a:t>新增了</a:t>
            </a:r>
            <a:r>
              <a:rPr lang="zh-CN" altLang="zh-CN" sz="2400" dirty="0"/>
              <a:t>Product / Intent / Category/ BuyerAccount</a:t>
            </a:r>
            <a:endParaRPr lang="zh-CN" altLang="zh-CN" sz="2400" dirty="0"/>
          </a:p>
          <a:p>
            <a:pPr lvl="0"/>
            <a:r>
              <a:rPr lang="zh-CN" altLang="zh-CN" sz="2400" b="1" dirty="0"/>
              <a:t>通用组件</a:t>
            </a:r>
            <a:r>
              <a:rPr lang="zh-CN" altLang="zh-CN" sz="2400" dirty="0"/>
              <a:t>：统一返回 R&lt;T&gt;、全局异常 BusinessException、卖家鉴权拦截器 SellerAuthInterceptor</a:t>
            </a:r>
            <a:endParaRPr lang="zh-CN" altLang="zh-CN" sz="2400" dirty="0"/>
          </a:p>
          <a:p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5435" y="570085"/>
            <a:ext cx="3400995" cy="4383751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775012" y="0"/>
          <a:ext cx="9823076" cy="689796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55769"/>
                <a:gridCol w="2455769"/>
                <a:gridCol w="2532212"/>
                <a:gridCol w="2379326"/>
              </a:tblGrid>
              <a:tr h="24256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buNone/>
                      </a:pPr>
                      <a:r>
                        <a:rPr lang="zh-CN" sz="1050">
                          <a:effectLst/>
                        </a:rPr>
                        <a:t>请求方式</a:t>
                      </a:r>
                      <a:endParaRPr lang="zh-CN" sz="1050" b="1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buNone/>
                      </a:pPr>
                      <a:r>
                        <a:rPr lang="zh-CN" sz="1050" dirty="0">
                          <a:effectLst/>
                        </a:rPr>
                        <a:t>接口路径</a:t>
                      </a:r>
                      <a:endParaRPr lang="zh-CN" sz="1050" b="1" dirty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buNone/>
                      </a:pPr>
                      <a:r>
                        <a:rPr lang="zh-CN" sz="1050">
                          <a:effectLst/>
                        </a:rPr>
                        <a:t>功能说明</a:t>
                      </a:r>
                      <a:endParaRPr lang="zh-CN" sz="1050" b="1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buNone/>
                      </a:pPr>
                      <a:r>
                        <a:rPr lang="zh-CN" sz="1050">
                          <a:effectLst/>
                        </a:rPr>
                        <a:t>类型（基线 / 新增 / 改造）</a:t>
                      </a:r>
                      <a:endParaRPr lang="zh-CN" sz="1050" b="1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</a:tr>
              <a:tr h="242563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 dirty="0">
                          <a:effectLst/>
                        </a:rPr>
                        <a:t>POST</a:t>
                      </a:r>
                      <a:endParaRPr lang="zh-CN" sz="1050" b="0" dirty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>
                          <a:effectLst/>
                        </a:rPr>
                        <a:t>/login</a:t>
                      </a:r>
                      <a:endParaRPr lang="zh-CN" sz="105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>
                          <a:effectLst/>
                        </a:rPr>
                        <a:t>卖家登录，返回鉴权 token</a:t>
                      </a:r>
                      <a:endParaRPr lang="zh-CN" sz="105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 dirty="0">
                          <a:effectLst/>
                        </a:rPr>
                        <a:t>基线原有</a:t>
                      </a:r>
                      <a:endParaRPr lang="zh-CN" sz="1050" b="0" dirty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</a:tr>
              <a:tr h="242563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>
                          <a:effectLst/>
                        </a:rPr>
                        <a:t>POST</a:t>
                      </a:r>
                      <a:endParaRPr lang="zh-CN" sz="105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>
                          <a:effectLst/>
                        </a:rPr>
                        <a:t>/password/modify</a:t>
                      </a:r>
                      <a:endParaRPr lang="zh-CN" sz="105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>
                          <a:effectLst/>
                        </a:rPr>
                        <a:t>修改卖家密码</a:t>
                      </a:r>
                      <a:endParaRPr lang="zh-CN" sz="105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>
                          <a:effectLst/>
                        </a:rPr>
                        <a:t>基线原有</a:t>
                      </a:r>
                      <a:endParaRPr lang="zh-CN" sz="105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</a:tr>
              <a:tr h="42528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 dirty="0">
                          <a:effectLst/>
                        </a:rPr>
                        <a:t>POST</a:t>
                      </a:r>
                      <a:endParaRPr lang="zh-CN" sz="1050" b="0" dirty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>
                          <a:effectLst/>
                        </a:rPr>
                        <a:t>/product/image/upload</a:t>
                      </a:r>
                      <a:endParaRPr lang="zh-CN" sz="105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>
                          <a:effectLst/>
                        </a:rPr>
                        <a:t>商品图片上传；校验格式 JPG/PNG、单张最大 5MB</a:t>
                      </a:r>
                      <a:endParaRPr lang="zh-CN" sz="105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 dirty="0">
                          <a:solidFill>
                            <a:srgbClr val="FF0000"/>
                          </a:solidFill>
                          <a:effectLst/>
                        </a:rPr>
                        <a:t>A 包新增</a:t>
                      </a:r>
                      <a:endParaRPr lang="zh-CN" sz="1050" b="0" dirty="0">
                        <a:solidFill>
                          <a:srgbClr val="FF0000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</a:tr>
              <a:tr h="42528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>
                          <a:effectLst/>
                        </a:rPr>
                        <a:t>POST</a:t>
                      </a:r>
                      <a:endParaRPr lang="zh-CN" sz="105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>
                          <a:effectLst/>
                        </a:rPr>
                        <a:t>/product/publish</a:t>
                      </a:r>
                      <a:endParaRPr lang="zh-CN" sz="105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>
                          <a:effectLst/>
                        </a:rPr>
                        <a:t>发布商品，DTO 增加库存、二级分类、多图富媒体字段</a:t>
                      </a:r>
                      <a:endParaRPr lang="zh-CN" sz="105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 dirty="0">
                          <a:effectLst/>
                        </a:rPr>
                        <a:t>业务改造</a:t>
                      </a:r>
                      <a:endParaRPr lang="zh-CN" sz="1050" b="0" dirty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</a:tr>
              <a:tr h="42528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>
                          <a:effectLst/>
                        </a:rPr>
                        <a:t>GET</a:t>
                      </a:r>
                      <a:endParaRPr lang="zh-CN" sz="105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>
                          <a:effectLst/>
                        </a:rPr>
                        <a:t>/product/list</a:t>
                      </a:r>
                      <a:endParaRPr lang="zh-CN" sz="105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>
                          <a:effectLst/>
                        </a:rPr>
                        <a:t>分页查询当前卖家自己的商品，支持按状态过滤</a:t>
                      </a:r>
                      <a:endParaRPr lang="zh-CN" sz="105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 dirty="0">
                          <a:solidFill>
                            <a:srgbClr val="FF0000"/>
                          </a:solidFill>
                          <a:effectLst/>
                        </a:rPr>
                        <a:t>A 包新增</a:t>
                      </a:r>
                      <a:endParaRPr lang="zh-CN" sz="1050" b="0" dirty="0">
                        <a:solidFill>
                          <a:srgbClr val="FF0000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</a:tr>
              <a:tr h="242563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>
                          <a:effectLst/>
                        </a:rPr>
                        <a:t>GET</a:t>
                      </a:r>
                      <a:endParaRPr lang="zh-CN" sz="105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>
                          <a:effectLst/>
                        </a:rPr>
                        <a:t>/product/{id}</a:t>
                      </a:r>
                      <a:endParaRPr lang="zh-CN" sz="105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>
                          <a:effectLst/>
                        </a:rPr>
                        <a:t>获取单个商品详情</a:t>
                      </a:r>
                      <a:endParaRPr lang="zh-CN" sz="105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 dirty="0">
                          <a:solidFill>
                            <a:srgbClr val="FF0000"/>
                          </a:solidFill>
                          <a:effectLst/>
                        </a:rPr>
                        <a:t>业务改造</a:t>
                      </a:r>
                      <a:endParaRPr lang="zh-CN" sz="1050" b="0" dirty="0">
                        <a:solidFill>
                          <a:srgbClr val="FF0000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</a:tr>
              <a:tr h="242563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>
                          <a:effectLst/>
                        </a:rPr>
                        <a:t>GET</a:t>
                      </a:r>
                      <a:endParaRPr lang="zh-CN" sz="105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>
                          <a:effectLst/>
                        </a:rPr>
                        <a:t>/product/history</a:t>
                      </a:r>
                      <a:endParaRPr lang="zh-CN" sz="105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>
                          <a:effectLst/>
                        </a:rPr>
                        <a:t>查询卖家已下架历史商品列表</a:t>
                      </a:r>
                      <a:endParaRPr lang="zh-CN" sz="105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>
                          <a:effectLst/>
                        </a:rPr>
                        <a:t>基线原有</a:t>
                      </a:r>
                      <a:endParaRPr lang="zh-CN" sz="105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</a:tr>
              <a:tr h="242563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>
                          <a:effectLst/>
                        </a:rPr>
                        <a:t>POST</a:t>
                      </a:r>
                      <a:endParaRPr lang="zh-CN" sz="105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>
                          <a:effectLst/>
                        </a:rPr>
                        <a:t>/product/stock/{id}</a:t>
                      </a:r>
                      <a:endParaRPr lang="zh-CN" sz="105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>
                          <a:effectLst/>
                        </a:rPr>
                        <a:t>修改商品库存，校验库存不能负数</a:t>
                      </a:r>
                      <a:endParaRPr lang="zh-CN" sz="105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 dirty="0">
                          <a:solidFill>
                            <a:srgbClr val="FF0000"/>
                          </a:solidFill>
                          <a:effectLst/>
                        </a:rPr>
                        <a:t>A 包新增</a:t>
                      </a:r>
                      <a:endParaRPr lang="zh-CN" sz="1050" b="0" dirty="0">
                        <a:solidFill>
                          <a:srgbClr val="FF0000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</a:tr>
              <a:tr h="242563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>
                          <a:effectLst/>
                        </a:rPr>
                        <a:t>POST</a:t>
                      </a:r>
                      <a:endParaRPr lang="zh-CN" sz="105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>
                          <a:effectLst/>
                        </a:rPr>
                        <a:t>/product/recategory/{id}</a:t>
                      </a:r>
                      <a:endParaRPr lang="zh-CN" sz="105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>
                          <a:effectLst/>
                        </a:rPr>
                        <a:t>修改商品所属二级分类</a:t>
                      </a:r>
                      <a:endParaRPr lang="zh-CN" sz="105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 dirty="0">
                          <a:solidFill>
                            <a:srgbClr val="FF0000"/>
                          </a:solidFill>
                          <a:effectLst/>
                        </a:rPr>
                        <a:t>A 包新增</a:t>
                      </a:r>
                      <a:endParaRPr lang="zh-CN" sz="1050" b="0" dirty="0">
                        <a:solidFill>
                          <a:srgbClr val="FF0000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</a:tr>
              <a:tr h="242563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>
                          <a:effectLst/>
                        </a:rPr>
                        <a:t>POST</a:t>
                      </a:r>
                      <a:endParaRPr lang="zh-CN" sz="105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>
                          <a:effectLst/>
                        </a:rPr>
                        <a:t>/product/freeze/{id}</a:t>
                      </a:r>
                      <a:endParaRPr lang="zh-CN" sz="105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>
                          <a:effectLst/>
                        </a:rPr>
                        <a:t>手动冻结商品</a:t>
                      </a:r>
                      <a:endParaRPr lang="zh-CN" sz="105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 dirty="0">
                          <a:effectLst/>
                        </a:rPr>
                        <a:t>基线原有</a:t>
                      </a:r>
                      <a:endParaRPr lang="zh-CN" sz="1050" b="0" dirty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</a:tr>
              <a:tr h="242563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>
                          <a:effectLst/>
                        </a:rPr>
                        <a:t>POST</a:t>
                      </a:r>
                      <a:endParaRPr lang="zh-CN" sz="105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>
                          <a:effectLst/>
                        </a:rPr>
                        <a:t>/product/unfreeze/{id}</a:t>
                      </a:r>
                      <a:endParaRPr lang="zh-CN" sz="105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 dirty="0">
                          <a:effectLst/>
                        </a:rPr>
                        <a:t>手动解冻商品</a:t>
                      </a:r>
                      <a:endParaRPr lang="zh-CN" sz="1050" b="0" dirty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 dirty="0">
                          <a:effectLst/>
                        </a:rPr>
                        <a:t>基线原有</a:t>
                      </a:r>
                      <a:endParaRPr lang="zh-CN" sz="1050" b="0" dirty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</a:tr>
              <a:tr h="242563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>
                          <a:effectLst/>
                        </a:rPr>
                        <a:t>POST</a:t>
                      </a:r>
                      <a:endParaRPr lang="zh-CN" sz="105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>
                          <a:effectLst/>
                        </a:rPr>
                        <a:t>/product/off/{id}</a:t>
                      </a:r>
                      <a:endParaRPr lang="zh-CN" sz="105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 dirty="0">
                          <a:effectLst/>
                        </a:rPr>
                        <a:t>商品手动下架</a:t>
                      </a:r>
                      <a:endParaRPr lang="zh-CN" sz="1050" b="0" dirty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>
                          <a:effectLst/>
                        </a:rPr>
                        <a:t>基线原有</a:t>
                      </a:r>
                      <a:endParaRPr lang="zh-CN" sz="105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</a:tr>
              <a:tr h="242563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>
                          <a:effectLst/>
                        </a:rPr>
                        <a:t>POST</a:t>
                      </a:r>
                      <a:endParaRPr lang="zh-CN" sz="105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>
                          <a:effectLst/>
                        </a:rPr>
                        <a:t>/product/on/{id}</a:t>
                      </a:r>
                      <a:endParaRPr lang="zh-CN" sz="105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 dirty="0">
                          <a:effectLst/>
                        </a:rPr>
                        <a:t>商品手动上架（库存 &gt; 0 才可上架）</a:t>
                      </a:r>
                      <a:endParaRPr lang="zh-CN" sz="1050" b="0" dirty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 dirty="0">
                          <a:solidFill>
                            <a:srgbClr val="FF0000"/>
                          </a:solidFill>
                          <a:effectLst/>
                        </a:rPr>
                        <a:t>A 包新增</a:t>
                      </a:r>
                      <a:endParaRPr lang="zh-CN" sz="1050" b="0" dirty="0">
                        <a:solidFill>
                          <a:srgbClr val="FF0000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</a:tr>
              <a:tr h="242563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>
                          <a:effectLst/>
                        </a:rPr>
                        <a:t>GET</a:t>
                      </a:r>
                      <a:endParaRPr lang="zh-CN" sz="105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>
                          <a:effectLst/>
                        </a:rPr>
                        <a:t>/intent/list/{productId}</a:t>
                      </a:r>
                      <a:endParaRPr lang="zh-CN" sz="105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>
                          <a:effectLst/>
                        </a:rPr>
                        <a:t>查询某商品意向排队队列</a:t>
                      </a:r>
                      <a:endParaRPr lang="zh-CN" sz="105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 dirty="0">
                          <a:solidFill>
                            <a:srgbClr val="FF0000"/>
                          </a:solidFill>
                          <a:effectLst/>
                        </a:rPr>
                        <a:t>业务改造</a:t>
                      </a:r>
                      <a:endParaRPr lang="zh-CN" sz="1050" b="0" dirty="0">
                        <a:solidFill>
                          <a:srgbClr val="FF0000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</a:tr>
              <a:tr h="42528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>
                          <a:effectLst/>
                        </a:rPr>
                        <a:t>POST</a:t>
                      </a:r>
                      <a:endParaRPr lang="zh-CN" sz="105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>
                          <a:effectLst/>
                        </a:rPr>
                        <a:t>/trade/mark</a:t>
                      </a:r>
                      <a:endParaRPr lang="zh-CN" sz="105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>
                          <a:effectLst/>
                        </a:rPr>
                        <a:t>标记交易成功 / 失败；去掉内部自动递补逻辑，只做意向状态变更</a:t>
                      </a:r>
                      <a:endParaRPr lang="zh-CN" sz="105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 dirty="0">
                          <a:solidFill>
                            <a:srgbClr val="FF0000"/>
                          </a:solidFill>
                          <a:effectLst/>
                        </a:rPr>
                        <a:t>业务改造</a:t>
                      </a:r>
                      <a:endParaRPr lang="zh-CN" sz="1050" b="0" dirty="0">
                        <a:solidFill>
                          <a:srgbClr val="FF0000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</a:tr>
              <a:tr h="242563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>
                          <a:effectLst/>
                        </a:rPr>
                        <a:t>GET</a:t>
                      </a:r>
                      <a:endParaRPr lang="zh-CN" sz="105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>
                          <a:effectLst/>
                        </a:rPr>
                        <a:t>/intent/anonymous/list</a:t>
                      </a:r>
                      <a:endParaRPr lang="zh-CN" sz="105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>
                          <a:effectLst/>
                        </a:rPr>
                        <a:t>分页查询基线遗留归档只读匿名意向</a:t>
                      </a:r>
                      <a:endParaRPr lang="zh-CN" sz="105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 dirty="0">
                          <a:solidFill>
                            <a:srgbClr val="FF0000"/>
                          </a:solidFill>
                          <a:effectLst/>
                        </a:rPr>
                        <a:t>A 包新增</a:t>
                      </a:r>
                      <a:endParaRPr lang="zh-CN" sz="1050" b="0" dirty="0">
                        <a:solidFill>
                          <a:srgbClr val="FF0000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</a:tr>
              <a:tr h="242563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>
                          <a:effectLst/>
                        </a:rPr>
                        <a:t>GET</a:t>
                      </a:r>
                      <a:endParaRPr lang="zh-CN" sz="105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>
                          <a:effectLst/>
                        </a:rPr>
                        <a:t>/category/tree</a:t>
                      </a:r>
                      <a:endParaRPr lang="zh-CN" sz="105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>
                          <a:effectLst/>
                        </a:rPr>
                        <a:t>获取带商品数量的二级分类树形数据</a:t>
                      </a:r>
                      <a:endParaRPr lang="zh-CN" sz="105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 dirty="0">
                          <a:solidFill>
                            <a:srgbClr val="FF0000"/>
                          </a:solidFill>
                          <a:effectLst/>
                        </a:rPr>
                        <a:t>A 包新增</a:t>
                      </a:r>
                      <a:endParaRPr lang="zh-CN" sz="1050" b="0" dirty="0">
                        <a:solidFill>
                          <a:srgbClr val="FF0000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</a:tr>
              <a:tr h="242563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>
                          <a:effectLst/>
                        </a:rPr>
                        <a:t>POST</a:t>
                      </a:r>
                      <a:endParaRPr lang="zh-CN" sz="105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>
                          <a:effectLst/>
                        </a:rPr>
                        <a:t>/category</a:t>
                      </a:r>
                      <a:endParaRPr lang="zh-CN" sz="105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>
                          <a:effectLst/>
                        </a:rPr>
                        <a:t>新增商品二级分类</a:t>
                      </a:r>
                      <a:endParaRPr lang="zh-CN" sz="105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 dirty="0">
                          <a:solidFill>
                            <a:srgbClr val="FF0000"/>
                          </a:solidFill>
                          <a:effectLst/>
                        </a:rPr>
                        <a:t>A 包新增</a:t>
                      </a:r>
                      <a:endParaRPr lang="zh-CN" sz="1050" b="0" dirty="0">
                        <a:solidFill>
                          <a:srgbClr val="FF0000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</a:tr>
              <a:tr h="242563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>
                          <a:effectLst/>
                        </a:rPr>
                        <a:t>POST</a:t>
                      </a:r>
                      <a:endParaRPr lang="zh-CN" sz="105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>
                          <a:effectLst/>
                        </a:rPr>
                        <a:t>/category/rename/{id}</a:t>
                      </a:r>
                      <a:endParaRPr lang="zh-CN" sz="105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>
                          <a:effectLst/>
                        </a:rPr>
                        <a:t>重命名已有分类</a:t>
                      </a:r>
                      <a:endParaRPr lang="zh-CN" sz="105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 dirty="0">
                          <a:solidFill>
                            <a:srgbClr val="FF0000"/>
                          </a:solidFill>
                          <a:effectLst/>
                        </a:rPr>
                        <a:t>A 包新增</a:t>
                      </a:r>
                      <a:endParaRPr lang="zh-CN" sz="1050" b="0" dirty="0">
                        <a:solidFill>
                          <a:srgbClr val="FF0000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</a:tr>
              <a:tr h="42528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>
                          <a:effectLst/>
                        </a:rPr>
                        <a:t>DELETE</a:t>
                      </a:r>
                      <a:endParaRPr lang="zh-CN" sz="105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>
                          <a:effectLst/>
                        </a:rPr>
                        <a:t>/category/{id}</a:t>
                      </a:r>
                      <a:endParaRPr lang="zh-CN" sz="105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>
                          <a:effectLst/>
                        </a:rPr>
                        <a:t>删除分类；Service 层校验分类挂载商品时禁止删除</a:t>
                      </a:r>
                      <a:endParaRPr lang="zh-CN" sz="105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 dirty="0">
                          <a:solidFill>
                            <a:srgbClr val="FF0000"/>
                          </a:solidFill>
                          <a:effectLst/>
                        </a:rPr>
                        <a:t>A 包新增</a:t>
                      </a:r>
                      <a:endParaRPr lang="zh-CN" sz="1050" b="0" dirty="0">
                        <a:solidFill>
                          <a:srgbClr val="FF0000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</a:tr>
              <a:tr h="42528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>
                          <a:effectLst/>
                        </a:rPr>
                        <a:t>GET</a:t>
                      </a:r>
                      <a:endParaRPr lang="zh-CN" sz="105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>
                          <a:effectLst/>
                        </a:rPr>
                        <a:t>/customer/list</a:t>
                      </a:r>
                      <a:endParaRPr lang="zh-CN" sz="105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>
                          <a:effectLst/>
                        </a:rPr>
                        <a:t>分页查询系统全部注册买家（客户视图）</a:t>
                      </a:r>
                      <a:endParaRPr lang="zh-CN" sz="105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 dirty="0">
                          <a:solidFill>
                            <a:srgbClr val="FF0000"/>
                          </a:solidFill>
                          <a:effectLst/>
                        </a:rPr>
                        <a:t>A 包新增</a:t>
                      </a:r>
                      <a:endParaRPr lang="zh-CN" sz="1050" b="0" dirty="0">
                        <a:solidFill>
                          <a:srgbClr val="FF0000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</a:tr>
              <a:tr h="42528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>
                          <a:effectLst/>
                        </a:rPr>
                        <a:t>GET</a:t>
                      </a:r>
                      <a:endParaRPr lang="zh-CN" sz="105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>
                          <a:effectLst/>
                        </a:rPr>
                        <a:t>/customer/{username}/history</a:t>
                      </a:r>
                      <a:endParaRPr lang="zh-CN" sz="105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>
                          <a:effectLst/>
                        </a:rPr>
                        <a:t>查询指定买家的终态历史意向（成功 / 失败）</a:t>
                      </a:r>
                      <a:endParaRPr lang="zh-CN" sz="1050" b="0">
                        <a:solidFill>
                          <a:srgbClr val="1F2329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zh-CN" sz="1050" dirty="0">
                          <a:solidFill>
                            <a:srgbClr val="FF0000"/>
                          </a:solidFill>
                          <a:effectLst/>
                        </a:rPr>
                        <a:t>A 包新增</a:t>
                      </a:r>
                      <a:endParaRPr lang="zh-CN" sz="1050" b="0" dirty="0">
                        <a:solidFill>
                          <a:srgbClr val="FF0000"/>
                        </a:solidFill>
                        <a:effectLst/>
                        <a:latin typeface="ui-sans-serif"/>
                      </a:endParaRPr>
                    </a:p>
                  </a:txBody>
                  <a:tcPr marL="46374" marR="46374" marT="23187" marB="23187" anchor="ctr"/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138023" y="143774"/>
            <a:ext cx="11271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seller</a:t>
            </a:r>
            <a:r>
              <a:rPr lang="zh-CN" altLang="en-US" b="1" dirty="0"/>
              <a:t>接口汇总表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31166" y="974485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zh-CN" altLang="zh-CN" dirty="0"/>
              <a:t>商品管理核心逻辑</a:t>
            </a:r>
            <a:endParaRPr lang="zh-CN" altLang="zh-CN" dirty="0"/>
          </a:p>
          <a:p>
            <a:pPr marL="0" lvl="0" indent="0">
              <a:buNone/>
            </a:pPr>
            <a:r>
              <a:rPr lang="zh-CN" altLang="zh-CN" b="1" dirty="0"/>
              <a:t>解除单商品限制</a:t>
            </a:r>
            <a:r>
              <a:rPr lang="zh-CN" altLang="zh-CN" dirty="0"/>
              <a:t>：发布接口不再校验 "全局仅 1 件在售"，支持多商品并行</a:t>
            </a:r>
            <a:endParaRPr lang="zh-CN" altLang="zh-CN" dirty="0"/>
          </a:p>
          <a:p>
            <a:pPr marL="0" lvl="0" indent="0">
              <a:buNone/>
            </a:pPr>
            <a:r>
              <a:rPr lang="zh-CN" altLang="zh-CN" b="1" dirty="0"/>
              <a:t>库存机制</a:t>
            </a:r>
            <a:r>
              <a:rPr lang="zh-CN" altLang="zh-CN" dirty="0"/>
              <a:t>：成交才扣库存（-1），排队 / 失败不扣；库存为 0 自动下架；补货 &gt; 0 需手动上架</a:t>
            </a:r>
            <a:endParaRPr lang="en-US" altLang="zh-CN" dirty="0"/>
          </a:p>
          <a:p>
            <a:pPr marL="0" lvl="0" indent="0">
              <a:buNone/>
            </a:pPr>
            <a:r>
              <a:rPr lang="zh-CN" altLang="zh-CN" b="1" dirty="0"/>
              <a:t>字段锁定</a:t>
            </a:r>
            <a:r>
              <a:rPr lang="zh-CN" altLang="zh-CN" dirty="0"/>
              <a:t>：商品发布后名称、价格、图片不可修改；仅允许通过 /stock/{id} 改库存、/recategory/{id} 改分类</a:t>
            </a:r>
            <a:endParaRPr lang="zh-CN" altLang="zh-CN" dirty="0"/>
          </a:p>
          <a:p>
            <a:pPr marL="0" lvl="0" indent="0">
              <a:buNone/>
            </a:pPr>
            <a:r>
              <a:rPr lang="zh-CN" altLang="zh-CN" b="1" dirty="0"/>
              <a:t>上下架</a:t>
            </a:r>
            <a:r>
              <a:rPr lang="zh-CN" altLang="zh-CN" dirty="0"/>
              <a:t>：保留手动下架 /product/off/{id}，</a:t>
            </a:r>
            <a:r>
              <a:rPr lang="zh-CN" altLang="zh-CN" b="1" dirty="0"/>
              <a:t>新增手动上架接口 /product/on/{id}</a:t>
            </a:r>
            <a:r>
              <a:rPr lang="zh-CN" altLang="zh-CN" dirty="0"/>
              <a:t>（下架商品无需重发即可恢复在售）</a:t>
            </a:r>
            <a:endParaRPr lang="zh-CN" altLang="zh-CN" dirty="0"/>
          </a:p>
          <a:p>
            <a:pPr marL="0" lvl="0" indent="0">
              <a:buNone/>
            </a:pPr>
            <a:r>
              <a:rPr lang="zh-CN" altLang="zh-CN" b="1" dirty="0"/>
              <a:t>图片上传</a:t>
            </a:r>
            <a:r>
              <a:rPr lang="zh-CN" altLang="zh-CN" dirty="0"/>
              <a:t>：新增 /product/image/upload，校验 JPG/PNG、单张≤5MB，最多 9 张</a:t>
            </a:r>
            <a:endParaRPr lang="zh-CN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1423" y="110675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zh-CN" altLang="zh-CN" dirty="0"/>
              <a:t>商品分类</a:t>
            </a:r>
            <a:endParaRPr lang="zh-CN" altLang="zh-CN" dirty="0"/>
          </a:p>
          <a:p>
            <a:pPr marL="0" lvl="0" indent="0">
              <a:buNone/>
            </a:pPr>
            <a:r>
              <a:rPr lang="zh-CN" altLang="zh-CN" dirty="0"/>
              <a:t>4 个接口：查询分类树 /category/tree、新增分类 /category、重命名 /category/rename/{id}、删除 /category/{id}</a:t>
            </a:r>
            <a:endParaRPr lang="zh-CN" altLang="zh-CN" dirty="0"/>
          </a:p>
          <a:p>
            <a:pPr marL="0" lvl="0" indent="0">
              <a:buNone/>
            </a:pPr>
            <a:r>
              <a:rPr lang="zh-CN" altLang="zh-CN" dirty="0"/>
              <a:t>业务规则：</a:t>
            </a:r>
            <a:endParaRPr lang="zh-CN" altLang="zh-CN" dirty="0"/>
          </a:p>
          <a:p>
            <a:pPr marL="457200" lvl="1" indent="0">
              <a:buNone/>
            </a:pPr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zh-CN" altLang="zh-CN" dirty="0"/>
              <a:t>卖家自行维护两级树形分类，不涉及平台管理员</a:t>
            </a:r>
            <a:endParaRPr lang="zh-CN" altLang="zh-CN" dirty="0"/>
          </a:p>
          <a:p>
            <a:pPr marL="457200" lvl="1" indent="0">
              <a:buNone/>
            </a:pPr>
            <a:r>
              <a:rPr lang="en-US" altLang="zh-CN" b="1" dirty="0"/>
              <a:t>2</a:t>
            </a:r>
            <a:r>
              <a:rPr lang="zh-CN" altLang="en-US" b="1" dirty="0"/>
              <a:t>、</a:t>
            </a:r>
            <a:r>
              <a:rPr lang="zh-CN" altLang="zh-CN" b="1" dirty="0"/>
              <a:t>校验：分类下挂载商品时禁止删除</a:t>
            </a:r>
            <a:r>
              <a:rPr lang="zh-CN" altLang="zh-CN" dirty="0"/>
              <a:t>，需先把商品改挂其他分类</a:t>
            </a:r>
            <a:endParaRPr lang="zh-CN" altLang="zh-CN" dirty="0"/>
          </a:p>
          <a:p>
            <a:pPr marL="457200" lvl="1" indent="0">
              <a:buNone/>
            </a:pPr>
            <a:r>
              <a:rPr lang="en-US" altLang="zh-CN" dirty="0"/>
              <a:t>3</a:t>
            </a:r>
            <a:r>
              <a:rPr lang="zh-CN" altLang="en-US" dirty="0"/>
              <a:t>、</a:t>
            </a:r>
            <a:r>
              <a:rPr lang="zh-CN" altLang="zh-CN" dirty="0"/>
              <a:t>发布商品必须选二级分类，不允许无分类商品</a:t>
            </a:r>
            <a:endParaRPr lang="zh-CN" altLang="zh-CN" dirty="0"/>
          </a:p>
          <a:p>
            <a:pPr marL="0" lvl="0" indent="0">
              <a:buNone/>
            </a:pPr>
            <a:r>
              <a:rPr lang="zh-CN" altLang="zh-CN" dirty="0"/>
              <a:t>返回 VO：CategoryWithCountVO（分类名 + 挂载商品数量）</a:t>
            </a:r>
            <a:endParaRPr lang="zh-CN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2925" y="1118259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zh-CN" dirty="0"/>
              <a:t>意向队列核心改动</a:t>
            </a:r>
            <a:endParaRPr lang="zh-CN" altLang="zh-CN" dirty="0"/>
          </a:p>
          <a:p>
            <a:pPr marL="0" lvl="0" indent="0">
              <a:buNone/>
            </a:pPr>
            <a:r>
              <a:rPr lang="zh-CN" altLang="zh-CN" b="1" dirty="0"/>
              <a:t>取消自动递补</a:t>
            </a:r>
            <a:r>
              <a:rPr lang="zh-CN" altLang="zh-CN" dirty="0"/>
              <a:t>：基线成交 / 失败后系统自动把下一位推入交易 → 升级后不自动递补，由卖家在队列页手动确认下一位</a:t>
            </a:r>
            <a:endParaRPr lang="zh-CN" altLang="zh-CN" dirty="0"/>
          </a:p>
          <a:p>
            <a:pPr marL="0" lvl="0" indent="0">
              <a:buNone/>
            </a:pPr>
            <a:r>
              <a:rPr lang="zh-CN" altLang="zh-CN" b="1" dirty="0"/>
              <a:t>废除口令码</a:t>
            </a:r>
            <a:r>
              <a:rPr lang="zh-CN" altLang="zh-CN" dirty="0"/>
              <a:t>：新意向全部绑定 buyer_account_id（登录买家），不再生成匿名口令</a:t>
            </a:r>
            <a:endParaRPr lang="zh-CN" altLang="zh-CN" dirty="0"/>
          </a:p>
          <a:p>
            <a:pPr marL="0" lvl="0" indent="0">
              <a:buNone/>
            </a:pPr>
            <a:r>
              <a:rPr lang="zh-CN" altLang="zh-CN" b="1" dirty="0"/>
              <a:t>存量兼容</a:t>
            </a:r>
            <a:r>
              <a:rPr lang="zh-CN" altLang="zh-CN" dirty="0"/>
              <a:t>：老匿名意向做归档只读，通过 /intent/anonymous/list 分页查看，不再参与排队业务</a:t>
            </a:r>
            <a:endParaRPr lang="zh-CN" altLang="zh-CN" dirty="0"/>
          </a:p>
          <a:p>
            <a:pPr marL="0" lvl="0" indent="0">
              <a:buNone/>
            </a:pPr>
            <a:r>
              <a:rPr lang="zh-CN" altLang="zh-CN" b="1" dirty="0"/>
              <a:t>队列隔离</a:t>
            </a:r>
            <a:r>
              <a:rPr lang="zh-CN" altLang="zh-CN" dirty="0"/>
              <a:t>：每个商品独立意向队列，按 productId 隔离，多商品同时交易互不影响</a:t>
            </a:r>
            <a:endParaRPr lang="zh-CN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19075" y="1689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测试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556000" y="2930525"/>
            <a:ext cx="5080000" cy="16827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ts val="400"/>
              </a:spcBef>
              <a:spcAft>
                <a:spcPts val="400"/>
              </a:spcAft>
            </a:pPr>
            <a:r>
              <a:rPr lang="zh-CN" altLang="en-US" sz="500" b="0">
                <a:solidFill>
                  <a:srgbClr val="E0E3EE"/>
                </a:solidFill>
                <a:latin typeface="sf pro text"/>
                <a:ea typeface="sf pro text"/>
              </a:rPr>
              <a:t>测试框架</a:t>
            </a:r>
            <a:endParaRPr lang="zh-CN" altLang="en-US"/>
          </a:p>
        </p:txBody>
      </p:sp>
      <p:graphicFrame>
        <p:nvGraphicFramePr>
          <p:cNvPr id="7" name="表格 6"/>
          <p:cNvGraphicFramePr/>
          <p:nvPr>
            <p:custDataLst>
              <p:tags r:id="rId1"/>
            </p:custDataLst>
          </p:nvPr>
        </p:nvGraphicFramePr>
        <p:xfrm>
          <a:off x="760095" y="905510"/>
          <a:ext cx="898017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4025"/>
                <a:gridCol w="3100070"/>
                <a:gridCol w="2886075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维度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技术选型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测试范围</a:t>
                      </a:r>
                      <a:endParaRPr lang="zh-CN" altLang="en-US"/>
                    </a:p>
                  </a:txBody>
                  <a:tcPr/>
                </a:tc>
              </a:tr>
              <a:tr h="64008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后端接口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JUnit 5 + SpringBootTest + MockMvc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买家模块 / 卖家模块 / 权限模块</a:t>
                      </a:r>
                      <a:endParaRPr lang="zh-CN" altLang="en-US"/>
                    </a:p>
                  </a:txBody>
                  <a:tcPr/>
                </a:tc>
              </a:tr>
              <a:tr h="9144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前端</a:t>
                      </a:r>
                      <a:r>
                        <a:rPr lang="en-US" altLang="zh-CN" sz="1800">
                          <a:sym typeface="+mn-ea"/>
                        </a:rPr>
                        <a:t>ui</a:t>
                      </a:r>
                      <a:endParaRPr lang="en-US" altLang="zh-CN" sz="1800"/>
                    </a:p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Selenium 4 + WebDriverManager + headless Chrome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P0 </a:t>
                      </a:r>
                      <a:r>
                        <a:rPr lang="zh-CN" altLang="en-US"/>
                        <a:t>主流程</a:t>
                      </a:r>
                      <a:endParaRPr lang="zh-CN" altLang="en-US"/>
                    </a:p>
                  </a:txBody>
                  <a:tcPr/>
                </a:tc>
              </a:tr>
              <a:tr h="64008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数据库</a:t>
                      </a:r>
                      <a:r>
                        <a:rPr lang="zh-CN" altLang="en-US"/>
                        <a:t>验证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JdbcTemplate </a:t>
                      </a:r>
                      <a:r>
                        <a:rPr lang="zh-CN" altLang="en-US"/>
                        <a:t>直查 + 清理夹具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持久化 / 状态流转</a:t>
                      </a:r>
                      <a:endParaRPr lang="zh-CN" altLang="en-US"/>
                    </a:p>
                  </a:txBody>
                  <a:tcPr/>
                </a:tc>
              </a:tr>
              <a:tr h="64008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手工功能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人工走查 + 浏览器控制台 + </a:t>
                      </a:r>
                      <a:r>
                        <a:rPr lang="en-US" altLang="zh-CN"/>
                        <a:t>MySQL </a:t>
                      </a:r>
                      <a:r>
                        <a:rPr lang="zh-CN" altLang="en-US"/>
                        <a:t>直查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P1/P2 </a:t>
                      </a:r>
                      <a:r>
                        <a:rPr lang="zh-CN" altLang="en-US"/>
                        <a:t>边界异常 / </a:t>
                      </a:r>
                      <a:r>
                        <a:rPr lang="en-US" altLang="zh-CN"/>
                        <a:t>XSS </a:t>
                      </a:r>
                      <a:r>
                        <a:rPr lang="zh-CN" altLang="en-US"/>
                        <a:t>弹窗验证 / 改密码 / 重启持久化 / 图片校验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291465" y="5372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r>
              <a:rPr lang="zh-CN" altLang="en-US"/>
              <a:t>、测试</a:t>
            </a:r>
            <a:r>
              <a:rPr lang="zh-CN" altLang="en-US"/>
              <a:t>框架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291465" y="44621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</a:t>
            </a:r>
            <a:r>
              <a:rPr lang="zh-CN" altLang="en-US"/>
              <a:t>、</a:t>
            </a:r>
            <a:r>
              <a:rPr lang="zh-CN" altLang="en-US"/>
              <a:t>执行结果</a:t>
            </a:r>
            <a:endParaRPr lang="zh-CN" altLang="en-US"/>
          </a:p>
        </p:txBody>
      </p:sp>
      <p:graphicFrame>
        <p:nvGraphicFramePr>
          <p:cNvPr id="10" name="表格 9"/>
          <p:cNvGraphicFramePr/>
          <p:nvPr>
            <p:custDataLst>
              <p:tags r:id="rId2"/>
            </p:custDataLst>
          </p:nvPr>
        </p:nvGraphicFramePr>
        <p:xfrm>
          <a:off x="760095" y="4830445"/>
          <a:ext cx="9090025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8005"/>
                <a:gridCol w="1818005"/>
                <a:gridCol w="1818005"/>
                <a:gridCol w="1818005"/>
                <a:gridCol w="1818005"/>
              </a:tblGrid>
              <a:tr h="34925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类型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用例数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通过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失败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通过率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Junit</a:t>
                      </a:r>
                      <a:r>
                        <a:rPr lang="zh-CN" altLang="en-US"/>
                        <a:t>接口</a:t>
                      </a:r>
                      <a:r>
                        <a:rPr lang="zh-CN" altLang="en-US"/>
                        <a:t>测试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52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51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98%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SeleniumUI</a:t>
                      </a:r>
                      <a:r>
                        <a:rPr lang="zh-CN" altLang="en-US"/>
                        <a:t>测试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100%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缺陷锁定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51155" y="1638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</a:t>
            </a:r>
            <a:r>
              <a:rPr lang="zh-CN" altLang="en-US"/>
              <a:t>、覆盖的</a:t>
            </a:r>
            <a:r>
              <a:rPr lang="zh-CN" altLang="en-US"/>
              <a:t>核心能力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14680" y="640080"/>
            <a:ext cx="621093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买家注册 / 登录 / 浏览 / 搜索 / 提交意向 / 路由守卫 卖家发布商品 / 上下架 / 改库存 / 图片上传 / 富文本 / 意向归档 权限拦截（未登录/无 </a:t>
            </a:r>
            <a:r>
              <a:rPr lang="en-US" altLang="zh-CN"/>
              <a:t>token） </a:t>
            </a:r>
            <a:r>
              <a:rPr lang="zh-CN" altLang="en-US"/>
              <a:t>安全：密码 </a:t>
            </a:r>
            <a:r>
              <a:rPr lang="en-US" altLang="zh-CN"/>
              <a:t>BCrypt </a:t>
            </a:r>
            <a:r>
              <a:rPr lang="zh-CN" altLang="en-US"/>
              <a:t>加密、</a:t>
            </a:r>
            <a:r>
              <a:rPr lang="en-US" altLang="zh-CN"/>
              <a:t>XSS </a:t>
            </a:r>
            <a:r>
              <a:rPr lang="zh-CN" altLang="en-US"/>
              <a:t>过滤（后端修了但前端有遗漏）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38125" y="23361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4</a:t>
            </a:r>
            <a:r>
              <a:rPr lang="zh-CN" altLang="en-US"/>
              <a:t>、已知缺陷</a:t>
            </a:r>
            <a:r>
              <a:rPr lang="zh-CN" altLang="en-US"/>
              <a:t>数量</a:t>
            </a:r>
            <a:endParaRPr lang="zh-CN" altLang="en-US"/>
          </a:p>
        </p:txBody>
      </p:sp>
      <p:graphicFrame>
        <p:nvGraphicFramePr>
          <p:cNvPr id="8" name="表格 7"/>
          <p:cNvGraphicFramePr/>
          <p:nvPr/>
        </p:nvGraphicFramePr>
        <p:xfrm>
          <a:off x="699135" y="2704465"/>
          <a:ext cx="8533765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6565"/>
                <a:gridCol w="42665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严重度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数量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P0</a:t>
                      </a:r>
                      <a:r>
                        <a:rPr lang="zh-CN" altLang="en-US"/>
                        <a:t>阻塞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2（前端登录/注册崩溃）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P1</a:t>
                      </a:r>
                      <a:r>
                        <a:rPr lang="zh-CN" altLang="en-US"/>
                        <a:t>功能</a:t>
                      </a:r>
                      <a:r>
                        <a:rPr lang="zh-CN" altLang="en-US"/>
                        <a:t>异常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2（XSS </a:t>
                      </a:r>
                      <a:r>
                        <a:rPr lang="zh-CN" altLang="en-US"/>
                        <a:t>弹窗 / 意向错商品）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P2</a:t>
                      </a:r>
                      <a:r>
                        <a:rPr lang="zh-CN" altLang="en-US"/>
                        <a:t>体验问题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6（图片校验/路由守卫缺失等）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合计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10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13055" y="2012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5</a:t>
            </a:r>
            <a:r>
              <a:rPr lang="zh-CN" altLang="en-US"/>
              <a:t>、核心缺陷</a:t>
            </a:r>
            <a:r>
              <a:rPr lang="zh-CN" altLang="en-US"/>
              <a:t>详情</a:t>
            </a:r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627380" y="682625"/>
            <a:ext cx="666305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缺陷一、注册</a:t>
            </a:r>
            <a:r>
              <a:rPr lang="en-US" altLang="zh-CN"/>
              <a:t>Typeerror(</a:t>
            </a:r>
            <a:r>
              <a:rPr lang="zh-CN" altLang="en-US"/>
              <a:t>前端</a:t>
            </a:r>
            <a:r>
              <a:rPr lang="en-US" altLang="zh-CN"/>
              <a:t>P0)</a:t>
            </a:r>
            <a:endParaRPr lang="en-US" altLang="zh-CN"/>
          </a:p>
          <a:p>
            <a:pPr indent="457200"/>
            <a:r>
              <a:rPr lang="zh-CN" altLang="en-US"/>
              <a:t>位置：</a:t>
            </a:r>
            <a:r>
              <a:rPr lang="en-US" altLang="zh-CN"/>
              <a:t>Register.vue → useUserStore.js </a:t>
            </a:r>
            <a:endParaRPr lang="en-US" altLang="zh-CN"/>
          </a:p>
          <a:p>
            <a:pPr indent="457200"/>
            <a:r>
              <a:rPr lang="zh-CN" altLang="en-US"/>
              <a:t>根因：</a:t>
            </a:r>
            <a:r>
              <a:rPr lang="en-US" altLang="zh-CN"/>
              <a:t>Register.vue </a:t>
            </a:r>
            <a:r>
              <a:rPr lang="zh-CN" altLang="en-US"/>
              <a:t>调用 </a:t>
            </a:r>
            <a:r>
              <a:rPr lang="en-US" altLang="zh-CN"/>
              <a:t>userStore.setBuyerToken()，</a:t>
            </a:r>
            <a:r>
              <a:rPr lang="zh-CN" altLang="en-US"/>
              <a:t>但 </a:t>
            </a:r>
            <a:r>
              <a:rPr lang="en-US" altLang="zh-CN"/>
              <a:t>store </a:t>
            </a:r>
            <a:r>
              <a:rPr lang="zh-CN" altLang="en-US"/>
              <a:t>里没有这个 </a:t>
            </a:r>
            <a:r>
              <a:rPr lang="en-US" altLang="zh-CN"/>
              <a:t>action </a:t>
            </a:r>
            <a:r>
              <a:rPr lang="zh-CN" altLang="en-US"/>
              <a:t>触发：注册新账号成功后，页面崩溃，控制台报 </a:t>
            </a:r>
            <a:r>
              <a:rPr lang="en-US" altLang="zh-CN"/>
              <a:t>TypeError: setBuyerToken is not a function </a:t>
            </a:r>
            <a:endParaRPr lang="en-US" altLang="zh-CN"/>
          </a:p>
          <a:p>
            <a:pPr indent="457200"/>
            <a:r>
              <a:rPr lang="zh-CN" altLang="en-US"/>
              <a:t>修复：在 </a:t>
            </a:r>
            <a:r>
              <a:rPr lang="en-US" altLang="zh-CN"/>
              <a:t>useUserStore </a:t>
            </a:r>
            <a:r>
              <a:rPr lang="zh-CN" altLang="en-US"/>
              <a:t>里补上 </a:t>
            </a:r>
            <a:r>
              <a:rPr lang="en-US" altLang="zh-CN"/>
              <a:t>setBuyerToken(token) { this.buyerToken = token }</a:t>
            </a:r>
            <a:endParaRPr lang="en-US" altLang="zh-CN"/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627380" y="2649855"/>
            <a:ext cx="700214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缺陷二、密码错假登录（前端</a:t>
            </a:r>
            <a:r>
              <a:rPr lang="en-US" altLang="zh-CN"/>
              <a:t>/P0</a:t>
            </a:r>
            <a:r>
              <a:rPr lang="zh-CN" altLang="en-US"/>
              <a:t>）</a:t>
            </a:r>
            <a:endParaRPr lang="zh-CN" altLang="en-US"/>
          </a:p>
          <a:p>
            <a:pPr indent="457200"/>
            <a:r>
              <a:rPr lang="zh-CN" altLang="en-US"/>
              <a:t>位置：</a:t>
            </a:r>
            <a:r>
              <a:rPr lang="en-US" altLang="zh-CN"/>
              <a:t>api/request.js Axios </a:t>
            </a:r>
            <a:r>
              <a:rPr lang="zh-CN" altLang="en-US"/>
              <a:t>响应拦截器 </a:t>
            </a:r>
            <a:endParaRPr lang="zh-CN" altLang="en-US"/>
          </a:p>
          <a:p>
            <a:pPr indent="457200"/>
            <a:r>
              <a:rPr lang="zh-CN" altLang="en-US"/>
              <a:t>根因：后端密码错返回 </a:t>
            </a:r>
            <a:r>
              <a:rPr lang="en-US" altLang="zh-CN"/>
              <a:t>HTTP 200 + code≠200；request.js </a:t>
            </a:r>
            <a:r>
              <a:rPr lang="zh-CN" altLang="en-US"/>
              <a:t>不 </a:t>
            </a:r>
            <a:r>
              <a:rPr lang="en-US" altLang="zh-CN"/>
              <a:t>reject；Login.vue </a:t>
            </a:r>
            <a:r>
              <a:rPr lang="zh-CN" altLang="en-US"/>
              <a:t>不判 </a:t>
            </a:r>
            <a:r>
              <a:rPr lang="en-US" altLang="zh-CN"/>
              <a:t>code </a:t>
            </a:r>
            <a:r>
              <a:rPr lang="zh-CN" altLang="en-US"/>
              <a:t>触发：输错密码 → 页面居然跳转首页，但 </a:t>
            </a:r>
            <a:r>
              <a:rPr lang="en-US" altLang="zh-CN"/>
              <a:t>localStorage </a:t>
            </a:r>
            <a:r>
              <a:rPr lang="zh-CN" altLang="en-US"/>
              <a:t>里没有 </a:t>
            </a:r>
            <a:r>
              <a:rPr lang="en-US" altLang="zh-CN"/>
              <a:t>token </a:t>
            </a:r>
            <a:endParaRPr lang="en-US" altLang="zh-CN"/>
          </a:p>
          <a:p>
            <a:pPr indent="457200"/>
            <a:r>
              <a:rPr lang="zh-CN" altLang="en-US"/>
              <a:t>修复：</a:t>
            </a:r>
            <a:r>
              <a:rPr lang="en-US" altLang="zh-CN"/>
              <a:t>Login.vue </a:t>
            </a:r>
            <a:r>
              <a:rPr lang="zh-CN" altLang="en-US"/>
              <a:t>的 </a:t>
            </a:r>
            <a:r>
              <a:rPr lang="en-US" altLang="zh-CN"/>
              <a:t>try </a:t>
            </a:r>
            <a:r>
              <a:rPr lang="zh-CN" altLang="en-US"/>
              <a:t>块加 </a:t>
            </a:r>
            <a:r>
              <a:rPr lang="en-US" altLang="zh-CN"/>
              <a:t>if (res.code !== 200) throw new Error(res.msg)</a:t>
            </a:r>
            <a:endParaRPr lang="en-US" altLang="zh-CN"/>
          </a:p>
        </p:txBody>
      </p:sp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627380" y="4533265"/>
            <a:ext cx="726503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缺陷三、意向提交错商品（前端</a:t>
            </a:r>
            <a:r>
              <a:rPr lang="en-US" altLang="zh-CN"/>
              <a:t>/P1</a:t>
            </a:r>
            <a:r>
              <a:rPr lang="zh-CN" altLang="en-US"/>
              <a:t>）</a:t>
            </a:r>
            <a:endParaRPr lang="zh-CN" altLang="en-US"/>
          </a:p>
          <a:p>
            <a:pPr indent="457200"/>
            <a:r>
              <a:rPr lang="zh-CN" altLang="en-US"/>
              <a:t>位置：</a:t>
            </a:r>
            <a:r>
              <a:rPr lang="en-US" altLang="zh-CN"/>
              <a:t>api/buyer.js → submitIntent() </a:t>
            </a:r>
            <a:endParaRPr lang="en-US" altLang="zh-CN"/>
          </a:p>
          <a:p>
            <a:pPr indent="457200"/>
            <a:r>
              <a:rPr lang="zh-CN" altLang="en-US"/>
              <a:t>根因：函数没有 </a:t>
            </a:r>
            <a:r>
              <a:rPr lang="en-US" altLang="zh-CN"/>
              <a:t>productId </a:t>
            </a:r>
            <a:r>
              <a:rPr lang="zh-CN" altLang="en-US"/>
              <a:t>参数，</a:t>
            </a:r>
            <a:r>
              <a:rPr lang="en-US" altLang="zh-CN"/>
              <a:t>ProductDetail.vue </a:t>
            </a:r>
            <a:r>
              <a:rPr lang="zh-CN" altLang="en-US"/>
              <a:t>调用也不传 触发：用户浏览商品 </a:t>
            </a:r>
            <a:r>
              <a:rPr lang="en-US" altLang="zh-CN"/>
              <a:t>id=5，</a:t>
            </a:r>
            <a:r>
              <a:rPr lang="zh-CN" altLang="en-US"/>
              <a:t>提交意向 → 数据库里意向落到了商品 </a:t>
            </a:r>
            <a:r>
              <a:rPr lang="en-US" altLang="zh-CN"/>
              <a:t>id=6（</a:t>
            </a:r>
            <a:r>
              <a:rPr lang="zh-CN" altLang="en-US"/>
              <a:t>后端兜底最新在售）</a:t>
            </a:r>
            <a:endParaRPr lang="zh-CN" altLang="en-US"/>
          </a:p>
          <a:p>
            <a:pPr indent="457200"/>
            <a:r>
              <a:rPr lang="zh-CN" altLang="en-US"/>
              <a:t> 修复：</a:t>
            </a:r>
            <a:r>
              <a:rPr lang="en-US" altLang="zh-CN"/>
              <a:t>submitIntent(productId) </a:t>
            </a:r>
            <a:r>
              <a:rPr lang="zh-CN" altLang="en-US"/>
              <a:t>加参数，调用时传当前商品 </a:t>
            </a:r>
            <a:r>
              <a:rPr lang="en-US" altLang="zh-CN"/>
              <a:t>id</a:t>
            </a:r>
            <a:endParaRPr lang="en-US" altLang="zh-CN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683*60"/>
  <p:tag name="TABLE_ENDDRAG_RECT" val="168*388*683*60"/>
</p:tagLst>
</file>

<file path=ppt/tags/tag2.xml><?xml version="1.0" encoding="utf-8"?>
<p:tagLst xmlns:p="http://schemas.openxmlformats.org/presentationml/2006/main">
  <p:tag name="KSO_WM_DIAGRAM_VIRTUALLY_FRAME" val="{&quot;height&quot;:404.2,&quot;left&quot;:54,&quot;top&quot;:90,&quot;width&quot;:734.9}"/>
</p:tagLst>
</file>

<file path=ppt/tags/tag3.xml><?xml version="1.0" encoding="utf-8"?>
<p:tagLst xmlns:p="http://schemas.openxmlformats.org/presentationml/2006/main">
  <p:tag name="KSO_WM_DIAGRAM_VIRTUALLY_FRAME" val="{&quot;height&quot;:404.2,&quot;left&quot;:54,&quot;top&quot;:90,&quot;width&quot;:734.9}"/>
</p:tagLst>
</file>

<file path=ppt/tags/tag4.xml><?xml version="1.0" encoding="utf-8"?>
<p:tagLst xmlns:p="http://schemas.openxmlformats.org/presentationml/2006/main">
  <p:tag name="KSO_WM_DIAGRAM_VIRTUALLY_FRAME" val="{&quot;height&quot;:404.2,&quot;left&quot;:54,&quot;top&quot;:90,&quot;width&quot;:734.9}"/>
</p:tagLst>
</file>

<file path=ppt/tags/tag5.xml><?xml version="1.0" encoding="utf-8"?>
<p:tagLst xmlns:p="http://schemas.openxmlformats.org/presentationml/2006/main">
  <p:tag name="KSO_WM_DIAGRAM_VIRTUALLY_FRAME" val="{&quot;height&quot;:404.2,&quot;left&quot;:54,&quot;top&quot;:90,&quot;width&quot;:734.9}"/>
</p:tagLst>
</file>

<file path=ppt/tags/tag6.xml><?xml version="1.0" encoding="utf-8"?>
<p:tagLst xmlns:p="http://schemas.openxmlformats.org/presentationml/2006/main">
  <p:tag name="KSO_WM_DIAGRAM_VIRTUALLY_FRAME" val="{&quot;height&quot;:404.2,&quot;left&quot;:54,&quot;top&quot;:90,&quot;width&quot;:734.9}"/>
</p:tagLst>
</file>

<file path=ppt/tags/tag7.xml><?xml version="1.0" encoding="utf-8"?>
<p:tagLst xmlns:p="http://schemas.openxmlformats.org/presentationml/2006/main">
  <p:tag name="KSO_WM_DIAGRAM_VIRTUALLY_FRAME" val="{&quot;height&quot;:404.2,&quot;left&quot;:54,&quot;top&quot;:90,&quot;width&quot;:734.9}"/>
</p:tagLst>
</file>

<file path=ppt/tags/tag8.xml><?xml version="1.0" encoding="utf-8"?>
<p:tagLst xmlns:p="http://schemas.openxmlformats.org/presentationml/2006/main">
  <p:tag name="KSO_WM_DIAGRAM_VIRTUALLY_FRAME" val="{&quot;height&quot;:404.2,&quot;left&quot;:54,&quot;top&quot;:90,&quot;width&quot;:734.9}"/>
</p:tagLst>
</file>

<file path=ppt/tags/tag9.xml><?xml version="1.0" encoding="utf-8"?>
<p:tagLst xmlns:p="http://schemas.openxmlformats.org/presentationml/2006/main">
  <p:tag name="KSO_WM_DIAGRAM_VIRTUALLY_FRAME" val="{&quot;height&quot;:404.2,&quot;left&quot;:54,&quot;top&quot;:90,&quot;width&quot;:734.9}"/>
</p:tagLst>
</file>

<file path=ppt/tags/tag10.xml><?xml version="1.0" encoding="utf-8"?>
<p:tagLst xmlns:p="http://schemas.openxmlformats.org/presentationml/2006/main">
  <p:tag name="KSO_WM_DIAGRAM_VIRTUALLY_FRAME" val="{&quot;height&quot;:404.2,&quot;left&quot;:54,&quot;top&quot;:90,&quot;width&quot;:734.9}"/>
</p:tagLst>
</file>

<file path=ppt/tags/tag11.xml><?xml version="1.0" encoding="utf-8"?>
<p:tagLst xmlns:p="http://schemas.openxmlformats.org/presentationml/2006/main">
  <p:tag name="KSO_WM_DIAGRAM_VIRTUALLY_FRAME" val="{&quot;height&quot;:404.2,&quot;left&quot;:54,&quot;top&quot;:90,&quot;width&quot;:734.9}"/>
</p:tagLst>
</file>

<file path=ppt/tags/tag12.xml><?xml version="1.0" encoding="utf-8"?>
<p:tagLst xmlns:p="http://schemas.openxmlformats.org/presentationml/2006/main">
  <p:tag name="KSO_WM_DIAGRAM_VIRTUALLY_FRAME" val="{&quot;height&quot;:404.2,&quot;left&quot;:54,&quot;top&quot;:90,&quot;width&quot;:734.9}"/>
</p:tagLst>
</file>

<file path=ppt/tags/tag13.xml><?xml version="1.0" encoding="utf-8"?>
<p:tagLst xmlns:p="http://schemas.openxmlformats.org/presentationml/2006/main">
  <p:tag name="KSO_WM_DIAGRAM_VIRTUALLY_FRAME" val="{&quot;height&quot;:404.2,&quot;left&quot;:54,&quot;top&quot;:90,&quot;width&quot;:734.9}"/>
</p:tagLst>
</file>

<file path=ppt/tags/tag14.xml><?xml version="1.0" encoding="utf-8"?>
<p:tagLst xmlns:p="http://schemas.openxmlformats.org/presentationml/2006/main">
  <p:tag name="KSO_WM_DIAGRAM_VIRTUALLY_FRAME" val="{&quot;height&quot;:404.2,&quot;left&quot;:54,&quot;top&quot;:90,&quot;width&quot;:734.9}"/>
</p:tagLst>
</file>

<file path=ppt/tags/tag15.xml><?xml version="1.0" encoding="utf-8"?>
<p:tagLst xmlns:p="http://schemas.openxmlformats.org/presentationml/2006/main">
  <p:tag name="KSO_WM_DIAGRAM_VIRTUALLY_FRAME" val="{&quot;height&quot;:404.2,&quot;left&quot;:54,&quot;top&quot;:90,&quot;width&quot;:734.9}"/>
</p:tagLst>
</file>

<file path=ppt/tags/tag16.xml><?xml version="1.0" encoding="utf-8"?>
<p:tagLst xmlns:p="http://schemas.openxmlformats.org/presentationml/2006/main">
  <p:tag name="KSO_WM_DIAGRAM_VIRTUALLY_FRAME" val="{&quot;height&quot;:404.2,&quot;left&quot;:54,&quot;top&quot;:90,&quot;width&quot;:734.9}"/>
</p:tagLst>
</file>

<file path=ppt/tags/tag17.xml><?xml version="1.0" encoding="utf-8"?>
<p:tagLst xmlns:p="http://schemas.openxmlformats.org/presentationml/2006/main">
  <p:tag name="KSO_WM_DIAGRAM_VIRTUALLY_FRAME" val="{&quot;height&quot;:404.2,&quot;left&quot;:54,&quot;top&quot;:90,&quot;width&quot;:734.9}"/>
</p:tagLst>
</file>

<file path=ppt/tags/tag18.xml><?xml version="1.0" encoding="utf-8"?>
<p:tagLst xmlns:p="http://schemas.openxmlformats.org/presentationml/2006/main">
  <p:tag name="TABLE_ENDDRAG_ORIGIN_RECT" val="707*201"/>
  <p:tag name="TABLE_ENDDRAG_RECT" val="59*71*707*201"/>
</p:tagLst>
</file>

<file path=ppt/tags/tag19.xml><?xml version="1.0" encoding="utf-8"?>
<p:tagLst xmlns:p="http://schemas.openxmlformats.org/presentationml/2006/main">
  <p:tag name="TABLE_ENDDRAG_ORIGIN_RECT" val="715*120"/>
  <p:tag name="TABLE_ENDDRAG_RECT" val="69*327*715*120"/>
</p:tagLst>
</file>

<file path=ppt/tags/tag20.xml><?xml version="1.0" encoding="utf-8"?>
<p:tagLst xmlns:p="http://schemas.openxmlformats.org/presentationml/2006/main">
  <p:tag name="KSO_WM_DIAGRAM_VIRTUALLY_FRAME" val="{&quot;height&quot;:441.25,&quot;left&quot;:49.4,&quot;top&quot;:53.75,&quot;width&quot;:572.05}"/>
</p:tagLst>
</file>

<file path=ppt/tags/tag21.xml><?xml version="1.0" encoding="utf-8"?>
<p:tagLst xmlns:p="http://schemas.openxmlformats.org/presentationml/2006/main">
  <p:tag name="KSO_WM_DIAGRAM_VIRTUALLY_FRAME" val="{&quot;height&quot;:441.25,&quot;left&quot;:49.4,&quot;top&quot;:53.75,&quot;width&quot;:572.05}"/>
</p:tagLst>
</file>

<file path=ppt/tags/tag22.xml><?xml version="1.0" encoding="utf-8"?>
<p:tagLst xmlns:p="http://schemas.openxmlformats.org/presentationml/2006/main">
  <p:tag name="KSO_WM_DIAGRAM_VIRTUALLY_FRAME" val="{&quot;height&quot;:441.25,&quot;left&quot;:49.4,&quot;top&quot;:53.75,&quot;width&quot;:572.05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10163</Words>
  <Application>WPS 演示</Application>
  <PresentationFormat/>
  <Paragraphs>1118</Paragraphs>
  <Slides>41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41</vt:i4>
      </vt:variant>
    </vt:vector>
  </HeadingPairs>
  <TitlesOfParts>
    <vt:vector size="62" baseType="lpstr">
      <vt:lpstr>Arial</vt:lpstr>
      <vt:lpstr>宋体</vt:lpstr>
      <vt:lpstr>Wingdings</vt:lpstr>
      <vt:lpstr>微软雅黑</vt:lpstr>
      <vt:lpstr>Times New Roman</vt:lpstr>
      <vt:lpstr>JetBrains Mono</vt:lpstr>
      <vt:lpstr>Segoe Print</vt:lpstr>
      <vt:lpstr>Segoe WPC</vt:lpstr>
      <vt:lpstr>等线</vt:lpstr>
      <vt:lpstr>Arial Unicode MS</vt:lpstr>
      <vt:lpstr>等线 Light</vt:lpstr>
      <vt:lpstr>Calibri</vt:lpstr>
      <vt:lpstr>Calibri</vt:lpstr>
      <vt:lpstr>Calibri</vt:lpstr>
      <vt:lpstr>微软雅黑</vt:lpstr>
      <vt:lpstr>ui-sans-serif</vt:lpstr>
      <vt:lpstr>sf pro text</vt:lpstr>
      <vt:lpstr>Office 主题​​</vt:lpstr>
      <vt:lpstr>1_Office 主题​​</vt:lpstr>
      <vt:lpstr>Office Theme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酒酿樱桃子．</cp:lastModifiedBy>
  <cp:revision>42</cp:revision>
  <dcterms:created xsi:type="dcterms:W3CDTF">2026-10-11T06:11:00Z</dcterms:created>
  <dcterms:modified xsi:type="dcterms:W3CDTF">2026-10-29T01:08:53Z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351E08C13F24477F99C54ECF5C0A0B6B_12</vt:lpwstr>
  </property>
</Properties>
</file>