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各位老师、同学大家好。我是本小组的需求规格说明书负责人 XXX，今天汇报我们小组《在线购物系统（挑战升级）》SRS 的编制过程。这个项目最特别的地方：基线需求只有 6 句话，但真正落到开发层面，需要澄清 30 多个细节问题。SRS 的迭代，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我将从五个部分展开汇报：工作职责、前期准备、需求澄清过程（重点）、最终需求概览、文档成果与反思。整个汇报约 12-15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作为需求规格说明书负责人，我主要承担四项工作：需求采集与访谈、需求建模、文档编写与迭代、需求追溯管理。期间累计输出 2 份文档、30+ 澄清问题、16 条最终功能需求。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在动手写文档之前，我做了三类准备：业务理解上，6 句话反复读 5 遍以上；参考资料包括 IEEE 830、ISO 29148、课程标准、Wiki 澄清记录；工具上用 Markdown + Mermaid + Git。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阶段一：拿到 6 句基线后用 5W1H 提问法逐句追问。这里列出 4 个典型问答；v1.0 输出了 10 条功能需求、7 条非功能需求、4 张 Mermaid 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v2.0 是文档最大迭代。第一次拿到卖家的补充澄清时，出现了 4 个原文档未覆盖的机制，差点让 v1.0 推倒重写。我的应对：不重写，以增量方式更新。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v2.1 补充了一个反直觉的规则：交易中的买家也能撤销。这直接重写了意向状态机和商品状态机，并补了一条验收用例 A11。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最终需求归纳为 5 大模块：商品、意向、口令码、交易、账户。16 条功能需求覆盖买家端 5 条 + 卖家端 9 条 + 系统自动行为 2 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 7 条约束是开发时不能绕过的硬规则，每一条都对应一条或多条 FR，也都经过 1-3 轮澄清，来源可追溯到附录。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商品三态：在售/已冻结/已下架；意向五态：排队中/交易中/成功/撤销/失败。重点强调 v2.1 新增的'交易中→撤销'分支。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754880"/>
            <a:ext cx="4572000" cy="2286000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5852160"/>
            <a:ext cx="1828800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0972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需求规格说明书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工作汇报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王韵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童</a:t>
            </a:r>
            <a:endParaRPr lang="zh-CN" altLang="en-US" sz="1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汇报日期：2026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199339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我的工作</a:t>
            </a:r>
            <a:r>
              <a:rPr lang="zh-CN" alt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zh-CN" altLang="en-US" sz="1800" b="1" dirty="0">
              <a:solidFill>
                <a:srgbClr val="0F1E3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235915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项工作内容与关键产出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98080" y="199339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前期准备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35915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业务理解 / 参考资料 / 工具准备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040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828800" y="322783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需求澄清过程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59359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v1.0 → v2.0 → v2.1 → v3.0 四阶段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063240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0040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498080" y="322783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最终需求概览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98080" y="359359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大模块 / 16 条 FR / 关键约束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ROLE &amp; RESPONSIBILITIES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我的工作</a:t>
            </a:r>
            <a:r>
              <a:rPr lang="zh-CN" alt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zh-CN" altLang="en-US" sz="2800" b="1" dirty="0">
              <a:solidFill>
                <a:srgbClr val="0F1E3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164592" cy="201168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914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需求采集与访谈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与"卖家"多轮访谈；累计记录 30+ 澄清问题，覆盖 5 大业务域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645920"/>
            <a:ext cx="5349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645920"/>
            <a:ext cx="164592" cy="201168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874520"/>
            <a:ext cx="914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726680" y="196596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需求建模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26680" y="2514600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将自然语言转化为用例、状态机、ER 图、流程图等可分析模型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349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23360"/>
            <a:ext cx="164592" cy="201168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51960"/>
            <a:ext cx="914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920240" y="434340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文档编写与迭代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4892040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v1.0 到 v3.0 完成 3 个大版本；每次澄清对应一个语义化版本号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4023360"/>
            <a:ext cx="5349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023360"/>
            <a:ext cx="164592" cy="201168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4251960"/>
            <a:ext cx="914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7726680" y="4343400"/>
            <a:ext cx="3886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需求追溯管理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26680" y="4892040"/>
            <a:ext cx="3886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为每条需求建立唯一编号，关联业务规则、状态机、验收准则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8978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" y="6199632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大版本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58978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834640" y="6199632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58978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29200" y="6199632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非功能需求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58978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30+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23760" y="6199632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澄清问题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18320" y="58978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418320" y="6199632"/>
            <a:ext cx="21945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澄清记录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前期准备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365760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业务理解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96896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28803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</a:t>
            </a: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基线需求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02736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566160"/>
            <a:ext cx="28803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画出买家 / 卖家 / 商品三要素草图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617720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08576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572000"/>
            <a:ext cx="28803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识别出 4 大未知点：口令码、队列、冻结、闭环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164592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1645920"/>
            <a:ext cx="3657600" cy="640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783080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96896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560320"/>
            <a:ext cx="28803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课程《系统验收标准》《环境与工具》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602736"/>
            <a:ext cx="2011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566160"/>
            <a:ext cx="28803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课程 Wiki《需求澄清记录》（16 组访谈）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4572000"/>
            <a:ext cx="28803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v1.0  ·  5W1H 提问法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阶段一：从 6 句话到结构化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669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个典型 5W1H 提问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669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91440" cy="685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8483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Q1: "无用户注册"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按手机号区分（匿名）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5669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91440" cy="685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6207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Q2: "线下交易"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8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卖家在后台标记结果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5669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66160"/>
            <a:ext cx="91440" cy="685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931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Q3: "交易前冻结"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93192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冻结后仍可撤销意向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5669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343400"/>
            <a:ext cx="91440" cy="685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16552"/>
            <a:ext cx="5394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Q4: "只有一个卖家"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单一账号，初始密码系统指定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600200"/>
            <a:ext cx="4937760" cy="45720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v1.0 输出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33172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229600" y="246888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 FR-01 ~ FR-10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324612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229600" y="338328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非功能需求 NFR-01 ~ NFR-07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416052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8229600" y="429768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Mermaid 图（用例/状态/流程/ER）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v2.0  ·  ★ 最大迭代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023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阶段二：四个关键机制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777240" cy="1691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777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23774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口令码机制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743200"/>
            <a:ext cx="43891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提交意向后生成唯一口令码；直接显示在提交成功页面；不发短信；用于查询/修改/撤销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2402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240280"/>
            <a:ext cx="777240" cy="1691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743200"/>
            <a:ext cx="777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132320" y="23774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意向队列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0" y="2743200"/>
            <a:ext cx="43891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严格按提交时间正序；先到先得；同买家可多次提交不去重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69080"/>
            <a:ext cx="777240" cy="1691640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777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554480" y="42062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作废 vs 重新排队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572000"/>
            <a:ext cx="43891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卖家标记失败时当场选择：作废（终态失败）或重新排队（时间刷新，原码继续有效）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06908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069080"/>
            <a:ext cx="777240" cy="1691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572000"/>
            <a:ext cx="777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132320" y="420624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自动递补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4572000"/>
            <a:ext cx="43891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队首意向退出后下一位自动进入交易并自动冻结；队列仅剩重新排队者时立即再次进入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应对策略：新增 FR-02.1/2.2/2.3 子需求 + 增加 TRADING 状态 + 业务流程图补全交易闭环 + 新增"业务规则"独立章节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阶段三：边界条件澄清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164592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276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澄清结论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"冻结期间，包括已进入交易的买家，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只要口令码未失效，都可以撤销"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v2.0 旧规则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394960" cy="2834640"/>
          </a:xfrm>
          <a:prstGeom prst="rect">
            <a:avLst/>
          </a:prstGeom>
          <a:solidFill>
            <a:srgbClr val="F4F6FB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7472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 撤销仅在「排队中」状态可用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 进入交易后买家无法主动退出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 状态机：排队中 → 撤销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 商品状态：已冻结期间不重新进入在售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v2.1 新规则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33756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7472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排队中 + 交易中买家均可撤销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0690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交易中买家主动退出 → 终态「撤销」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6634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状态机：增加「交易中 → 撤销」分支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52578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商品自动恢复在售 + 自动递补下一位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最终需求：五大模块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12080" y="2926080"/>
            <a:ext cx="1828800" cy="10972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297180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554480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554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FR-01 / 07 / 10 / 12 / 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0" y="1691640"/>
            <a:ext cx="1554480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0" y="182880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0" y="2331720"/>
            <a:ext cx="1554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FR-02 / 04 / 05 / 16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554480" cy="12801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9768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口令码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1554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FR-02 / 03 / 11 / 13 / 15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0" y="4160520"/>
            <a:ext cx="1554480" cy="1280160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429768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0" y="4800600"/>
            <a:ext cx="1554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FR-08 / 09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5212080"/>
            <a:ext cx="1554480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534924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5852160"/>
            <a:ext cx="1554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FR-06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94560" y="2331720"/>
            <a:ext cx="3017520" cy="868680"/>
          </a:xfrm>
          <a:prstGeom prst="line">
            <a:avLst/>
          </a:prstGeom>
          <a:noFill/>
          <a:ln w="12700">
            <a:solidFill>
              <a:srgbClr val="C9D2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040880" y="2331720"/>
            <a:ext cx="3017520" cy="868680"/>
          </a:xfrm>
          <a:prstGeom prst="line">
            <a:avLst/>
          </a:prstGeom>
          <a:noFill/>
          <a:ln w="12700">
            <a:solidFill>
              <a:srgbClr val="C9D2E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194560" y="3657600"/>
            <a:ext cx="3017520" cy="914400"/>
          </a:xfrm>
          <a:prstGeom prst="line">
            <a:avLst/>
          </a:prstGeom>
          <a:noFill/>
          <a:ln w="12700">
            <a:solidFill>
              <a:srgbClr val="C9D2E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040880" y="3657600"/>
            <a:ext cx="3017520" cy="914400"/>
          </a:xfrm>
          <a:prstGeom prst="line">
            <a:avLst/>
          </a:prstGeom>
          <a:noFill/>
          <a:ln w="12700">
            <a:solidFill>
              <a:srgbClr val="C9D2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806440" y="4023360"/>
            <a:ext cx="0" cy="1188720"/>
          </a:xfrm>
          <a:prstGeom prst="line">
            <a:avLst/>
          </a:prstGeom>
          <a:noFill/>
          <a:ln w="12700">
            <a:solidFill>
              <a:srgbClr val="C9D2E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条功能需求  +  5 条非功能需求  +  11 条验收准则  =  完整可执行的需求基线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条核心规则  ·  不可绕过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关键设计约束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87452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同一时间只能有一件在售（冻结也占用），卖掉或下架后才能发下一件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0" y="187452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买家免注册，但提交意向时必须填姓名 + 联系电话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5394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15468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口令码是匿名凭证，丢失不找回，卖家不可见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971800"/>
            <a:ext cx="5394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24612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2461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32320" y="315468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意向三终态：成功 / 撤销 / 失败（未轮到的也算失败）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5394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54480" y="443484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重新排队时间刷新、原口令码继续有效（v2.0 争议最大）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251960"/>
            <a:ext cx="5394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52628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526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32320" y="443484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交易中禁止手动解冻（必须先标记结果）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532120"/>
            <a:ext cx="5394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80644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8064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554480" y="5715000"/>
            <a:ext cx="43891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商品信息发布后不可修改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注：所有规则均经过 1-3 轮卖家澄清，来源可追溯到附录澄清记录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状态机：商品三态 &amp; 意向五态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41148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在线购物系统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商品状态机（3 态）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3774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37744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0240" y="365760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65760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已冻结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20240" y="493776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493776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已下架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3063240"/>
            <a:ext cx="365760" cy="548640"/>
          </a:xfrm>
          <a:prstGeom prst="downArrow">
            <a:avLst/>
          </a:prstGeom>
          <a:solidFill>
            <a:srgbClr val="C9D2E0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4343400"/>
            <a:ext cx="365760" cy="548640"/>
          </a:xfrm>
          <a:prstGeom prst="downArrow">
            <a:avLst/>
          </a:prstGeom>
          <a:solidFill>
            <a:srgbClr val="C9D2E0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08960"/>
            <a:ext cx="1143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队首进入交易（自动）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1143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标记成功 / 下架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3657600"/>
            <a:ext cx="1188720" cy="365760"/>
          </a:xfrm>
          <a:prstGeom prst="line">
            <a:avLst/>
          </a:prstGeom>
          <a:noFill/>
          <a:ln w="19050">
            <a:solidFill>
              <a:srgbClr val="E76F51"/>
            </a:solidFill>
            <a:prstDash val="dash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931920" y="33832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 / 撤销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60020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意向状态机（5 态）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01168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3774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37744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排队中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0" y="310896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310896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交易中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93192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9319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35240" y="393192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39319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撤销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15400" y="393192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15400" y="39319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66760" y="2880360"/>
            <a:ext cx="365760" cy="228600"/>
          </a:xfrm>
          <a:prstGeom prst="downArrow">
            <a:avLst/>
          </a:prstGeom>
          <a:solidFill>
            <a:srgbClr val="C9D2E0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3611880"/>
            <a:ext cx="274320" cy="320040"/>
          </a:xfrm>
          <a:prstGeom prst="downArrow">
            <a:avLst/>
          </a:prstGeom>
          <a:solidFill>
            <a:srgbClr val="C9D2E0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3611880"/>
            <a:ext cx="274320" cy="320040"/>
          </a:xfrm>
          <a:prstGeom prst="downArrow">
            <a:avLst/>
          </a:prstGeom>
          <a:solidFill>
            <a:srgbClr val="C9D2E0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81160" y="3611880"/>
            <a:ext cx="274320" cy="320040"/>
          </a:xfrm>
          <a:prstGeom prst="downArrow">
            <a:avLst/>
          </a:prstGeom>
          <a:solidFill>
            <a:srgbClr val="C9D2E0"/>
          </a:solidFill>
          <a:ln w="12700">
            <a:solidFill>
              <a:srgbClr val="C9D2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0" y="3063240"/>
            <a:ext cx="457200" cy="274320"/>
          </a:xfrm>
          <a:prstGeom prst="line">
            <a:avLst/>
          </a:prstGeom>
          <a:noFill/>
          <a:ln w="15240">
            <a:solidFill>
              <a:srgbClr val="E76F51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601200" y="27432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v2.1 新增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5080" y="466344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76F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v2.1 新增：交易中买家也可撤销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502920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注：意向终态仅成功 / 撤销 / 失败（未轮到的也算失败）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576072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注：商品三态无"库存"概念；冻结 = 手动/交易合并状态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1889</Words>
  <Application>WPS 演示</Application>
  <PresentationFormat>On-screen Show (16:9)</PresentationFormat>
  <Paragraphs>324</Paragraphs>
  <Slides>10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Calibri</vt:lpstr>
      <vt:lpstr>Calibri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软件工程实践课程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在线购物系统 - 需求规格说明书工作汇报</dc:title>
  <dc:creator>需求规格说明书负责人</dc:creator>
  <dc:subject>PptxGenJS Presentation</dc:subject>
  <cp:lastModifiedBy>WPS_1723034500</cp:lastModifiedBy>
  <cp:revision>4</cp:revision>
  <dcterms:created xsi:type="dcterms:W3CDTF">2026-10-14T14:18:00Z</dcterms:created>
  <dcterms:modified xsi:type="dcterms:W3CDTF">2026-10-14T17:00:47Z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5976F968FC1647238119B5B6BA18C0DE_12</vt:lpwstr>
  </property>
</Properties>
</file>