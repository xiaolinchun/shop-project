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9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70" r:id="rId5"/>
    <p:sldId id="283" r:id="rId6"/>
    <p:sldId id="258" r:id="rId7"/>
    <p:sldId id="260" r:id="rId8"/>
    <p:sldId id="262" r:id="rId9"/>
    <p:sldId id="263" r:id="rId10"/>
    <p:sldId id="273" r:id="rId11"/>
    <p:sldId id="274" r:id="rId12"/>
    <p:sldId id="276" r:id="rId13"/>
    <p:sldId id="277" r:id="rId14"/>
    <p:sldId id="278" r:id="rId15"/>
    <p:sldId id="279" r:id="rId16"/>
    <p:sldId id="280" r:id="rId17"/>
    <p:sldId id="264" r:id="rId18"/>
    <p:sldId id="266" r:id="rId19"/>
    <p:sldId id="268" r:id="rId20"/>
    <p:sldId id="267" r:id="rId21"/>
    <p:sldId id="281" r:id="rId22"/>
    <p:sldId id="282" r:id="rId23"/>
    <p:sldId id="284" r:id="rId24"/>
    <p:sldId id="288" r:id="rId25"/>
    <p:sldId id="286" r:id="rId26"/>
    <p:sldId id="269" r:id="rId27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DCFB"/>
    <a:srgbClr val="F8FAFC"/>
    <a:srgbClr val="F0F4FE"/>
    <a:srgbClr val="71ABF9"/>
    <a:srgbClr val="70A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3431540" y="2028190"/>
            <a:ext cx="4948555" cy="117665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在线商城系统</a:t>
            </a:r>
            <a:r>
              <a:rPr lang="zh-CN" sz="4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sz="4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 flipV="1">
            <a:off x="685800" y="3790950"/>
            <a:ext cx="11014710" cy="76200"/>
          </a:xfrm>
          <a:prstGeom prst="rect">
            <a:avLst/>
          </a:prstGeom>
          <a:solidFill>
            <a:srgbClr val="2563EB"/>
          </a:solidFill>
        </p:spPr>
        <p:txBody>
          <a:bodyPr/>
          <a:p/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3112770" y="4004945"/>
            <a:ext cx="6250305" cy="49593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2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Vue 3 + Vite + Element Plus </a:t>
            </a:r>
            <a:r>
              <a:rPr lang="zh-CN" sz="2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构建的双角色商城前端</a:t>
            </a:r>
            <a:endParaRPr lang="zh-CN" sz="20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4151630" y="4653280"/>
            <a:ext cx="369189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买家与卖家两条业务链路</a:t>
            </a: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8 </a:t>
            </a: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个页面完整闭环</a:t>
            </a:r>
            <a:endParaRPr lang="zh-CN" sz="13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1271270" y="5300980"/>
            <a:ext cx="3408680" cy="42672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汇报人：第</a:t>
            </a:r>
            <a:r>
              <a:rPr lang="en-US" altLang="zh-CN" sz="2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zh-CN" altLang="en-US" sz="2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组</a:t>
            </a:r>
            <a:r>
              <a:rPr lang="en-US" altLang="zh-CN" sz="2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sz="2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陆昌菲</a:t>
            </a:r>
            <a:endParaRPr lang="zh-CN" sz="2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038350" y="5600700"/>
            <a:ext cx="9525" cy="133350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 2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85800" y="533400"/>
            <a:ext cx="2648585" cy="61404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4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en-US" sz="4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目录结构</a:t>
            </a:r>
            <a:endParaRPr lang="zh-CN" altLang="en-US" sz="4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767080" y="1400175"/>
            <a:ext cx="685800" cy="38100"/>
          </a:xfrm>
          <a:prstGeom prst="rect">
            <a:avLst/>
          </a:prstGeom>
          <a:solidFill>
            <a:srgbClr val="2563EB"/>
          </a:solidFill>
        </p:spPr>
        <p:txBody>
          <a:bodyPr/>
          <a:p/>
        </p:txBody>
      </p:sp>
      <p:sp>
        <p:nvSpPr>
          <p:cNvPr id="275" name="圆角矩形 274"/>
          <p:cNvSpPr/>
          <p:nvPr/>
        </p:nvSpPr>
        <p:spPr>
          <a:xfrm>
            <a:off x="6023610" y="236855"/>
            <a:ext cx="5765800" cy="6425565"/>
          </a:xfrm>
          <a:prstGeom prst="roundRect">
            <a:avLst>
              <a:gd name="adj" fmla="val 11628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9" name="tree-code"/>
          <p:cNvSpPr txBox="1"/>
          <p:nvPr/>
        </p:nvSpPr>
        <p:spPr>
          <a:xfrm>
            <a:off x="7392035" y="188595"/>
            <a:ext cx="3704590" cy="63544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src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api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网络请求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├── request.js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封装</a:t>
            </a:r>
            <a:r>
              <a:rPr 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Axios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└── mall.js   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定义业务接口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constants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└── index.js  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状态枚举常量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views</a:t>
            </a:r>
            <a:endParaRPr lang="en-US" sz="1400" noProof="1">
              <a:solidFill>
                <a:srgbClr val="26251F"/>
              </a:solidFill>
              <a:latin typeface="Times New Roman" panose="02020603050405020304" charset="0"/>
              <a:ea typeface="JetBrains Mono" panose="0200000900000000000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│   ├── HomeIndex.vue    #</a:t>
            </a:r>
            <a:r>
              <a:rPr lang="zh-CN" alt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商城入口页面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├── buyer	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买家页面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│   ├── BuyerHome.vue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│   └── BuyerQuery.vue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└── seller	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卖家页面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    ├── SellerLogin.vue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    ├── SellerHome.vue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    ├── IntentList.vue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    ├── HistoryProduct.vue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    └── ModifyPwd.vue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router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└── index.js  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路由配置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App.vue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└── main.js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870" y="2001520"/>
            <a:ext cx="3417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52" name="圆角矩形 151"/>
          <p:cNvSpPr/>
          <p:nvPr/>
        </p:nvSpPr>
        <p:spPr>
          <a:xfrm>
            <a:off x="523875" y="171196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53" name="圆角矩形 152"/>
          <p:cNvSpPr/>
          <p:nvPr/>
        </p:nvSpPr>
        <p:spPr>
          <a:xfrm>
            <a:off x="695325" y="171196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54" name="圆角矩形 153"/>
          <p:cNvSpPr/>
          <p:nvPr/>
        </p:nvSpPr>
        <p:spPr>
          <a:xfrm>
            <a:off x="866775" y="171196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114425" y="1683385"/>
            <a:ext cx="819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src/ </a:t>
            </a:r>
            <a:r>
              <a:rPr lang="zh-CN" sz="975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工程结构</a:t>
            </a:r>
            <a:endParaRPr lang="zh-CN" sz="975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523875" y="21691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638175" y="2112010"/>
            <a:ext cx="476250" cy="1714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1125" spc="2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sz="1125" spc="22">
                <a:latin typeface="微软雅黑" panose="020B0503020204020204" charset="-122"/>
                <a:ea typeface="微软雅黑" panose="020B0503020204020204" charset="-122"/>
                <a:sym typeface="+mn-ea"/>
              </a:rPr>
              <a:t>main.js</a:t>
            </a:r>
            <a:r>
              <a:rPr lang="en-US" sz="1125" spc="2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sz="1125" spc="2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1266825" y="2188210"/>
            <a:ext cx="3095625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4476750" y="211201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应用入口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523875" y="24739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676275" y="240728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App.vue </a:t>
            </a:r>
            <a:endParaRPr lang="en-US" sz="1125" spc="22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1343025" y="2493010"/>
            <a:ext cx="31432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4600575" y="241681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根组件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圆角矩形 163"/>
          <p:cNvSpPr/>
          <p:nvPr/>
        </p:nvSpPr>
        <p:spPr>
          <a:xfrm>
            <a:off x="523875" y="27787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676275" y="2712085"/>
            <a:ext cx="1075690" cy="22288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router</a:t>
            </a:r>
            <a:r>
              <a:rPr lang="en-US" sz="1125" spc="22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index</a:t>
            </a:r>
            <a:r>
              <a:rPr lang="en-US" sz="1125" spc="22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js</a:t>
            </a:r>
            <a:endParaRPr lang="en-US" sz="1125" spc="22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1733550" y="2797810"/>
            <a:ext cx="26479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4495800" y="2721610"/>
            <a:ext cx="476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条路由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523875" y="30835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676275" y="3016885"/>
            <a:ext cx="895350" cy="1714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1125" spc="22">
                <a:latin typeface="微软雅黑" panose="020B0503020204020204" charset="-122"/>
                <a:ea typeface="微软雅黑" panose="020B0503020204020204" charset="-122"/>
                <a:sym typeface="+mn-ea"/>
              </a:rPr>
              <a:t>api/request.js</a:t>
            </a:r>
            <a:r>
              <a:rPr lang="en-US" sz="1125" spc="2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.js</a:t>
            </a:r>
            <a:endParaRPr lang="en-US" sz="1125" spc="2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1685925" y="3102610"/>
            <a:ext cx="2581275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4381500" y="3026410"/>
            <a:ext cx="590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Axios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封装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圆角矩形 171"/>
          <p:cNvSpPr/>
          <p:nvPr/>
        </p:nvSpPr>
        <p:spPr>
          <a:xfrm>
            <a:off x="523875" y="33883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676275" y="3321685"/>
            <a:ext cx="723900" cy="22923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en-US" sz="1125" spc="22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mall</a:t>
            </a:r>
            <a:r>
              <a:rPr lang="en-US" sz="1125" spc="22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js  </a:t>
            </a:r>
            <a:endParaRPr lang="en-US" sz="1125" spc="22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1457325" y="3407410"/>
            <a:ext cx="2847975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4419600" y="3331210"/>
            <a:ext cx="552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14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个接口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圆角矩形 175"/>
          <p:cNvSpPr/>
          <p:nvPr/>
        </p:nvSpPr>
        <p:spPr>
          <a:xfrm>
            <a:off x="523875" y="36931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676275" y="3626485"/>
            <a:ext cx="1190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constants/index.js  </a:t>
            </a:r>
            <a:endParaRPr lang="en-US" sz="1125" spc="22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1981200" y="3721735"/>
            <a:ext cx="23812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4476750" y="363601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状态字典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523875" y="39979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676275" y="3931285"/>
            <a:ext cx="419100" cy="1714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1125" spc="22">
                <a:latin typeface="微软雅黑" panose="020B0503020204020204" charset="-122"/>
                <a:ea typeface="微软雅黑" panose="020B0503020204020204" charset="-122"/>
                <a:sym typeface="+mn-ea"/>
              </a:rPr>
              <a:t>views</a:t>
            </a:r>
            <a:endParaRPr lang="en-US" sz="1125" spc="2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1209675" y="4017010"/>
            <a:ext cx="3171825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495800" y="3940810"/>
            <a:ext cx="476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个页面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任意多边形 183"/>
          <p:cNvSpPr/>
          <p:nvPr/>
        </p:nvSpPr>
        <p:spPr>
          <a:xfrm>
            <a:off x="523875" y="4483735"/>
            <a:ext cx="4448175" cy="361950"/>
          </a:xfrm>
          <a:custGeom>
            <a:avLst/>
            <a:gdLst/>
            <a:ahLst/>
            <a:cxnLst/>
            <a:pathLst>
              <a:path w="467" h="38">
                <a:moveTo>
                  <a:pt x="0" y="0"/>
                </a:moveTo>
                <a:lnTo>
                  <a:pt x="467" y="0"/>
                </a:lnTo>
                <a:lnTo>
                  <a:pt x="467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523875" y="4683760"/>
            <a:ext cx="952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Vue 3.5 / Vite 8.3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矩形 209"/>
          <p:cNvSpPr/>
          <p:nvPr/>
        </p:nvSpPr>
        <p:spPr>
          <a:xfrm>
            <a:off x="-24765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10620375" y="342900"/>
            <a:ext cx="8858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685800" y="762000"/>
            <a:ext cx="108204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任意多边形 215"/>
          <p:cNvSpPr/>
          <p:nvPr/>
        </p:nvSpPr>
        <p:spPr>
          <a:xfrm>
            <a:off x="685800" y="2000250"/>
            <a:ext cx="10820400" cy="1162050"/>
          </a:xfrm>
          <a:custGeom>
            <a:avLst/>
            <a:gdLst/>
            <a:ahLst/>
            <a:cxnLst/>
            <a:pathLst>
              <a:path w="1136" h="122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17" name="圆角矩形 216"/>
          <p:cNvSpPr/>
          <p:nvPr>
            <p:custDataLst>
              <p:tags r:id="rId1"/>
            </p:custDataLst>
          </p:nvPr>
        </p:nvSpPr>
        <p:spPr>
          <a:xfrm>
            <a:off x="685800" y="23145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218" name="文本框 217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866775" y="2486025"/>
            <a:ext cx="1714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1524000" y="2257425"/>
            <a:ext cx="8905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1524000" y="2609850"/>
            <a:ext cx="89058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拆解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个页面的角色分工与功能定位，并给出买卖双方两条业务链路的完整流转路径</a:t>
            </a:r>
            <a:endParaRPr lang="zh-CN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任意多边形 221"/>
          <p:cNvSpPr/>
          <p:nvPr/>
        </p:nvSpPr>
        <p:spPr>
          <a:xfrm>
            <a:off x="685800" y="3152775"/>
            <a:ext cx="10820400" cy="1162050"/>
          </a:xfrm>
          <a:custGeom>
            <a:avLst/>
            <a:gdLst/>
            <a:ahLst/>
            <a:cxnLst/>
            <a:pathLst>
              <a:path w="1136" h="122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23" name="圆角矩形 222"/>
          <p:cNvSpPr/>
          <p:nvPr>
            <p:custDataLst>
              <p:tags r:id="rId5"/>
            </p:custDataLst>
          </p:nvPr>
        </p:nvSpPr>
        <p:spPr>
          <a:xfrm>
            <a:off x="685800" y="3467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866775" y="3638550"/>
            <a:ext cx="1714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1524000" y="3409950"/>
            <a:ext cx="8905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页面实现过程</a:t>
            </a:r>
            <a:endParaRPr lang="zh-CN"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1524000" y="3762375"/>
            <a:ext cx="89058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说明开发框架的四大运行机制与五层代码结构，以及各页面在实现时的关键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组件</a:t>
            </a:r>
            <a:endParaRPr lang="zh-CN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任意多边形 227"/>
          <p:cNvSpPr/>
          <p:nvPr/>
        </p:nvSpPr>
        <p:spPr>
          <a:xfrm>
            <a:off x="685800" y="4305300"/>
            <a:ext cx="10820400" cy="1162050"/>
          </a:xfrm>
          <a:custGeom>
            <a:avLst/>
            <a:gdLst/>
            <a:ahLst/>
            <a:cxnLst/>
            <a:pathLst>
              <a:path w="1136" h="122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矩形 238"/>
          <p:cNvSpPr/>
          <p:nvPr/>
        </p:nvSpPr>
        <p:spPr>
          <a:xfrm>
            <a:off x="-9652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242" name="图片 24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7080" y="981075"/>
            <a:ext cx="8826500" cy="5547995"/>
          </a:xfrm>
          <a:prstGeom prst="rect">
            <a:avLst/>
          </a:prstGeom>
        </p:spPr>
      </p:pic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685800" y="533400"/>
            <a:ext cx="38862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概览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矩形 2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96" name="矩形 295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685800" y="1104900"/>
            <a:ext cx="3377565" cy="168148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 spc="-300">
                <a:gradFill>
                  <a:gsLst>
                    <a:gs pos="0">
                      <a:srgbClr val="2563EB"/>
                    </a:gs>
                    <a:gs pos="100000">
                      <a:srgbClr val="60A5FA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2000" b="1" spc="-300">
              <a:gradFill>
                <a:gsLst>
                  <a:gs pos="0">
                    <a:srgbClr val="2563EB"/>
                  </a:gs>
                  <a:gs pos="100000">
                    <a:srgbClr val="60A5FA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矩形 297"/>
          <p:cNvSpPr/>
          <p:nvPr/>
        </p:nvSpPr>
        <p:spPr>
          <a:xfrm>
            <a:off x="685800" y="3238500"/>
            <a:ext cx="685800" cy="38100"/>
          </a:xfrm>
          <a:prstGeom prst="rect">
            <a:avLst/>
          </a:prstGeom>
          <a:solidFill>
            <a:srgbClr val="2563EB"/>
          </a:solidFill>
        </p:spPr>
        <p:txBody>
          <a:bodyPr/>
          <a:p/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685800" y="3581400"/>
            <a:ext cx="4567555" cy="120142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4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矩形 300"/>
          <p:cNvSpPr/>
          <p:nvPr/>
        </p:nvSpPr>
        <p:spPr>
          <a:xfrm>
            <a:off x="5704205" y="0"/>
            <a:ext cx="6487795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矩形 3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685800" y="533400"/>
            <a:ext cx="38862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买家链路：提交与查询意向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10439400" y="6477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71" name="图片 37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35" y="1341755"/>
            <a:ext cx="11914505" cy="2893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矩形 3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685800" y="533400"/>
            <a:ext cx="323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卖家链路：管理与处理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10439400" y="6477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685800" y="1143000"/>
            <a:ext cx="6096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卖家主链路（管理后台为枢纽）</a:t>
            </a:r>
            <a:endParaRPr lang="zh-CN" sz="11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96" name="图片 39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466850"/>
            <a:ext cx="6096000" cy="4191000"/>
          </a:xfrm>
          <a:prstGeom prst="rect">
            <a:avLst/>
          </a:prstGeom>
        </p:spPr>
      </p:pic>
      <p:sp>
        <p:nvSpPr>
          <p:cNvPr id="397" name="圆角矩形 396"/>
          <p:cNvSpPr/>
          <p:nvPr/>
        </p:nvSpPr>
        <p:spPr>
          <a:xfrm>
            <a:off x="7086600" y="1949450"/>
            <a:ext cx="4419600" cy="2407920"/>
          </a:xfrm>
          <a:prstGeom prst="roundRect">
            <a:avLst>
              <a:gd name="adj" fmla="val 2804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7334250" y="2305050"/>
            <a:ext cx="3924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商品状态</a:t>
            </a:r>
            <a:r>
              <a:rPr lang="en-US" sz="9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· 3 </a:t>
            </a:r>
            <a:r>
              <a:rPr lang="zh-CN" sz="9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种</a:t>
            </a:r>
            <a:endParaRPr lang="zh-CN" sz="9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圆角矩形 400"/>
          <p:cNvSpPr/>
          <p:nvPr/>
        </p:nvSpPr>
        <p:spPr>
          <a:xfrm>
            <a:off x="7334250" y="2533650"/>
            <a:ext cx="419100" cy="219075"/>
          </a:xfrm>
          <a:prstGeom prst="roundRect">
            <a:avLst>
              <a:gd name="adj" fmla="val 17391"/>
            </a:avLst>
          </a:prstGeom>
          <a:solidFill>
            <a:srgbClr val="2563EB">
              <a:alpha val="12000"/>
            </a:srgbClr>
          </a:solidFill>
        </p:spPr>
        <p:txBody>
          <a:bodyPr/>
          <a:p/>
        </p:txBody>
      </p:sp>
      <p:sp>
        <p:nvSpPr>
          <p:cNvPr id="402" name="文本框 401" descr="{&quot;isTemplate&quot;:true,&quot;type&quot;:&quot;text&quot;}"/>
          <p:cNvSpPr txBox="1"/>
          <p:nvPr/>
        </p:nvSpPr>
        <p:spPr>
          <a:xfrm>
            <a:off x="7429500" y="2571750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在售</a:t>
            </a:r>
            <a:endParaRPr lang="zh-CN" sz="9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3" name="圆角矩形 402"/>
          <p:cNvSpPr/>
          <p:nvPr/>
        </p:nvSpPr>
        <p:spPr>
          <a:xfrm>
            <a:off x="7829550" y="2533650"/>
            <a:ext cx="533400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</p:spPr>
        <p:txBody>
          <a:bodyPr/>
          <a:p/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7924800" y="2571750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已冻结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圆角矩形 404"/>
          <p:cNvSpPr/>
          <p:nvPr/>
        </p:nvSpPr>
        <p:spPr>
          <a:xfrm>
            <a:off x="8439150" y="2533650"/>
            <a:ext cx="533400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</p:spPr>
        <p:txBody>
          <a:bodyPr/>
          <a:p/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8534400" y="2571750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已下架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7334250" y="2867025"/>
            <a:ext cx="3924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意向状态</a:t>
            </a:r>
            <a:r>
              <a:rPr lang="en-US" sz="9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· 7 </a:t>
            </a:r>
            <a:r>
              <a:rPr lang="zh-CN" sz="9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种</a:t>
            </a:r>
            <a:endParaRPr lang="zh-CN" sz="9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8" name="圆角矩形 407"/>
          <p:cNvSpPr/>
          <p:nvPr/>
        </p:nvSpPr>
        <p:spPr>
          <a:xfrm>
            <a:off x="7334250" y="3095625"/>
            <a:ext cx="533400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</p:spPr>
        <p:txBody>
          <a:bodyPr/>
          <a:p/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7429500" y="3133725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排队中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0" name="圆角矩形 409"/>
          <p:cNvSpPr/>
          <p:nvPr/>
        </p:nvSpPr>
        <p:spPr>
          <a:xfrm>
            <a:off x="7943850" y="3095625"/>
            <a:ext cx="533400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</p:spPr>
        <p:txBody>
          <a:bodyPr/>
          <a:p/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8039100" y="3133725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交易中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2" name="圆角矩形 411"/>
          <p:cNvSpPr/>
          <p:nvPr/>
        </p:nvSpPr>
        <p:spPr>
          <a:xfrm>
            <a:off x="8553450" y="3095625"/>
            <a:ext cx="647700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</p:spPr>
        <p:txBody>
          <a:bodyPr/>
          <a:p/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8648700" y="313372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交易成功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4" name="圆角矩形 413"/>
          <p:cNvSpPr/>
          <p:nvPr/>
        </p:nvSpPr>
        <p:spPr>
          <a:xfrm>
            <a:off x="9277350" y="3095625"/>
            <a:ext cx="647700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</p:spPr>
        <p:txBody>
          <a:bodyPr/>
          <a:p/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9372600" y="313372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交易作废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6" name="圆角矩形 415"/>
          <p:cNvSpPr/>
          <p:nvPr/>
        </p:nvSpPr>
        <p:spPr>
          <a:xfrm>
            <a:off x="10001250" y="3095625"/>
            <a:ext cx="533400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</p:spPr>
        <p:txBody>
          <a:bodyPr/>
          <a:p/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10096500" y="3133725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已撤销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8" name="圆角矩形 417"/>
          <p:cNvSpPr/>
          <p:nvPr/>
        </p:nvSpPr>
        <p:spPr>
          <a:xfrm>
            <a:off x="10610850" y="3095625"/>
            <a:ext cx="647700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</p:spPr>
        <p:txBody>
          <a:bodyPr/>
          <a:p/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10706100" y="313372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重新排队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0" name="圆角矩形 419"/>
          <p:cNvSpPr/>
          <p:nvPr/>
        </p:nvSpPr>
        <p:spPr>
          <a:xfrm>
            <a:off x="7334250" y="3390900"/>
            <a:ext cx="533400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</p:spPr>
        <p:txBody>
          <a:bodyPr/>
          <a:p/>
        </p:txBody>
      </p:sp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7429500" y="3429000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圆角矩形 426"/>
          <p:cNvSpPr/>
          <p:nvPr/>
        </p:nvSpPr>
        <p:spPr>
          <a:xfrm>
            <a:off x="685800" y="6543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838200" y="6496050"/>
            <a:ext cx="1371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mall-front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在线商城系统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矩形 3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685800" y="533400"/>
            <a:ext cx="38862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</a:t>
            </a:r>
            <a:r>
              <a:rPr lang="en-US" alt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r>
              <a:rPr lang="zh-CN" altLang="en-US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：系统首页（</a:t>
            </a:r>
            <a:r>
              <a:rPr lang="en-US" alt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HomeIndex.vue</a:t>
            </a:r>
            <a:r>
              <a:rPr lang="zh-CN" altLang="en-US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6671945" y="621030"/>
            <a:ext cx="2037080" cy="37528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路由路径：</a:t>
            </a:r>
            <a:r>
              <a:rPr lang="en-US" alt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/                  </a:t>
            </a:r>
            <a:endParaRPr lang="en-US" alt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圆角矩形 243"/>
          <p:cNvSpPr/>
          <p:nvPr>
            <p:custDataLst>
              <p:tags r:id="rId1"/>
            </p:custDataLst>
          </p:nvPr>
        </p:nvSpPr>
        <p:spPr>
          <a:xfrm>
            <a:off x="685800" y="1078230"/>
            <a:ext cx="7020560" cy="650875"/>
          </a:xfrm>
          <a:prstGeom prst="roundRect">
            <a:avLst>
              <a:gd name="adj" fmla="val 7101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功能定位</a:t>
            </a:r>
            <a:r>
              <a:rPr lang="zh-CN" altLang="en-US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：系统入口，提供买家入口和卖家入口两个导航按钮</a:t>
            </a:r>
            <a:r>
              <a:rPr lang="en-US" altLang="zh-CN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</a:t>
            </a:r>
            <a:endParaRPr lang="en-US" altLang="zh-CN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/>
        </p:txBody>
      </p:sp>
      <p:sp>
        <p:nvSpPr>
          <p:cNvPr id="378" name="圆角矩形 377"/>
          <p:cNvSpPr/>
          <p:nvPr/>
        </p:nvSpPr>
        <p:spPr>
          <a:xfrm>
            <a:off x="685800" y="1701165"/>
            <a:ext cx="7020560" cy="768350"/>
          </a:xfrm>
          <a:prstGeom prst="roundRect">
            <a:avLst>
              <a:gd name="adj" fmla="val 3987"/>
            </a:avLst>
          </a:prstGeom>
          <a:solidFill>
            <a:srgbClr val="F8FAFC"/>
          </a:solidFill>
        </p:spPr>
        <p:txBody>
          <a:bodyPr/>
          <a:p>
            <a:r>
              <a:rPr lang="zh-CN" altLang="en-US" b="1"/>
              <a:t>流转逻辑：</a:t>
            </a:r>
            <a:r>
              <a:rPr lang="en-US" altLang="zh-CN" b="1"/>
              <a:t>1. </a:t>
            </a:r>
            <a:r>
              <a:rPr lang="zh-CN" altLang="en-US"/>
              <a:t>点击"买家入口"→ 跳转至</a:t>
            </a:r>
            <a:r>
              <a:rPr lang="zh-CN" altLang="en-US">
                <a:sym typeface="+mn-ea"/>
              </a:rPr>
              <a:t>买家登录页</a:t>
            </a:r>
            <a:r>
              <a:rPr lang="zh-CN" altLang="en-US"/>
              <a:t>（/</a:t>
            </a:r>
            <a:r>
              <a:rPr lang="en-US" altLang="zh-CN"/>
              <a:t>seller/login</a:t>
            </a:r>
            <a:r>
              <a:rPr lang="zh-CN" altLang="en-US"/>
              <a:t>）</a:t>
            </a:r>
            <a:r>
              <a:rPr lang="en-US" altLang="zh-CN"/>
              <a:t>；	    </a:t>
            </a:r>
            <a:r>
              <a:rPr lang="en-US" altLang="zh-CN" b="1">
                <a:sym typeface="+mn-ea"/>
              </a:rPr>
              <a:t>2. </a:t>
            </a:r>
            <a:r>
              <a:rPr lang="zh-CN" altLang="en-US"/>
              <a:t>点击"</a:t>
            </a:r>
            <a:r>
              <a:rPr lang="zh-CN" altLang="en-US"/>
              <a:t>卖家入口"→ 跳转至卖家商品</a:t>
            </a:r>
            <a:r>
              <a:rPr lang="zh-CN" altLang="en-US"/>
              <a:t>页（/</a:t>
            </a:r>
            <a:r>
              <a:rPr lang="en-US" altLang="zh-CN"/>
              <a:t>buyer）</a:t>
            </a:r>
            <a:endParaRPr lang="en-US" altLang="zh-CN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565" y="2565400"/>
            <a:ext cx="4681220" cy="37966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矩形 315"/>
          <p:cNvSpPr/>
          <p:nvPr/>
        </p:nvSpPr>
        <p:spPr>
          <a:xfrm>
            <a:off x="-24765" y="4445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685800" y="533400"/>
            <a:ext cx="5799455" cy="39497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 2：买家商品页（</a:t>
            </a:r>
            <a:r>
              <a:rPr lang="en-US" alt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BuyerHome.vue）</a:t>
            </a:r>
            <a:endParaRPr lang="en-US" alt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7103745" y="553085"/>
            <a:ext cx="2037080" cy="37528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路由路径：</a:t>
            </a:r>
            <a:r>
              <a:rPr lang="en-US" alt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en-US" alt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buyer                 </a:t>
            </a:r>
            <a:endParaRPr lang="en-US" alt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圆角矩形 243"/>
          <p:cNvSpPr/>
          <p:nvPr>
            <p:custDataLst>
              <p:tags r:id="rId1"/>
            </p:custDataLst>
          </p:nvPr>
        </p:nvSpPr>
        <p:spPr>
          <a:xfrm>
            <a:off x="685800" y="1078230"/>
            <a:ext cx="7020560" cy="650875"/>
          </a:xfrm>
          <a:prstGeom prst="roundRect">
            <a:avLst>
              <a:gd name="adj" fmla="val 7101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功能定位</a:t>
            </a:r>
            <a:r>
              <a:rPr lang="zh-CN" altLang="en-US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：展示当前在售商品详情，买家可提交购买意向</a:t>
            </a:r>
            <a:r>
              <a:rPr lang="en-US" altLang="zh-CN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</a:t>
            </a:r>
            <a:endParaRPr lang="en-US" altLang="zh-CN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/>
        </p:txBody>
      </p:sp>
      <p:sp>
        <p:nvSpPr>
          <p:cNvPr id="378" name="圆角矩形 377"/>
          <p:cNvSpPr/>
          <p:nvPr/>
        </p:nvSpPr>
        <p:spPr>
          <a:xfrm>
            <a:off x="685800" y="1701165"/>
            <a:ext cx="7020560" cy="1270000"/>
          </a:xfrm>
          <a:prstGeom prst="roundRect">
            <a:avLst>
              <a:gd name="adj" fmla="val 3987"/>
            </a:avLst>
          </a:prstGeom>
          <a:solidFill>
            <a:srgbClr val="F8FAFC"/>
          </a:solidFill>
        </p:spPr>
        <p:txBody>
          <a:bodyPr/>
          <a:p>
            <a:r>
              <a:rPr lang="zh-CN" altLang="en-US" b="1"/>
              <a:t>流转逻辑：用户填写姓名手机号提交意向后，拿到 8 位口令码并存入 </a:t>
            </a:r>
            <a:r>
              <a:rPr lang="en-US" altLang="zh-CN" b="1"/>
              <a:t>localStorage，</a:t>
            </a:r>
            <a:r>
              <a:rPr lang="zh-CN" altLang="en-US" b="1"/>
              <a:t>自动复制口令到剪贴板，页面跳转到意向查询页；</a:t>
            </a:r>
            <a:r>
              <a:rPr lang="zh-CN" altLang="en-US" b="1"/>
              <a:t>此外，点击查询意向按钮，可直接跳转查询页；点击返回按钮，则回到系统首页。</a:t>
            </a:r>
            <a:endParaRPr lang="zh-CN" altLang="en-US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865" y="2853055"/>
            <a:ext cx="5596255" cy="3934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矩形 3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685800" y="533400"/>
            <a:ext cx="5799455" cy="39497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 3：买家意向查询页（</a:t>
            </a:r>
            <a:r>
              <a:rPr lang="en-US" alt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BuyerQuery.vue）</a:t>
            </a:r>
            <a:endParaRPr lang="en-US" alt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7706360" y="553085"/>
            <a:ext cx="3429000" cy="37909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路由路径：</a:t>
            </a:r>
            <a:r>
              <a:rPr lang="en-US" alt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/ buyer /</a:t>
            </a:r>
            <a:r>
              <a:rPr lang="en-US" alt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query                </a:t>
            </a:r>
            <a:endParaRPr lang="en-US" alt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圆角矩形 243"/>
          <p:cNvSpPr/>
          <p:nvPr>
            <p:custDataLst>
              <p:tags r:id="rId1"/>
            </p:custDataLst>
          </p:nvPr>
        </p:nvSpPr>
        <p:spPr>
          <a:xfrm>
            <a:off x="685800" y="1078230"/>
            <a:ext cx="7439660" cy="496570"/>
          </a:xfrm>
          <a:prstGeom prst="roundRect">
            <a:avLst>
              <a:gd name="adj" fmla="val 7101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功能定位</a:t>
            </a:r>
            <a:r>
              <a:rPr lang="zh-CN" altLang="en-US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：通过口令码查询购买意向状态，支持修改信息和撤销意向</a:t>
            </a:r>
            <a:r>
              <a:rPr lang="en-US" altLang="zh-CN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</a:t>
            </a:r>
            <a:endParaRPr lang="en-US" altLang="zh-CN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/>
        </p:txBody>
      </p:sp>
      <p:sp>
        <p:nvSpPr>
          <p:cNvPr id="378" name="圆角矩形 377"/>
          <p:cNvSpPr/>
          <p:nvPr/>
        </p:nvSpPr>
        <p:spPr>
          <a:xfrm>
            <a:off x="685800" y="1701165"/>
            <a:ext cx="7402195" cy="1545590"/>
          </a:xfrm>
          <a:prstGeom prst="roundRect">
            <a:avLst>
              <a:gd name="adj" fmla="val 3987"/>
            </a:avLst>
          </a:prstGeom>
          <a:solidFill>
            <a:srgbClr val="F8FAFC"/>
          </a:solidFill>
        </p:spPr>
        <p:txBody>
          <a:bodyPr/>
          <a:p>
            <a:r>
              <a:rPr lang="zh-CN" altLang="en-US" b="1"/>
              <a:t>流转逻辑：</a:t>
            </a:r>
            <a:r>
              <a:rPr lang="en-US" altLang="en-US"/>
              <a:t></a:t>
            </a:r>
            <a:r>
              <a:rPr lang="zh-CN" altLang="en-US" b="1"/>
              <a:t>页面加载时，自动读取 </a:t>
            </a:r>
            <a:r>
              <a:rPr lang="en-US" altLang="zh-CN" b="1"/>
              <a:t>localStorage </a:t>
            </a:r>
            <a:r>
              <a:rPr lang="zh-CN" altLang="en-US" b="1"/>
              <a:t>内保存的口令码，回填至查询输入框；点击</a:t>
            </a:r>
            <a:r>
              <a:rPr lang="en-US" altLang="zh-CN" b="1"/>
              <a:t>“</a:t>
            </a:r>
            <a:r>
              <a:rPr lang="zh-CN" altLang="en-US" b="1"/>
              <a:t>修改姓名电话</a:t>
            </a:r>
            <a:r>
              <a:rPr lang="en-US" altLang="zh-CN" b="1"/>
              <a:t>”</a:t>
            </a:r>
            <a:r>
              <a:rPr lang="zh-CN" altLang="en-US" b="1"/>
              <a:t>按钮修改</a:t>
            </a:r>
            <a:r>
              <a:rPr lang="zh-CN" altLang="en-US" b="1"/>
              <a:t>买家姓名、手机号，提交成功后，自动重新发起查询并刷新页面数据；点击</a:t>
            </a:r>
            <a:r>
              <a:rPr lang="en-US" altLang="zh-CN" b="1"/>
              <a:t>“</a:t>
            </a:r>
            <a:r>
              <a:rPr lang="zh-CN" altLang="en-US" b="1"/>
              <a:t>撤销意向</a:t>
            </a:r>
            <a:r>
              <a:rPr lang="en-US" altLang="zh-CN" b="1"/>
              <a:t>”</a:t>
            </a:r>
            <a:r>
              <a:rPr lang="zh-CN" altLang="en-US" b="1"/>
              <a:t>按钮，撤销意向操作完成后，清空本地存储的口令 </a:t>
            </a:r>
            <a:r>
              <a:rPr lang="en-US" altLang="zh-CN" b="1"/>
              <a:t>token，</a:t>
            </a:r>
            <a:r>
              <a:rPr lang="zh-CN" altLang="en-US" b="1"/>
              <a:t>页面重置为空白查询状态；点击返回商品页按钮，则跳转回买家商品页面。</a:t>
            </a:r>
            <a:endParaRPr lang="zh-CN" altLang="en-US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35" y="3175000"/>
            <a:ext cx="4591685" cy="372046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125" y="1916430"/>
            <a:ext cx="3808095" cy="19875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865" y="3933190"/>
            <a:ext cx="4255135" cy="28174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矩形 3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685800" y="533400"/>
            <a:ext cx="3886200" cy="3905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</a:t>
            </a:r>
            <a:r>
              <a:rPr lang="en-US" alt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4</a:t>
            </a:r>
            <a:r>
              <a:rPr lang="zh-CN" altLang="en-US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：卖家登录页（</a:t>
            </a:r>
            <a:r>
              <a:rPr lang="en-US" alt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SellerLogin.vue）</a:t>
            </a:r>
            <a:endParaRPr lang="zh-CN" altLang="en-US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7031990" y="621030"/>
            <a:ext cx="2037080" cy="37528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路由路径：</a:t>
            </a:r>
            <a:r>
              <a:rPr lang="en-US" alt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/ sell</a:t>
            </a:r>
            <a:r>
              <a:rPr lang="en-US" alt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er/ login               </a:t>
            </a:r>
            <a:endParaRPr lang="en-US" alt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圆角矩形 243"/>
          <p:cNvSpPr/>
          <p:nvPr>
            <p:custDataLst>
              <p:tags r:id="rId1"/>
            </p:custDataLst>
          </p:nvPr>
        </p:nvSpPr>
        <p:spPr>
          <a:xfrm>
            <a:off x="685800" y="1078230"/>
            <a:ext cx="7020560" cy="650875"/>
          </a:xfrm>
          <a:prstGeom prst="roundRect">
            <a:avLst>
              <a:gd name="adj" fmla="val 7101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功能定位</a:t>
            </a:r>
            <a:r>
              <a:rPr lang="zh-CN" altLang="en-US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：卖家身份认证登录</a:t>
            </a:r>
            <a:r>
              <a:rPr lang="en-US" altLang="zh-CN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</a:t>
            </a:r>
            <a:endParaRPr lang="en-US" altLang="zh-CN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/>
        </p:txBody>
      </p:sp>
      <p:sp>
        <p:nvSpPr>
          <p:cNvPr id="378" name="圆角矩形 377"/>
          <p:cNvSpPr/>
          <p:nvPr/>
        </p:nvSpPr>
        <p:spPr>
          <a:xfrm>
            <a:off x="685800" y="1701165"/>
            <a:ext cx="9594215" cy="768350"/>
          </a:xfrm>
          <a:prstGeom prst="roundRect">
            <a:avLst>
              <a:gd name="adj" fmla="val 3987"/>
            </a:avLst>
          </a:prstGeom>
          <a:solidFill>
            <a:srgbClr val="F8FAFC"/>
          </a:solidFill>
        </p:spPr>
        <p:txBody>
          <a:bodyPr/>
          <a:p>
            <a:r>
              <a:rPr lang="zh-CN" altLang="en-US" b="1"/>
              <a:t>流转逻辑：</a:t>
            </a:r>
            <a:r>
              <a:rPr lang="en-US" altLang="en-US" b="1"/>
              <a:t></a:t>
            </a:r>
            <a:r>
              <a:rPr lang="zh-CN" altLang="en-US"/>
              <a:t>登录成功 → 将用户名存入 </a:t>
            </a:r>
            <a:r>
              <a:rPr lang="en-US" altLang="zh-CN"/>
              <a:t>localStorage，</a:t>
            </a:r>
            <a:r>
              <a:rPr lang="zh-CN" altLang="en-US"/>
              <a:t>跳转至卖家管理后台（/</a:t>
            </a:r>
            <a:r>
              <a:rPr lang="en-US" altLang="zh-CN"/>
              <a:t>seller/home）</a:t>
            </a:r>
            <a:endParaRPr lang="en-US" altLang="zh-CN"/>
          </a:p>
          <a:p>
            <a:r>
              <a:rPr lang="en-US" altLang="en-US"/>
              <a:t>	       </a:t>
            </a:r>
            <a:r>
              <a:rPr lang="zh-CN" altLang="en-US"/>
              <a:t>登录失败 → </a:t>
            </a:r>
            <a:r>
              <a:rPr lang="en-US" altLang="zh-CN"/>
              <a:t>ElMessage </a:t>
            </a:r>
            <a:r>
              <a:rPr lang="zh-CN" altLang="en-US"/>
              <a:t>提示错误信息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" y="2420620"/>
            <a:ext cx="4668520" cy="37414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708910"/>
            <a:ext cx="3885565" cy="33216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矩形 3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685800" y="533400"/>
            <a:ext cx="3886200" cy="3905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 5：卖家管理后台（</a:t>
            </a:r>
            <a:r>
              <a:rPr lang="en-US" alt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SellerHome.vue）</a:t>
            </a:r>
            <a:endParaRPr lang="en-US" alt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7536180" y="621030"/>
            <a:ext cx="2037080" cy="37528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路由路径：</a:t>
            </a:r>
            <a:r>
              <a:rPr lang="en-US" alt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/ seller</a:t>
            </a:r>
            <a:r>
              <a:rPr lang="en-US" alt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/ home               </a:t>
            </a:r>
            <a:endParaRPr lang="en-US" alt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圆角矩形 243"/>
          <p:cNvSpPr/>
          <p:nvPr>
            <p:custDataLst>
              <p:tags r:id="rId1"/>
            </p:custDataLst>
          </p:nvPr>
        </p:nvSpPr>
        <p:spPr>
          <a:xfrm>
            <a:off x="685800" y="1078230"/>
            <a:ext cx="8769985" cy="470535"/>
          </a:xfrm>
          <a:prstGeom prst="roundRect">
            <a:avLst>
              <a:gd name="adj" fmla="val 7101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功能定位</a:t>
            </a:r>
            <a:r>
              <a:rPr lang="zh-CN" altLang="en-US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en-US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</a:t>
            </a:r>
            <a:r>
              <a:rPr lang="zh-CN" altLang="en-US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卖家核心管理页面，展示当前在售商品、发布新商品、管理商品状态</a:t>
            </a:r>
            <a:r>
              <a:rPr lang="en-US" altLang="zh-CN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</a:t>
            </a:r>
            <a:endParaRPr lang="en-US" altLang="zh-CN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/>
        </p:txBody>
      </p:sp>
      <p:sp>
        <p:nvSpPr>
          <p:cNvPr id="378" name="圆角矩形 377"/>
          <p:cNvSpPr/>
          <p:nvPr/>
        </p:nvSpPr>
        <p:spPr>
          <a:xfrm>
            <a:off x="685800" y="1628775"/>
            <a:ext cx="8621395" cy="2115185"/>
          </a:xfrm>
          <a:prstGeom prst="roundRect">
            <a:avLst>
              <a:gd name="adj" fmla="val 3987"/>
            </a:avLst>
          </a:prstGeom>
          <a:solidFill>
            <a:srgbClr val="F8FAFC"/>
          </a:solidFill>
        </p:spPr>
        <p:txBody>
          <a:bodyPr/>
          <a:p>
            <a:r>
              <a:rPr lang="zh-CN" altLang="en-US" b="1"/>
              <a:t>流转逻辑：</a:t>
            </a:r>
            <a:endParaRPr lang="zh-CN" altLang="en-US" b="1"/>
          </a:p>
          <a:p>
            <a:r>
              <a:rPr lang="en-US" altLang="en-US"/>
              <a:t></a:t>
            </a:r>
            <a:r>
              <a:rPr lang="en-US" altLang="en-US" b="1"/>
              <a:t>1. </a:t>
            </a:r>
            <a:r>
              <a:rPr lang="en-US" altLang="en-US"/>
              <a:t> </a:t>
            </a:r>
            <a:r>
              <a:rPr lang="zh-CN" altLang="en-US"/>
              <a:t>页面加载时校验登</a:t>
            </a:r>
            <a:r>
              <a:rPr lang="zh-CN" altLang="en-US"/>
              <a:t>录状态</a:t>
            </a:r>
            <a:endParaRPr lang="zh-CN" altLang="en-US"/>
          </a:p>
          <a:p>
            <a:r>
              <a:rPr lang="en-US" altLang="en-US"/>
              <a:t></a:t>
            </a:r>
            <a:r>
              <a:rPr lang="en-US" altLang="en-US" b="1"/>
              <a:t>2.</a:t>
            </a:r>
            <a:r>
              <a:rPr lang="en-US" altLang="en-US"/>
              <a:t> </a:t>
            </a:r>
            <a:r>
              <a:rPr lang="zh-CN" altLang="en-US"/>
              <a:t>点击"查看意向队列"→ 跳转至 </a:t>
            </a:r>
            <a:r>
              <a:rPr lang="en-US" altLang="zh-CN"/>
              <a:t>IntentList (</a:t>
            </a:r>
            <a:r>
              <a:rPr lang="zh-CN" altLang="en-US"/>
              <a:t>意向队列</a:t>
            </a:r>
            <a:r>
              <a:rPr lang="en-US" altLang="zh-CN"/>
              <a:t>)</a:t>
            </a:r>
            <a:r>
              <a:rPr lang="zh-CN" altLang="en-US"/>
              <a:t>页面（携带商品 </a:t>
            </a:r>
            <a:r>
              <a:rPr lang="en-US" altLang="zh-CN"/>
              <a:t>ID </a:t>
            </a:r>
            <a:r>
              <a:rPr lang="zh-CN" altLang="en-US"/>
              <a:t>参数）</a:t>
            </a:r>
            <a:endParaRPr lang="zh-CN" altLang="en-US"/>
          </a:p>
          <a:p>
            <a:r>
              <a:rPr lang="en-US" altLang="en-US"/>
              <a:t></a:t>
            </a:r>
            <a:r>
              <a:rPr lang="en-US" altLang="en-US" b="1"/>
              <a:t>3. </a:t>
            </a:r>
            <a:r>
              <a:rPr lang="zh-CN" altLang="en-US"/>
              <a:t>冻结/解冻/下架操作后自动刷新当前商品数据</a:t>
            </a:r>
            <a:endParaRPr lang="zh-CN" altLang="en-US"/>
          </a:p>
          <a:p>
            <a:r>
              <a:rPr lang="en-US" altLang="en-US"/>
              <a:t></a:t>
            </a:r>
            <a:r>
              <a:rPr lang="en-US" altLang="en-US" b="1"/>
              <a:t>4. </a:t>
            </a:r>
            <a:r>
              <a:rPr lang="zh-CN" altLang="en-US"/>
              <a:t>发布新商品成功后自动刷新商品列表</a:t>
            </a:r>
            <a:endParaRPr lang="zh-CN" altLang="en-US"/>
          </a:p>
          <a:p>
            <a:r>
              <a:rPr lang="en-US" altLang="en-US"/>
              <a:t></a:t>
            </a:r>
            <a:r>
              <a:rPr lang="en-US" altLang="en-US" b="1"/>
              <a:t>5.</a:t>
            </a:r>
            <a:r>
              <a:rPr lang="en-US" altLang="en-US"/>
              <a:t> </a:t>
            </a:r>
            <a:r>
              <a:rPr lang="zh-CN" altLang="en-US"/>
              <a:t>点击"历史下架商品"→ </a:t>
            </a:r>
            <a:r>
              <a:rPr lang="en-US" altLang="zh-CN"/>
              <a:t>HistoryProduct</a:t>
            </a:r>
            <a:r>
              <a:rPr lang="zh-CN" altLang="en-US"/>
              <a:t>页</a:t>
            </a:r>
            <a:r>
              <a:rPr lang="en-US" altLang="zh-CN"/>
              <a:t>；</a:t>
            </a:r>
            <a:r>
              <a:rPr lang="zh-CN" altLang="en-US"/>
              <a:t>点击"修改密码"→ </a:t>
            </a:r>
            <a:r>
              <a:rPr lang="en-US" altLang="zh-CN"/>
              <a:t>ModifyPwd</a:t>
            </a:r>
            <a:endParaRPr lang="en-US" altLang="zh-CN"/>
          </a:p>
          <a:p>
            <a:r>
              <a:rPr lang="en-US" altLang="en-US"/>
              <a:t></a:t>
            </a:r>
            <a:r>
              <a:rPr lang="en-US" altLang="en-US" b="1"/>
              <a:t>6.</a:t>
            </a:r>
            <a:r>
              <a:rPr lang="en-US" altLang="en-US"/>
              <a:t> </a:t>
            </a:r>
            <a:r>
              <a:rPr lang="zh-CN" altLang="en-US"/>
              <a:t>点击</a:t>
            </a:r>
            <a:r>
              <a:rPr lang="en-US" altLang="zh-CN"/>
              <a:t>“</a:t>
            </a:r>
            <a:r>
              <a:rPr lang="zh-CN" altLang="en-US"/>
              <a:t>退出登录</a:t>
            </a:r>
            <a:r>
              <a:rPr lang="en-US" altLang="zh-CN"/>
              <a:t>”</a:t>
            </a:r>
            <a:r>
              <a:rPr lang="zh-CN" altLang="en-US"/>
              <a:t> → 回到登录页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225" y="3284855"/>
            <a:ext cx="4015740" cy="34772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矩形 3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685800" y="533400"/>
            <a:ext cx="3886200" cy="3905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 5：卖家管理后台跳转</a:t>
            </a:r>
            <a:r>
              <a:rPr lang="zh-CN" altLang="en-US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</a:t>
            </a:r>
            <a:endParaRPr lang="zh-CN" altLang="en-US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5591810" y="620395"/>
            <a:ext cx="3361055" cy="39116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路由路径：</a:t>
            </a:r>
            <a:r>
              <a:rPr lang="en-US" alt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/ seller</a:t>
            </a:r>
            <a:r>
              <a:rPr lang="en-US" alt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/ home               </a:t>
            </a:r>
            <a:endParaRPr lang="en-US" alt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035" y="980440"/>
            <a:ext cx="4049395" cy="40138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920" y="5135245"/>
            <a:ext cx="7635240" cy="14744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65" y="923925"/>
            <a:ext cx="6301105" cy="23761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b="17411"/>
          <a:stretch>
            <a:fillRect/>
          </a:stretch>
        </p:blipFill>
        <p:spPr>
          <a:xfrm>
            <a:off x="4943475" y="3357245"/>
            <a:ext cx="3891280" cy="1656715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1199515" y="1341120"/>
            <a:ext cx="3709035" cy="143510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>
            <a:off x="1055370" y="1772920"/>
            <a:ext cx="4135120" cy="2183765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2611120" y="2341880"/>
            <a:ext cx="2044700" cy="2887345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908550" y="1788795"/>
            <a:ext cx="15195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 b="1"/>
              <a:t>路由路径：</a:t>
            </a:r>
            <a:endParaRPr lang="zh-CN" altLang="en-US" sz="1500" b="1"/>
          </a:p>
          <a:p>
            <a:r>
              <a:rPr lang="en-US" altLang="zh-CN" sz="1500" b="1"/>
              <a:t>seller/history</a:t>
            </a:r>
            <a:endParaRPr lang="en-US" altLang="zh-CN" sz="1500" b="1"/>
          </a:p>
        </p:txBody>
      </p:sp>
      <p:sp>
        <p:nvSpPr>
          <p:cNvPr id="10" name="文本框 9"/>
          <p:cNvSpPr txBox="1"/>
          <p:nvPr/>
        </p:nvSpPr>
        <p:spPr>
          <a:xfrm>
            <a:off x="8688070" y="3933190"/>
            <a:ext cx="169100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 b="1"/>
              <a:t>路由路径：</a:t>
            </a:r>
            <a:endParaRPr lang="zh-CN" altLang="en-US" sz="1500" b="1"/>
          </a:p>
          <a:p>
            <a:r>
              <a:rPr lang="en-US" altLang="zh-CN" sz="1500" b="1"/>
              <a:t>seller/password</a:t>
            </a:r>
            <a:endParaRPr lang="en-US" altLang="zh-CN" sz="15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矩形 315"/>
          <p:cNvSpPr/>
          <p:nvPr/>
        </p:nvSpPr>
        <p:spPr>
          <a:xfrm>
            <a:off x="-215265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685800" y="533400"/>
            <a:ext cx="3886200" cy="3905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 6：意向队列页（</a:t>
            </a:r>
            <a:r>
              <a:rPr lang="en-US" alt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IntentList.vue）</a:t>
            </a:r>
            <a:endParaRPr lang="en-US" alt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6887845" y="621030"/>
            <a:ext cx="4133215" cy="33337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路由路径：</a:t>
            </a:r>
            <a:r>
              <a:rPr lang="en-US" alt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/ seller/ intent/:productId               </a:t>
            </a:r>
            <a:endParaRPr lang="en-US" alt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圆角矩形 243"/>
          <p:cNvSpPr/>
          <p:nvPr>
            <p:custDataLst>
              <p:tags r:id="rId1"/>
            </p:custDataLst>
          </p:nvPr>
        </p:nvSpPr>
        <p:spPr>
          <a:xfrm>
            <a:off x="685800" y="1078230"/>
            <a:ext cx="8769985" cy="470535"/>
          </a:xfrm>
          <a:prstGeom prst="roundRect">
            <a:avLst>
              <a:gd name="adj" fmla="val 7101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r>
              <a:rPr lang="zh-CN" altLang="en-US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功能定位</a:t>
            </a:r>
            <a:r>
              <a:rPr lang="zh-CN" altLang="en-US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en-US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</a:t>
            </a:r>
            <a:r>
              <a:rPr lang="zh-CN" altLang="en-US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展示某商品的所有购买意向队列，卖家可标记交易结果</a:t>
            </a:r>
            <a:r>
              <a:rPr lang="en-US" altLang="zh-CN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</a:t>
            </a:r>
            <a:endParaRPr lang="en-US" altLang="zh-CN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/>
        </p:txBody>
      </p:sp>
      <p:sp>
        <p:nvSpPr>
          <p:cNvPr id="378" name="圆角矩形 377"/>
          <p:cNvSpPr/>
          <p:nvPr/>
        </p:nvSpPr>
        <p:spPr>
          <a:xfrm>
            <a:off x="685800" y="1628775"/>
            <a:ext cx="8696960" cy="1820545"/>
          </a:xfrm>
          <a:prstGeom prst="roundRect">
            <a:avLst>
              <a:gd name="adj" fmla="val 3987"/>
            </a:avLst>
          </a:prstGeom>
          <a:solidFill>
            <a:srgbClr val="F8FAFC"/>
          </a:solidFill>
        </p:spPr>
        <p:txBody>
          <a:bodyPr/>
          <a:p>
            <a:r>
              <a:rPr lang="zh-CN" altLang="en-US" b="1"/>
              <a:t>流转逻辑：</a:t>
            </a:r>
            <a:endParaRPr lang="zh-CN" altLang="en-US" b="1"/>
          </a:p>
          <a:p>
            <a:r>
              <a:rPr lang="en-US" altLang="en-US"/>
              <a:t></a:t>
            </a:r>
            <a:r>
              <a:rPr lang="en-US" altLang="en-US" b="1"/>
              <a:t>1. </a:t>
            </a:r>
            <a:r>
              <a:rPr lang="en-US" altLang="en-US"/>
              <a:t> </a:t>
            </a:r>
            <a:r>
              <a:rPr lang="zh-CN" altLang="en-US">
                <a:sym typeface="+mn-ea"/>
              </a:rPr>
              <a:t>页面加载时校验登录状态和商品 </a:t>
            </a:r>
            <a:r>
              <a:rPr lang="en-US" altLang="zh-CN">
                <a:sym typeface="+mn-ea"/>
              </a:rPr>
              <a:t>ID </a:t>
            </a:r>
            <a:r>
              <a:rPr lang="zh-CN" altLang="en-US">
                <a:sym typeface="+mn-ea"/>
              </a:rPr>
              <a:t>参数</a:t>
            </a:r>
            <a:endParaRPr lang="zh-CN" altLang="en-US"/>
          </a:p>
          <a:p>
            <a:r>
              <a:rPr lang="en-US" altLang="en-US"/>
              <a:t></a:t>
            </a:r>
            <a:r>
              <a:rPr lang="en-US" altLang="en-US" b="1"/>
              <a:t>2.</a:t>
            </a:r>
            <a:r>
              <a:rPr lang="en-US" altLang="en-US"/>
              <a:t> </a:t>
            </a:r>
            <a:r>
              <a:rPr lang="zh-CN" altLang="en-US"/>
              <a:t>可对交易状态进行修改，</a:t>
            </a:r>
            <a:r>
              <a:rPr lang="zh-CN" altLang="en-US">
                <a:sym typeface="+mn-ea"/>
              </a:rPr>
              <a:t>标记交易结果后自动刷新列表</a:t>
            </a:r>
            <a:endParaRPr lang="zh-CN" altLang="en-US"/>
          </a:p>
          <a:p>
            <a:r>
              <a:rPr lang="en-US" altLang="en-US"/>
              <a:t></a:t>
            </a:r>
            <a:r>
              <a:rPr lang="en-US" altLang="en-US" b="1"/>
              <a:t>3. </a:t>
            </a:r>
            <a:r>
              <a:rPr lang="zh-CN" altLang="en-US"/>
              <a:t>点击</a:t>
            </a:r>
            <a:r>
              <a:rPr lang="en-US" altLang="zh-CN"/>
              <a:t>”</a:t>
            </a:r>
            <a:r>
              <a:rPr lang="en-US" altLang="zh-CN"/>
              <a:t>back“</a:t>
            </a:r>
            <a:r>
              <a:rPr lang="zh-CN" altLang="en-US"/>
              <a:t> → 回到 </a:t>
            </a:r>
            <a:r>
              <a:rPr lang="en-US" altLang="zh-CN"/>
              <a:t>SellerHome</a:t>
            </a:r>
            <a:r>
              <a:rPr lang="zh-CN" altLang="en-US"/>
              <a:t>（买家首页）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en-US" altLang="zh-CN" b="1"/>
              <a:t>4. </a:t>
            </a:r>
            <a:r>
              <a:rPr lang="zh-CN" altLang="en-US"/>
              <a:t>点击</a:t>
            </a:r>
            <a:r>
              <a:rPr lang="en-US" altLang="zh-CN"/>
              <a:t>”</a:t>
            </a:r>
            <a:r>
              <a:rPr lang="zh-CN" altLang="en-US"/>
              <a:t>交易成功</a:t>
            </a:r>
            <a:r>
              <a:rPr lang="en-US" altLang="zh-CN"/>
              <a:t>“</a:t>
            </a:r>
            <a:r>
              <a:rPr lang="zh-CN" altLang="en-US"/>
              <a:t>按钮</a:t>
            </a:r>
            <a:r>
              <a:rPr lang="en-US" altLang="zh-CN"/>
              <a:t> </a:t>
            </a:r>
            <a:r>
              <a:rPr lang="zh-CN" altLang="en-US">
                <a:sym typeface="+mn-ea"/>
              </a:rPr>
              <a:t>→</a:t>
            </a:r>
            <a:r>
              <a:rPr lang="zh-CN" altLang="en-US">
                <a:sym typeface="+mn-ea"/>
              </a:rPr>
              <a:t>交易状态更新为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成功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，并且下架该商品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</a:t>
            </a:r>
            <a:r>
              <a:rPr lang="en-US" altLang="zh-CN" b="1">
                <a:sym typeface="+mn-ea"/>
              </a:rPr>
              <a:t>5.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点击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交易失败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按钮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→</a:t>
            </a:r>
            <a:r>
              <a:rPr lang="zh-CN" altLang="en-US">
                <a:sym typeface="+mn-ea"/>
              </a:rPr>
              <a:t>交易状态更新为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失败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，商品状态由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冻结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变为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在售</a:t>
            </a:r>
            <a:r>
              <a:rPr lang="en-US" altLang="zh-CN">
                <a:sym typeface="+mn-ea"/>
              </a:rPr>
              <a:t>“</a:t>
            </a:r>
            <a:endParaRPr lang="zh-CN" altLang="en-US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3861435"/>
            <a:ext cx="11919585" cy="23018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矩形 4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685800" y="533400"/>
            <a:ext cx="323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10439400" y="6477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圆角矩形 433"/>
          <p:cNvSpPr/>
          <p:nvPr/>
        </p:nvSpPr>
        <p:spPr>
          <a:xfrm>
            <a:off x="685800" y="1143000"/>
            <a:ext cx="10820400" cy="381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</p:spPr>
        <p:txBody>
          <a:bodyPr/>
          <a:p/>
        </p:txBody>
      </p:sp>
      <p:pic>
        <p:nvPicPr>
          <p:cNvPr id="435" name="图片 43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3525" y="1268730"/>
            <a:ext cx="10958830" cy="36531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 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15" name="矩形 114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685800" y="1104900"/>
            <a:ext cx="4191000" cy="1828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 spc="-300">
                <a:gradFill>
                  <a:gsLst>
                    <a:gs pos="0">
                      <a:srgbClr val="2563EB"/>
                    </a:gs>
                    <a:gs pos="100000">
                      <a:srgbClr val="60A5FA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2000" b="1" spc="-300">
              <a:gradFill>
                <a:gsLst>
                  <a:gs pos="0">
                    <a:srgbClr val="2563EB"/>
                  </a:gs>
                  <a:gs pos="100000">
                    <a:srgbClr val="60A5FA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685800" y="3238500"/>
            <a:ext cx="685800" cy="38100"/>
          </a:xfrm>
          <a:prstGeom prst="rect">
            <a:avLst/>
          </a:prstGeom>
          <a:solidFill>
            <a:srgbClr val="2563EB"/>
          </a:solidFill>
        </p:spPr>
        <p:txBody>
          <a:bodyPr/>
          <a:p/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685800" y="3581400"/>
            <a:ext cx="4191000" cy="126873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页面实现</a:t>
            </a:r>
            <a:endParaRPr lang="zh-CN" sz="4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 1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685800" y="533400"/>
            <a:ext cx="19431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开发框架与运行</a:t>
            </a: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逻辑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圆角矩形 153"/>
          <p:cNvSpPr/>
          <p:nvPr>
            <p:custDataLst>
              <p:tags r:id="rId1"/>
            </p:custDataLst>
          </p:nvPr>
        </p:nvSpPr>
        <p:spPr>
          <a:xfrm>
            <a:off x="685800" y="1143000"/>
            <a:ext cx="9332595" cy="1332865"/>
          </a:xfrm>
          <a:prstGeom prst="roundRect">
            <a:avLst>
              <a:gd name="adj" fmla="val 8000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155" name="文本框 154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876300" y="1276350"/>
            <a:ext cx="285750" cy="923925"/>
          </a:xfrm>
          <a:prstGeom prst="rect">
            <a:avLst/>
          </a:prstGeom>
        </p:spPr>
        <p:txBody>
          <a:bodyPr wrap="none" lIns="0" tIns="28575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125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文本框 155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1333500" y="1276350"/>
            <a:ext cx="145732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开发框架：</a:t>
            </a:r>
            <a:r>
              <a:rPr lang="en-US" alt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Vue 3 </a:t>
            </a:r>
            <a:endParaRPr lang="en-US" alt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1333500" y="1533525"/>
            <a:ext cx="8492490" cy="95377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60000"/>
              </a:lnSpc>
            </a:pP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项目前端使用 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Vue3，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全部页面组件采用&lt;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script setup&gt;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语法，通过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ref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维护响应式数据。页面加载时，在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onMounted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生命周期钩子中请求后端数据、校验登录状态。父子组件使用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props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emits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通信，也可借助路由参数</a:t>
            </a:r>
            <a:endParaRPr lang="zh-CN" altLang="en-US"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传递数据。</a:t>
            </a:r>
            <a:endParaRPr lang="zh-CN" altLang="en-US"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>
            <p:custDataLst>
              <p:tags r:id="rId5"/>
            </p:custDataLst>
          </p:nvPr>
        </p:nvSpPr>
        <p:spPr>
          <a:xfrm>
            <a:off x="685800" y="2466975"/>
            <a:ext cx="9321800" cy="1282065"/>
          </a:xfrm>
          <a:prstGeom prst="roundRect">
            <a:avLst>
              <a:gd name="adj" fmla="val 8065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876300" y="2600325"/>
            <a:ext cx="285750" cy="914400"/>
          </a:xfrm>
          <a:prstGeom prst="rect">
            <a:avLst/>
          </a:prstGeom>
        </p:spPr>
        <p:txBody>
          <a:bodyPr wrap="none" lIns="0" tIns="28575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125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1333500" y="2600325"/>
            <a:ext cx="14763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构建工具：</a:t>
            </a:r>
            <a:r>
              <a:rPr lang="en-US" alt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Vite </a:t>
            </a:r>
            <a:r>
              <a:rPr lang="zh-CN" alt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构建与开发服务器</a:t>
            </a:r>
            <a:endParaRPr lang="zh-CN" altLang="en-US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1333500" y="2857500"/>
            <a:ext cx="8492490" cy="73533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项目基于 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Vite 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搭建开发环境，修改代码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时，页面可以实时刷新，同时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</a:t>
            </a:r>
            <a:r>
              <a:rPr 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proxy </a:t>
            </a:r>
            <a:r>
              <a:rPr 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代理，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解决开发时的跨域问题。</a:t>
            </a:r>
            <a:endParaRPr lang="zh-CN" altLang="en-US"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圆角矩形 163"/>
          <p:cNvSpPr/>
          <p:nvPr>
            <p:custDataLst>
              <p:tags r:id="rId9"/>
            </p:custDataLst>
          </p:nvPr>
        </p:nvSpPr>
        <p:spPr>
          <a:xfrm>
            <a:off x="685800" y="3781425"/>
            <a:ext cx="9321800" cy="1228725"/>
          </a:xfrm>
          <a:prstGeom prst="roundRect">
            <a:avLst>
              <a:gd name="adj" fmla="val 8000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876300" y="3914775"/>
            <a:ext cx="285750" cy="923925"/>
          </a:xfrm>
          <a:prstGeom prst="rect">
            <a:avLst/>
          </a:prstGeom>
        </p:spPr>
        <p:txBody>
          <a:bodyPr wrap="none" lIns="0" tIns="28575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125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1333500" y="3914775"/>
            <a:ext cx="1924050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alt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Vue Router </a:t>
            </a:r>
            <a:r>
              <a:rPr lang="zh-CN" alt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路由管理</a:t>
            </a:r>
            <a:endParaRPr lang="zh-CN" altLang="en-US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1333500" y="4171950"/>
            <a:ext cx="8493125" cy="6000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60000"/>
              </a:lnSpc>
            </a:pP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使用 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Vue Router 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管理页面跳转，采用 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History 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模式，地址栏不带 #。页面组件使用路由懒加载，实现按需加载，提升首页加载速度。</a:t>
            </a:r>
            <a:endParaRPr lang="zh-CN" altLang="en-US"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圆角矩形 168"/>
          <p:cNvSpPr/>
          <p:nvPr>
            <p:custDataLst>
              <p:tags r:id="rId13"/>
            </p:custDataLst>
          </p:nvPr>
        </p:nvSpPr>
        <p:spPr>
          <a:xfrm>
            <a:off x="685800" y="5105400"/>
            <a:ext cx="9333230" cy="1170940"/>
          </a:xfrm>
          <a:prstGeom prst="roundRect">
            <a:avLst>
              <a:gd name="adj" fmla="val 8065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170" name="文本框 169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876300" y="5238750"/>
            <a:ext cx="285750" cy="914400"/>
          </a:xfrm>
          <a:prstGeom prst="rect">
            <a:avLst/>
          </a:prstGeom>
        </p:spPr>
        <p:txBody>
          <a:bodyPr wrap="none" lIns="0" tIns="28575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125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1333500" y="5238750"/>
            <a:ext cx="17811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alt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Axios </a:t>
            </a:r>
            <a:r>
              <a:rPr lang="zh-CN" alt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网络请求封装</a:t>
            </a:r>
            <a:endParaRPr lang="zh-CN" altLang="en-US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1333500" y="5495925"/>
            <a:ext cx="8492490" cy="72263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 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Axios 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进行统一封装，设置请求超时时间。通过响应拦截器统一处理后端返回结果，成功则返回数据，失败弹出错误提示，网络异常也统一提示。所有业务接口集中管理，一共封装了 14 个接口函数。</a:t>
            </a:r>
            <a:endParaRPr lang="zh-CN" altLang="en-US"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685800" y="533400"/>
            <a:ext cx="29146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页面核心复用</a:t>
            </a: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组件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10591800" y="647700"/>
            <a:ext cx="91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页面实现过程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390650" y="5095875"/>
            <a:ext cx="9525" cy="590550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4" name="文本框 3"/>
          <p:cNvSpPr txBox="1"/>
          <p:nvPr/>
        </p:nvSpPr>
        <p:spPr>
          <a:xfrm>
            <a:off x="767080" y="1988820"/>
            <a:ext cx="10156825" cy="2722880"/>
          </a:xfrm>
          <a:prstGeom prst="rect">
            <a:avLst/>
          </a:prstGeom>
          <a:solidFill>
            <a:srgbClr val="F8FAFC"/>
          </a:solidFill>
        </p:spPr>
        <p:txBody>
          <a:bodyPr wrap="square" rtlCol="0">
            <a:spAutoFit/>
          </a:bodyPr>
          <a:p>
            <a:r>
              <a:rPr lang="zh-CN" altLang="en-US" sz="19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核心复用组件如下：</a:t>
            </a:r>
            <a:endParaRPr lang="zh-CN" altLang="en-US" sz="19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r>
              <a:rPr lang="en-US" altLang="zh-CN" sz="19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 </a:t>
            </a:r>
            <a:r>
              <a:rPr lang="zh-CN" altLang="en-US" sz="19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布局组件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el-container、el-card（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卡片容器）、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el-page-header（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页头导航）</a:t>
            </a:r>
            <a:endParaRPr lang="zh-CN" altLang="en-US" sz="19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r>
              <a:rPr lang="en-US" altLang="zh-CN" sz="19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2. </a:t>
            </a:r>
            <a:r>
              <a:rPr lang="zh-CN" altLang="en-US" sz="19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表单组件：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el-form / el-form-item（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表单布局）、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el-input（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输入框）、</a:t>
            </a:r>
            <a:endParaRPr lang="zh-CN" altLang="en-US" sz="19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914400" lvl="2" indent="457200"/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el-input-number（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数字输入）、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el-button（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按钮）</a:t>
            </a:r>
            <a:endParaRPr lang="zh-CN" altLang="en-US" sz="19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r>
              <a:rPr lang="en-US" altLang="en-US" sz="19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3. </a:t>
            </a:r>
            <a:r>
              <a:rPr lang="zh-CN" altLang="en-US" sz="19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数据展示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el-table / el-table-column（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数据表格）、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el-image（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图片展示）、</a:t>
            </a:r>
            <a:endParaRPr lang="zh-CN" altLang="en-US" sz="19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914400" lvl="2" indent="457200"/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el-empty（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空状态）、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el-divider（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分割线）</a:t>
            </a:r>
            <a:endParaRPr lang="zh-CN" altLang="en-US" sz="19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r>
              <a:rPr lang="en-US" altLang="zh-CN" sz="19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4. </a:t>
            </a:r>
            <a:r>
              <a:rPr lang="zh-CN" altLang="en-US" sz="19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反馈组件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el-dialog（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弹窗）、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ElMessage（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消息提示）、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ElMessageBox（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确认弹窗）</a:t>
            </a:r>
            <a:endParaRPr lang="zh-CN" altLang="en-US" sz="19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r>
              <a:rPr lang="en-US" altLang="zh-CN" sz="19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5. </a:t>
            </a:r>
            <a:r>
              <a:rPr lang="zh-CN" altLang="en-US" sz="19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导航组件：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el-space（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间距布局）、</a:t>
            </a:r>
            <a:r>
              <a:rPr lang="en-US" altLang="zh-CN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el-page-header（</a:t>
            </a:r>
            <a:r>
              <a:rPr lang="zh-CN" altLang="en-US" sz="1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返回导航）</a:t>
            </a:r>
            <a:endParaRPr lang="zh-CN" altLang="en-US" sz="19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endParaRPr lang="zh-CN" altLang="en-US" sz="19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5325" y="1145540"/>
            <a:ext cx="10086975" cy="706755"/>
          </a:xfrm>
          <a:prstGeom prst="rect">
            <a:avLst/>
          </a:prstGeom>
          <a:solidFill>
            <a:srgbClr val="F0F4FE"/>
          </a:solidFill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本项目大量复用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Element Plus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提供的内置组件，由于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Element Plus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已经封装好表格、弹窗、表单校验等组件，同时自带响应式、异常空状态等能力，可减少重复开发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矩形 1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551180" y="260985"/>
            <a:ext cx="4610735" cy="43370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各页面核心组件与实现要点</a:t>
            </a:r>
            <a:endParaRPr lang="zh-CN" sz="2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390650" y="5095875"/>
            <a:ext cx="9525" cy="590550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143" name="圆角矩形 142"/>
          <p:cNvSpPr/>
          <p:nvPr/>
        </p:nvSpPr>
        <p:spPr>
          <a:xfrm>
            <a:off x="695325" y="1412875"/>
            <a:ext cx="3969385" cy="1359535"/>
          </a:xfrm>
          <a:prstGeom prst="roundRect">
            <a:avLst>
              <a:gd name="adj" fmla="val 6383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纯静态页面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使用原生 </a:t>
            </a:r>
            <a:r>
              <a:rPr lang="en-US" altLang="zh-CN"/>
              <a:t>button</a:t>
            </a:r>
            <a:r>
              <a:rPr lang="zh-CN" altLang="en-US"/>
              <a:t>搭配 </a:t>
            </a:r>
            <a:r>
              <a:rPr lang="en-US" altLang="zh-CN"/>
              <a:t>scoped CSS </a:t>
            </a:r>
            <a:r>
              <a:rPr lang="zh-CN" altLang="en-US"/>
              <a:t>编写样式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通过 $</a:t>
            </a:r>
            <a:r>
              <a:rPr lang="en-US" altLang="zh-CN"/>
              <a:t>router.push() </a:t>
            </a:r>
            <a:r>
              <a:rPr lang="zh-CN" altLang="en-US"/>
              <a:t>实现路由跳转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80" y="3068955"/>
            <a:ext cx="4358005" cy="3534410"/>
          </a:xfrm>
          <a:prstGeom prst="rect">
            <a:avLst/>
          </a:prstGeom>
        </p:spPr>
      </p:pic>
      <p:sp>
        <p:nvSpPr>
          <p:cNvPr id="2" name="文本框 1" descr="{&quot;isTemplate&quot;:true,&quot;type&quot;:&quot;text&quot;}"/>
          <p:cNvSpPr txBox="1"/>
          <p:nvPr/>
        </p:nvSpPr>
        <p:spPr>
          <a:xfrm>
            <a:off x="695325" y="836930"/>
            <a:ext cx="4501515" cy="46609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HomeIndex.vue（</a:t>
            </a: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系统首页）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endParaRPr lang="zh-CN" sz="2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 flipH="1" flipV="1">
            <a:off x="5196840" y="1196975"/>
            <a:ext cx="85725" cy="5354955"/>
          </a:xfrm>
          <a:prstGeom prst="rect">
            <a:avLst/>
          </a:prstGeom>
          <a:solidFill>
            <a:srgbClr val="C3DCFB"/>
          </a:solidFill>
          <a:ln>
            <a:noFill/>
          </a:ln>
        </p:spPr>
        <p:txBody>
          <a:bodyPr/>
          <a:p/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5964555" y="836930"/>
            <a:ext cx="4501515" cy="46609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altLang="zh-CN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BuyerHome.vue（</a:t>
            </a:r>
            <a:r>
              <a:rPr lang="zh-CN" altLang="en-US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买家商品页）</a:t>
            </a:r>
            <a:endParaRPr lang="zh-CN" altLang="en-US" sz="2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735955" y="1268730"/>
            <a:ext cx="5913755" cy="2400300"/>
          </a:xfrm>
          <a:prstGeom prst="roundRect">
            <a:avLst>
              <a:gd name="adj" fmla="val 6383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 </a:t>
            </a:r>
            <a:r>
              <a:rPr lang="en-US" altLang="zh-CN"/>
              <a:t>el-card </a:t>
            </a:r>
            <a:r>
              <a:rPr lang="zh-CN" altLang="en-US"/>
              <a:t>双卡片布局展示商品信息和意向表单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通过</a:t>
            </a:r>
            <a:r>
              <a:rPr lang="zh-CN" altLang="en-US"/>
              <a:t>接口加载商品数据，</a:t>
            </a:r>
            <a:r>
              <a:rPr lang="en-US" altLang="zh-CN"/>
              <a:t>v-if/v-else </a:t>
            </a:r>
            <a:r>
              <a:rPr lang="zh-CN" altLang="en-US"/>
              <a:t>控制有商品/无商品两种视图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表单使用 </a:t>
            </a:r>
            <a:r>
              <a:rPr lang="en-US" altLang="zh-CN"/>
              <a:t>v-model </a:t>
            </a:r>
            <a:r>
              <a:rPr lang="zh-CN" altLang="en-US"/>
              <a:t>双向绑定，并做必填校验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引用 </a:t>
            </a:r>
            <a:r>
              <a:rPr lang="en-US" altLang="zh-CN"/>
              <a:t>PRODUCT_STATUS</a:t>
            </a:r>
            <a:r>
              <a:rPr lang="zh-CN" altLang="en-US"/>
              <a:t>常量映射商品</a:t>
            </a:r>
            <a:r>
              <a:rPr lang="zh-CN" altLang="en-US"/>
              <a:t>状态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5036" b="3716"/>
          <a:stretch>
            <a:fillRect/>
          </a:stretch>
        </p:blipFill>
        <p:spPr>
          <a:xfrm>
            <a:off x="5697220" y="3529330"/>
            <a:ext cx="5137150" cy="32480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矩形 134"/>
          <p:cNvSpPr/>
          <p:nvPr/>
        </p:nvSpPr>
        <p:spPr>
          <a:xfrm>
            <a:off x="-24765" y="4445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551180" y="260985"/>
            <a:ext cx="4610735" cy="43370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各页面核心组件与实现要点</a:t>
            </a:r>
            <a:endParaRPr lang="zh-CN" sz="2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390650" y="5095875"/>
            <a:ext cx="9525" cy="590550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143" name="圆角矩形 142"/>
          <p:cNvSpPr/>
          <p:nvPr/>
        </p:nvSpPr>
        <p:spPr>
          <a:xfrm>
            <a:off x="191135" y="1268730"/>
            <a:ext cx="7422515" cy="1446530"/>
          </a:xfrm>
          <a:prstGeom prst="roundRect">
            <a:avLst>
              <a:gd name="adj" fmla="val 6383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 </a:t>
            </a:r>
            <a:r>
              <a:rPr lang="en-US" altLang="zh-CN"/>
              <a:t>el-card </a:t>
            </a:r>
            <a:r>
              <a:rPr lang="zh-CN" altLang="en-US"/>
              <a:t>卡片布局，</a:t>
            </a:r>
            <a:r>
              <a:rPr lang="zh-CN" altLang="en-US">
                <a:sym typeface="+mn-ea"/>
              </a:rPr>
              <a:t>封装</a:t>
            </a:r>
            <a:r>
              <a:rPr lang="zh-CN" altLang="en-US"/>
              <a:t>查询表单、操作按钮、查询结果信息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查询结果区域使用 </a:t>
            </a:r>
            <a:r>
              <a:rPr lang="en-US" altLang="zh-CN"/>
              <a:t>v-if </a:t>
            </a:r>
            <a:r>
              <a:rPr lang="zh-CN" altLang="en-US"/>
              <a:t>条件渲染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 </a:t>
            </a:r>
            <a:r>
              <a:rPr lang="en-US" altLang="zh-CN"/>
              <a:t>el-dialog </a:t>
            </a:r>
            <a:r>
              <a:rPr lang="zh-CN" altLang="en-US"/>
              <a:t>弹窗组件实现修改信息功能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撤销操作使用 </a:t>
            </a:r>
            <a:r>
              <a:rPr lang="en-US" altLang="zh-CN"/>
              <a:t>Element Plus </a:t>
            </a:r>
            <a:r>
              <a:rPr lang="zh-CN" altLang="en-US"/>
              <a:t>的消息确认弹窗</a:t>
            </a:r>
            <a:endParaRPr lang="zh-CN" altLang="en-US"/>
          </a:p>
        </p:txBody>
      </p:sp>
      <p:sp>
        <p:nvSpPr>
          <p:cNvPr id="2" name="文本框 1" descr="{&quot;isTemplate&quot;:true,&quot;type&quot;:&quot;text&quot;}"/>
          <p:cNvSpPr txBox="1"/>
          <p:nvPr/>
        </p:nvSpPr>
        <p:spPr>
          <a:xfrm>
            <a:off x="695325" y="836930"/>
            <a:ext cx="4501515" cy="46609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altLang="zh-CN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BuyerQuery.vue（</a:t>
            </a:r>
            <a:r>
              <a:rPr lang="zh-CN" altLang="en-US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买家意向查询页）</a:t>
            </a:r>
            <a:endParaRPr lang="zh-CN" altLang="en-US" sz="2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5041" b="5271"/>
          <a:stretch>
            <a:fillRect/>
          </a:stretch>
        </p:blipFill>
        <p:spPr>
          <a:xfrm>
            <a:off x="335280" y="2715260"/>
            <a:ext cx="5441950" cy="39541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97200"/>
            <a:ext cx="5251450" cy="34747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770" y="439420"/>
            <a:ext cx="4517390" cy="23564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矩形 134"/>
          <p:cNvSpPr/>
          <p:nvPr/>
        </p:nvSpPr>
        <p:spPr>
          <a:xfrm>
            <a:off x="-24765" y="-27305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551180" y="260985"/>
            <a:ext cx="4610735" cy="43370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各页面核心组件与实现要点</a:t>
            </a:r>
            <a:endParaRPr lang="zh-CN" sz="2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390650" y="5095875"/>
            <a:ext cx="9525" cy="590550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143" name="圆角矩形 142"/>
          <p:cNvSpPr/>
          <p:nvPr/>
        </p:nvSpPr>
        <p:spPr>
          <a:xfrm>
            <a:off x="318135" y="1390015"/>
            <a:ext cx="4782820" cy="1104900"/>
          </a:xfrm>
          <a:prstGeom prst="roundRect">
            <a:avLst>
              <a:gd name="adj" fmla="val 6383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 el-card </a:t>
            </a:r>
            <a:r>
              <a:rPr lang="zh-CN" altLang="en-US"/>
              <a:t>卡片布局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采用 </a:t>
            </a:r>
            <a:r>
              <a:rPr lang="en-US" altLang="zh-CN"/>
              <a:t>el-form </a:t>
            </a:r>
            <a:r>
              <a:rPr lang="zh-CN" altLang="en-US"/>
              <a:t>表单，配合 </a:t>
            </a:r>
            <a:r>
              <a:rPr lang="en-US" altLang="zh-CN"/>
              <a:t>show-password </a:t>
            </a:r>
            <a:r>
              <a:rPr lang="zh-CN" altLang="en-US"/>
              <a:t>属性实现密码安全输入</a:t>
            </a:r>
            <a:endParaRPr lang="zh-CN" altLang="en-US"/>
          </a:p>
        </p:txBody>
      </p:sp>
      <p:sp>
        <p:nvSpPr>
          <p:cNvPr id="2" name="文本框 1" descr="{&quot;isTemplate&quot;:true,&quot;type&quot;:&quot;text&quot;}"/>
          <p:cNvSpPr txBox="1"/>
          <p:nvPr/>
        </p:nvSpPr>
        <p:spPr>
          <a:xfrm>
            <a:off x="695325" y="836930"/>
            <a:ext cx="4501515" cy="46609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altLang="zh-CN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SellerLogin.vue（</a:t>
            </a:r>
            <a:r>
              <a:rPr lang="zh-CN" altLang="en-US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卖家登录页）</a:t>
            </a:r>
            <a:endParaRPr lang="zh-CN" altLang="en-US" sz="2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035" y="2780665"/>
            <a:ext cx="4668520" cy="36379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H="1" flipV="1">
            <a:off x="5303520" y="836930"/>
            <a:ext cx="85725" cy="5354955"/>
          </a:xfrm>
          <a:prstGeom prst="rect">
            <a:avLst/>
          </a:prstGeom>
          <a:solidFill>
            <a:srgbClr val="C3DCFB"/>
          </a:solidFill>
          <a:ln>
            <a:noFill/>
          </a:ln>
        </p:spPr>
        <p:txBody>
          <a:bodyPr/>
          <a:p/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5807710" y="692150"/>
            <a:ext cx="4501515" cy="46609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altLang="zh-CN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SellerHome.vue（</a:t>
            </a:r>
            <a:r>
              <a:rPr lang="zh-CN" altLang="en-US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卖家管理后台）</a:t>
            </a:r>
            <a:endParaRPr lang="zh-CN" altLang="en-US" sz="2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591810" y="1124585"/>
            <a:ext cx="6288405" cy="1941830"/>
          </a:xfrm>
          <a:prstGeom prst="roundRect">
            <a:avLst>
              <a:gd name="adj" fmla="val 6383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采用双 </a:t>
            </a:r>
            <a:r>
              <a:rPr lang="en-US" altLang="zh-CN"/>
              <a:t>el-card </a:t>
            </a:r>
            <a:r>
              <a:rPr lang="zh-CN" altLang="en-US"/>
              <a:t>卡片布局，分为</a:t>
            </a:r>
            <a:endParaRPr lang="zh-CN" altLang="en-US"/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/>
              <a:t>商品展示和发布商品表单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 </a:t>
            </a:r>
            <a:r>
              <a:rPr lang="en-US" altLang="zh-CN"/>
              <a:t>el-page-header </a:t>
            </a:r>
            <a:r>
              <a:rPr lang="zh-CN" altLang="en-US"/>
              <a:t>组件展示页面标题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 el-empty </a:t>
            </a:r>
            <a:r>
              <a:rPr lang="zh-CN" altLang="en-US"/>
              <a:t>组件处理无商品空状态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 el-input-number </a:t>
            </a:r>
            <a:r>
              <a:rPr lang="zh-CN" altLang="en-US"/>
              <a:t>组件限制价格输入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发布操作完成后，</a:t>
            </a:r>
            <a:r>
              <a:rPr lang="zh-CN" altLang="en-US"/>
              <a:t>使用自定义加载</a:t>
            </a:r>
            <a:r>
              <a:rPr lang="zh-CN" altLang="en-US"/>
              <a:t>函数刷新数据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145" y="3140710"/>
            <a:ext cx="4114800" cy="38830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矩形 134"/>
          <p:cNvSpPr/>
          <p:nvPr/>
        </p:nvSpPr>
        <p:spPr>
          <a:xfrm>
            <a:off x="-24765" y="-27305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551180" y="260985"/>
            <a:ext cx="4610735" cy="43370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各页面核心组件与实现要点</a:t>
            </a:r>
            <a:endParaRPr lang="zh-CN" sz="2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390650" y="5095875"/>
            <a:ext cx="9525" cy="590550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143" name="圆角矩形 142"/>
          <p:cNvSpPr/>
          <p:nvPr/>
        </p:nvSpPr>
        <p:spPr>
          <a:xfrm>
            <a:off x="479425" y="1484630"/>
            <a:ext cx="9775825" cy="2013585"/>
          </a:xfrm>
          <a:prstGeom prst="roundRect">
            <a:avLst>
              <a:gd name="adj" fmla="val 6383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使用 </a:t>
            </a:r>
            <a:r>
              <a:rPr lang="en-US" altLang="zh-CN">
                <a:sym typeface="+mn-ea"/>
              </a:rPr>
              <a:t>el-page-header </a:t>
            </a:r>
            <a:r>
              <a:rPr lang="zh-CN" altLang="en-US">
                <a:sym typeface="+mn-ea"/>
              </a:rPr>
              <a:t>组件展示页面标题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并绑定@</a:t>
            </a:r>
            <a:r>
              <a:rPr lang="en-US" altLang="zh-CN">
                <a:sym typeface="+mn-ea"/>
              </a:rPr>
              <a:t>back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使用 </a:t>
            </a:r>
            <a:r>
              <a:rPr lang="en-US" altLang="zh-CN">
                <a:sym typeface="+mn-ea"/>
              </a:rPr>
              <a:t>el-table </a:t>
            </a:r>
            <a:r>
              <a:rPr lang="zh-CN" altLang="en-US">
                <a:sym typeface="+mn-ea"/>
              </a:rPr>
              <a:t>表格展示意向列表数据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表格操作列使用 作用域插槽</a:t>
            </a:r>
            <a:r>
              <a:rPr lang="en-US" altLang="zh-CN"/>
              <a:t>（#default="{row}"）</a:t>
            </a:r>
            <a:r>
              <a:rPr lang="zh-CN" altLang="en-US"/>
              <a:t>实现行级操作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状态列使用</a:t>
            </a:r>
            <a:r>
              <a:rPr lang="en-US" altLang="zh-CN"/>
              <a:t> </a:t>
            </a:r>
            <a:r>
              <a:rPr lang="zh-CN" altLang="en-US"/>
              <a:t>插槽 + </a:t>
            </a:r>
            <a:r>
              <a:rPr lang="en-US" altLang="zh-CN"/>
              <a:t>INTENT_STATUS </a:t>
            </a:r>
            <a:r>
              <a:rPr lang="zh-CN" altLang="en-US"/>
              <a:t>的常量</a:t>
            </a:r>
            <a:r>
              <a:rPr lang="en-US" altLang="zh-CN"/>
              <a:t> </a:t>
            </a:r>
            <a:r>
              <a:rPr lang="zh-CN" altLang="en-US"/>
              <a:t>做中文映射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通过</a:t>
            </a:r>
            <a:r>
              <a:rPr lang="en-US" altLang="zh-CN"/>
              <a:t>useRoute()</a:t>
            </a:r>
            <a:r>
              <a:rPr lang="zh-CN" altLang="en-US"/>
              <a:t>读取路由参数</a:t>
            </a:r>
            <a:r>
              <a:rPr lang="en-US" altLang="zh-CN"/>
              <a:t>productId，</a:t>
            </a:r>
            <a:r>
              <a:rPr lang="zh-CN" altLang="en-US"/>
              <a:t>加载对应商品的意向数据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操作完成后调用</a:t>
            </a:r>
            <a:r>
              <a:rPr lang="en-US" altLang="zh-CN"/>
              <a:t>loadList()</a:t>
            </a:r>
            <a:r>
              <a:rPr lang="zh-CN" altLang="en-US"/>
              <a:t>刷新表格</a:t>
            </a:r>
            <a:endParaRPr lang="zh-CN" altLang="en-US"/>
          </a:p>
        </p:txBody>
      </p:sp>
      <p:sp>
        <p:nvSpPr>
          <p:cNvPr id="2" name="文本框 1" descr="{&quot;isTemplate&quot;:true,&quot;type&quot;:&quot;text&quot;}"/>
          <p:cNvSpPr txBox="1"/>
          <p:nvPr/>
        </p:nvSpPr>
        <p:spPr>
          <a:xfrm>
            <a:off x="695325" y="883920"/>
            <a:ext cx="4501515" cy="46609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altLang="zh-CN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IntentList.vue（</a:t>
            </a:r>
            <a:r>
              <a:rPr lang="zh-CN" altLang="en-US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意向队列页）</a:t>
            </a:r>
            <a:endParaRPr lang="zh-CN" altLang="en-US" sz="2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3578860"/>
            <a:ext cx="11616055" cy="21259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矩形 134"/>
          <p:cNvSpPr/>
          <p:nvPr/>
        </p:nvSpPr>
        <p:spPr>
          <a:xfrm>
            <a:off x="-24765" y="-27305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551180" y="260985"/>
            <a:ext cx="4610735" cy="43370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2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各页面核心组件与实现要点</a:t>
            </a:r>
            <a:endParaRPr lang="zh-CN" sz="2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390650" y="5095875"/>
            <a:ext cx="9525" cy="590550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143" name="圆角矩形 142"/>
          <p:cNvSpPr/>
          <p:nvPr/>
        </p:nvSpPr>
        <p:spPr>
          <a:xfrm>
            <a:off x="318135" y="1268730"/>
            <a:ext cx="5015865" cy="1607185"/>
          </a:xfrm>
          <a:prstGeom prst="roundRect">
            <a:avLst>
              <a:gd name="adj" fmla="val 6383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 el-card </a:t>
            </a:r>
            <a:r>
              <a:rPr lang="zh-CN" altLang="en-US"/>
              <a:t>卡片布局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使用 </a:t>
            </a:r>
            <a:r>
              <a:rPr lang="en-US" altLang="zh-CN">
                <a:sym typeface="+mn-ea"/>
              </a:rPr>
              <a:t>el-page-header </a:t>
            </a:r>
            <a:r>
              <a:rPr lang="zh-CN" altLang="en-US">
                <a:sym typeface="+mn-ea"/>
              </a:rPr>
              <a:t>组件展示页面标题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，并绑定@</a:t>
            </a:r>
            <a:r>
              <a:rPr lang="en-US" altLang="zh-CN">
                <a:sym typeface="+mn-ea"/>
              </a:rPr>
              <a:t>back</a:t>
            </a:r>
            <a:r>
              <a:rPr lang="zh-CN" altLang="en-US">
                <a:sym typeface="+mn-ea"/>
              </a:rPr>
              <a:t>事件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只读页面，仅加载数据并展示表格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同样包含登录状态校验</a:t>
            </a:r>
            <a:endParaRPr lang="zh-CN" altLang="en-US"/>
          </a:p>
        </p:txBody>
      </p:sp>
      <p:sp>
        <p:nvSpPr>
          <p:cNvPr id="2" name="文本框 1" descr="{&quot;isTemplate&quot;:true,&quot;type&quot;:&quot;text&quot;}"/>
          <p:cNvSpPr txBox="1"/>
          <p:nvPr/>
        </p:nvSpPr>
        <p:spPr>
          <a:xfrm>
            <a:off x="335280" y="836295"/>
            <a:ext cx="4501515" cy="46609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altLang="zh-CN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HistoryProduct.vue（</a:t>
            </a:r>
            <a:r>
              <a:rPr lang="zh-CN" altLang="en-US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历史下架商品页）</a:t>
            </a:r>
            <a:endParaRPr lang="zh-CN" altLang="en-US" sz="2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 flipH="1" flipV="1">
            <a:off x="6000750" y="694690"/>
            <a:ext cx="76200" cy="5598160"/>
          </a:xfrm>
          <a:prstGeom prst="rect">
            <a:avLst/>
          </a:prstGeom>
          <a:solidFill>
            <a:srgbClr val="C3DCFB"/>
          </a:solidFill>
          <a:ln>
            <a:noFill/>
          </a:ln>
        </p:spPr>
        <p:txBody>
          <a:bodyPr/>
          <a:p/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6456045" y="836295"/>
            <a:ext cx="4501515" cy="46609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altLang="zh-CN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ModifyPwd.vue（</a:t>
            </a:r>
            <a:r>
              <a:rPr lang="zh-CN" altLang="en-US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修改密码页）</a:t>
            </a:r>
            <a:endParaRPr lang="zh-CN" altLang="en-US" sz="2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383655" y="1302385"/>
            <a:ext cx="5698490" cy="1358900"/>
          </a:xfrm>
          <a:prstGeom prst="roundRect">
            <a:avLst>
              <a:gd name="adj" fmla="val 6383"/>
            </a:avLst>
          </a:prstGeom>
          <a:solidFill>
            <a:srgbClr val="2563EB">
              <a:alpha val="7000"/>
            </a:srgbClr>
          </a:solidFill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el-card </a:t>
            </a:r>
            <a:r>
              <a:rPr lang="zh-CN" altLang="en-US"/>
              <a:t>卡片</a:t>
            </a:r>
            <a:r>
              <a:rPr lang="zh-CN" altLang="en-US"/>
              <a:t>布局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使用 </a:t>
            </a:r>
            <a:r>
              <a:rPr lang="en-US" altLang="zh-CN">
                <a:sym typeface="+mn-ea"/>
              </a:rPr>
              <a:t>el-page-header </a:t>
            </a:r>
            <a:r>
              <a:rPr lang="zh-CN" altLang="en-US">
                <a:sym typeface="+mn-ea"/>
              </a:rPr>
              <a:t>组件展示页面标题，</a:t>
            </a:r>
            <a:endParaRPr lang="zh-CN" altLang="en-US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      </a:t>
            </a:r>
            <a:r>
              <a:rPr lang="zh-CN" altLang="en-US">
                <a:sym typeface="+mn-ea"/>
              </a:rPr>
              <a:t>并绑定@</a:t>
            </a:r>
            <a:r>
              <a:rPr lang="en-US" altLang="zh-CN">
                <a:sym typeface="+mn-ea"/>
              </a:rPr>
              <a:t>back</a:t>
            </a:r>
            <a:r>
              <a:rPr lang="zh-CN" altLang="en-US">
                <a:sym typeface="+mn-ea"/>
              </a:rPr>
              <a:t>事件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6011"/>
          <a:stretch>
            <a:fillRect/>
          </a:stretch>
        </p:blipFill>
        <p:spPr>
          <a:xfrm>
            <a:off x="46990" y="2853055"/>
            <a:ext cx="6014720" cy="24136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840" y="2517140"/>
            <a:ext cx="5771515" cy="25787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1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5257800" y="1390650"/>
            <a:ext cx="1685925" cy="1104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8 / 8</a:t>
            </a:r>
            <a:endParaRPr lang="en-US" sz="7200" b="1" spc="-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2628900" y="2762250"/>
            <a:ext cx="6934200" cy="7715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页面开发完成，实现业务</a:t>
            </a:r>
            <a:r>
              <a:rPr lang="zh-CN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闭环</a:t>
            </a:r>
            <a:endParaRPr lang="zh-CN" sz="4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矩形 200"/>
          <p:cNvSpPr/>
          <p:nvPr/>
        </p:nvSpPr>
        <p:spPr>
          <a:xfrm>
            <a:off x="5676900" y="3838575"/>
            <a:ext cx="838200" cy="38100"/>
          </a:xfrm>
          <a:prstGeom prst="rect">
            <a:avLst/>
          </a:prstGeom>
          <a:solidFill>
            <a:srgbClr val="2563EB"/>
          </a:solidFill>
        </p:spPr>
        <p:txBody>
          <a:bodyPr/>
          <a:p/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3848100" y="4181475"/>
            <a:ext cx="571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开发完成</a:t>
            </a:r>
            <a:endParaRPr lang="zh-CN" sz="1050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3429000" y="4438650"/>
            <a:ext cx="1409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个页面全部开发完成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5800725" y="4181475"/>
            <a:ext cx="571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接口对接</a:t>
            </a:r>
            <a:endParaRPr lang="zh-CN" sz="1050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5372100" y="4438650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前后端接口已对接联调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7762875" y="4181475"/>
            <a:ext cx="571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业务流程</a:t>
            </a:r>
            <a:endParaRPr lang="zh-CN" sz="1050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7334250" y="4438650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买家与卖家双角色闭环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3562350" y="5143500"/>
            <a:ext cx="5067300" cy="3333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一个可运行、可维护、可扩展的商城前端原型。</a:t>
            </a:r>
            <a:r>
              <a:rPr lang="en-US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1.75,&quot;left&quot;:54,&quot;top&quot;:177.75,&quot;width&quot;:767.25}"/>
</p:tagLst>
</file>

<file path=ppt/tags/tag2.xml><?xml version="1.0" encoding="utf-8"?>
<p:tagLst xmlns:p="http://schemas.openxmlformats.org/presentationml/2006/main">
  <p:tag name="KSO_WM_DIAGRAM_VIRTUALLY_FRAME" val="{&quot;height&quot;:141.75,&quot;left&quot;:54,&quot;top&quot;:177.75,&quot;width&quot;:767.25}"/>
</p:tagLst>
</file>

<file path=ppt/tags/tag3.xml><?xml version="1.0" encoding="utf-8"?>
<p:tagLst xmlns:p="http://schemas.openxmlformats.org/presentationml/2006/main">
  <p:tag name="KSO_WM_DIAGRAM_VIRTUALLY_FRAME" val="{&quot;height&quot;:141.75,&quot;left&quot;:54,&quot;top&quot;:177.75,&quot;width&quot;:767.25}"/>
</p:tagLst>
</file>

<file path=ppt/tags/tag4.xml><?xml version="1.0" encoding="utf-8"?>
<p:tagLst xmlns:p="http://schemas.openxmlformats.org/presentationml/2006/main">
  <p:tag name="KSO_WM_DIAGRAM_VIRTUALLY_FRAME" val="{&quot;height&quot;:141.75,&quot;left&quot;:54,&quot;top&quot;:177.75,&quot;width&quot;:767.25}"/>
</p:tagLst>
</file>

<file path=ppt/tags/tag5.xml><?xml version="1.0" encoding="utf-8"?>
<p:tagLst xmlns:p="http://schemas.openxmlformats.org/presentationml/2006/main">
  <p:tag name="KSO_WM_DIAGRAM_VIRTUALLY_FRAME" val="{&quot;height&quot;:141.75,&quot;left&quot;:54,&quot;top&quot;:177.75,&quot;width&quot;:767.25}"/>
</p:tagLst>
</file>

<file path=ppt/tags/tag6.xml><?xml version="1.0" encoding="utf-8"?>
<p:tagLst xmlns:p="http://schemas.openxmlformats.org/presentationml/2006/main">
  <p:tag name="KSO_WM_DIAGRAM_VIRTUALLY_FRAME" val="{&quot;height&quot;:141.75,&quot;left&quot;:54,&quot;top&quot;:177.75,&quot;width&quot;:767.25}"/>
</p:tagLst>
</file>

<file path=ppt/tags/tag7.xml><?xml version="1.0" encoding="utf-8"?>
<p:tagLst xmlns:p="http://schemas.openxmlformats.org/presentationml/2006/main">
  <p:tag name="KSO_WM_DIAGRAM_VIRTUALLY_FRAME" val="{&quot;height&quot;:141.75,&quot;left&quot;:54,&quot;top&quot;:177.75,&quot;width&quot;:767.25}"/>
</p:tagLst>
</file>

<file path=ppt/tags/tag8.xml><?xml version="1.0" encoding="utf-8"?>
<p:tagLst xmlns:p="http://schemas.openxmlformats.org/presentationml/2006/main">
  <p:tag name="KSO_WM_DIAGRAM_VIRTUALLY_FRAME" val="{&quot;height&quot;:141.75,&quot;left&quot;:54,&quot;top&quot;:177.75,&quot;width&quot;:767.25}"/>
</p:tagLst>
</file>

<file path=ppt/tags/tag9.xml><?xml version="1.0" encoding="utf-8"?>
<p:tagLst xmlns:p="http://schemas.openxmlformats.org/presentationml/2006/main">
  <p:tag name="KSO_WM_DIAGRAM_VIRTUALLY_FRAME" val="{&quot;height&quot;:405,&quot;left&quot;:603,&quot;top&quot;:90,&quot;width&quot;:303}"/>
</p:tagLst>
</file>

<file path=ppt/tags/tag10.xml><?xml version="1.0" encoding="utf-8"?>
<p:tagLst xmlns:p="http://schemas.openxmlformats.org/presentationml/2006/main">
  <p:tag name="KSO_WM_DIAGRAM_VIRTUALLY_FRAME" val="{&quot;height&quot;:405,&quot;left&quot;:603,&quot;top&quot;:90,&quot;width&quot;:303}"/>
</p:tagLst>
</file>

<file path=ppt/tags/tag11.xml><?xml version="1.0" encoding="utf-8"?>
<p:tagLst xmlns:p="http://schemas.openxmlformats.org/presentationml/2006/main">
  <p:tag name="KSO_WM_DIAGRAM_VIRTUALLY_FRAME" val="{&quot;height&quot;:405,&quot;left&quot;:603,&quot;top&quot;:90,&quot;width&quot;:303}"/>
</p:tagLst>
</file>

<file path=ppt/tags/tag12.xml><?xml version="1.0" encoding="utf-8"?>
<p:tagLst xmlns:p="http://schemas.openxmlformats.org/presentationml/2006/main">
  <p:tag name="KSO_WM_DIAGRAM_VIRTUALLY_FRAME" val="{&quot;height&quot;:405,&quot;left&quot;:603,&quot;top&quot;:90,&quot;width&quot;:303}"/>
</p:tagLst>
</file>

<file path=ppt/tags/tag13.xml><?xml version="1.0" encoding="utf-8"?>
<p:tagLst xmlns:p="http://schemas.openxmlformats.org/presentationml/2006/main">
  <p:tag name="KSO_WM_DIAGRAM_VIRTUALLY_FRAME" val="{&quot;height&quot;:405,&quot;left&quot;:603,&quot;top&quot;:90,&quot;width&quot;:303}"/>
</p:tagLst>
</file>

<file path=ppt/tags/tag14.xml><?xml version="1.0" encoding="utf-8"?>
<p:tagLst xmlns:p="http://schemas.openxmlformats.org/presentationml/2006/main">
  <p:tag name="KSO_WM_DIAGRAM_VIRTUALLY_FRAME" val="{&quot;height&quot;:405,&quot;left&quot;:603,&quot;top&quot;:90,&quot;width&quot;:303}"/>
</p:tagLst>
</file>

<file path=ppt/tags/tag15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16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17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18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19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20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21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22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23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24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25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26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27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28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29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30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4379</Words>
  <Application>WPS 演示</Application>
  <PresentationFormat/>
  <Paragraphs>332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Times New Roman</vt:lpstr>
      <vt:lpstr>JetBrains Mono</vt:lpstr>
      <vt:lpstr>Segoe Print</vt:lpstr>
      <vt:lpstr>等线</vt:lpstr>
      <vt:lpstr>Arial Unicode MS</vt:lpstr>
      <vt:lpstr>等线 Light</vt:lpstr>
      <vt:lpstr>Calibri</vt:lpstr>
      <vt:lpstr>JetBrains Mono</vt:lpstr>
      <vt:lpstr>Jetter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酒酿樱桃子．</cp:lastModifiedBy>
  <cp:revision>39</cp:revision>
  <dcterms:created xsi:type="dcterms:W3CDTF">2026-10-11T06:11:00Z</dcterms:created>
  <dcterms:modified xsi:type="dcterms:W3CDTF">2026-10-14T13:48:41Z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351E08C13F24477F99C54ECF5C0A0B6B_12</vt:lpwstr>
  </property>
</Properties>
</file>