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F31EB-D3FF-4355-8087-5FFA48FC4C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F33A4-4627-4D49-A0B1-5B9D0409727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F31EB-D3FF-4355-8087-5FFA48FC4C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F33A4-4627-4D49-A0B1-5B9D0409727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F31EB-D3FF-4355-8087-5FFA48FC4C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F33A4-4627-4D49-A0B1-5B9D0409727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F31EB-D3FF-4355-8087-5FFA48FC4C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F33A4-4627-4D49-A0B1-5B9D0409727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F31EB-D3FF-4355-8087-5FFA48FC4C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F33A4-4627-4D49-A0B1-5B9D0409727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F31EB-D3FF-4355-8087-5FFA48FC4C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F33A4-4627-4D49-A0B1-5B9D0409727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F31EB-D3FF-4355-8087-5FFA48FC4C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F33A4-4627-4D49-A0B1-5B9D0409727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F31EB-D3FF-4355-8087-5FFA48FC4C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F33A4-4627-4D49-A0B1-5B9D0409727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F31EB-D3FF-4355-8087-5FFA48FC4C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F33A4-4627-4D49-A0B1-5B9D0409727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F31EB-D3FF-4355-8087-5FFA48FC4C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F33A4-4627-4D49-A0B1-5B9D0409727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F31EB-D3FF-4355-8087-5FFA48FC4C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F33A4-4627-4D49-A0B1-5B9D0409727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EF31EB-D3FF-4355-8087-5FFA48FC4C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F33A4-4627-4D49-A0B1-5B9D0409727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76581" y="321908"/>
            <a:ext cx="5109882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后端技术：</a:t>
            </a:r>
            <a:r>
              <a:rPr lang="zh-CN" altLang="zh-CN" dirty="0"/>
              <a:t>后端采用</a:t>
            </a:r>
            <a:r>
              <a:rPr lang="zh-CN" altLang="zh-CN" b="1" dirty="0"/>
              <a:t>SpringBoot3+MyBatis + MySQL + Lombok（自动生成模板代码）</a:t>
            </a:r>
            <a:r>
              <a:rPr lang="zh-CN" altLang="zh-CN" dirty="0"/>
              <a:t>，</a:t>
            </a:r>
            <a:r>
              <a:rPr lang="zh-CN" altLang="zh-CN" dirty="0"/>
              <a:t>采用REST 接口</a:t>
            </a:r>
            <a:endParaRPr lang="en-US" altLang="zh-CN" dirty="0"/>
          </a:p>
          <a:p>
            <a:r>
              <a:rPr lang="zh-CN" altLang="en-US" dirty="0"/>
              <a:t>使用软件：</a:t>
            </a:r>
            <a:r>
              <a:rPr lang="en-US" altLang="zh-CN" dirty="0" err="1"/>
              <a:t>vscode</a:t>
            </a:r>
            <a:r>
              <a:rPr lang="zh-CN" altLang="en-US" dirty="0" err="1"/>
              <a:t>，豆包，</a:t>
            </a:r>
            <a:r>
              <a:rPr lang="en-US" altLang="zh-CN" dirty="0" err="1"/>
              <a:t>code</a:t>
            </a:r>
            <a:r>
              <a:rPr lang="en-US" altLang="zh-CN" dirty="0" err="1"/>
              <a:t>buddy</a:t>
            </a:r>
            <a:endParaRPr lang="en-US" altLang="zh-CN" dirty="0" err="1"/>
          </a:p>
        </p:txBody>
      </p:sp>
      <p:sp>
        <p:nvSpPr>
          <p:cNvPr id="5" name="文本框 4"/>
          <p:cNvSpPr txBox="1"/>
          <p:nvPr/>
        </p:nvSpPr>
        <p:spPr>
          <a:xfrm>
            <a:off x="699247" y="1600200"/>
            <a:ext cx="3919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数据库设计（</a:t>
            </a:r>
            <a:r>
              <a:rPr lang="en-US" altLang="zh-CN" dirty="0" err="1"/>
              <a:t>online_shop</a:t>
            </a:r>
            <a:r>
              <a:rPr lang="zh-CN" altLang="en-US" dirty="0"/>
              <a:t>）：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10320487" y="2250122"/>
            <a:ext cx="1022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intent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3220847"/>
            <a:ext cx="10644667" cy="91804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0449554" y="2851515"/>
            <a:ext cx="1022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product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312" y="4471077"/>
            <a:ext cx="3031896" cy="852384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4027394" y="4897269"/>
            <a:ext cx="833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seller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090" y="2110740"/>
            <a:ext cx="9082405" cy="9683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2835" y="22096"/>
            <a:ext cx="3440635" cy="6813807"/>
          </a:xfrm>
          <a:prstGeom prst="rect">
            <a:avLst/>
          </a:prstGeom>
        </p:spPr>
      </p:pic>
      <p:sp>
        <p:nvSpPr>
          <p:cNvPr id="24" name="矩形 23"/>
          <p:cNvSpPr/>
          <p:nvPr/>
        </p:nvSpPr>
        <p:spPr>
          <a:xfrm>
            <a:off x="4252822" y="356537"/>
            <a:ext cx="6837871" cy="3565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公共通用代码：全局异常处理、返回结果封装、工具常量</a:t>
            </a:r>
            <a:endParaRPr lang="zh-CN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4330461" y="1230702"/>
            <a:ext cx="6119004" cy="4600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控制器层【REST接口】接收前端http请求，返回JSON</a:t>
            </a:r>
            <a:endParaRPr lang="zh-CN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4330460" y="1949571"/>
            <a:ext cx="6274280" cy="5233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买家的数据传输对象，接收前端提交/返回给前端的数据</a:t>
            </a:r>
            <a:endParaRPr lang="zh-CN" altLang="en-US" dirty="0"/>
          </a:p>
        </p:txBody>
      </p:sp>
      <p:sp>
        <p:nvSpPr>
          <p:cNvPr id="27" name="矩形 26"/>
          <p:cNvSpPr/>
          <p:nvPr/>
        </p:nvSpPr>
        <p:spPr>
          <a:xfrm>
            <a:off x="4410973" y="2743200"/>
            <a:ext cx="3214777" cy="4744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卖家的数据传输对象</a:t>
            </a:r>
            <a:endParaRPr lang="zh-CN" altLang="en-US" dirty="0"/>
          </a:p>
        </p:txBody>
      </p:sp>
      <p:sp>
        <p:nvSpPr>
          <p:cNvPr id="28" name="矩形 27"/>
          <p:cNvSpPr/>
          <p:nvPr/>
        </p:nvSpPr>
        <p:spPr>
          <a:xfrm>
            <a:off x="4330460" y="3472157"/>
            <a:ext cx="6176514" cy="4744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实体类，和</a:t>
            </a:r>
            <a:r>
              <a:rPr lang="en-US" altLang="zh-CN" dirty="0"/>
              <a:t>MySQL</a:t>
            </a:r>
            <a:r>
              <a:rPr lang="zh-CN" altLang="en-US" dirty="0"/>
              <a:t>数据库表一一对应，加</a:t>
            </a:r>
            <a:r>
              <a:rPr lang="en-US" altLang="zh-CN" dirty="0"/>
              <a:t>@Data(lombok)</a:t>
            </a:r>
            <a:endParaRPr lang="zh-CN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4410973" y="4140679"/>
            <a:ext cx="6038492" cy="5233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枚举：订单状态、商品状态（状态机流转放这里）</a:t>
            </a:r>
            <a:endParaRPr lang="zh-CN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4410973" y="4888302"/>
            <a:ext cx="5975231" cy="5233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MyBatis</a:t>
            </a:r>
            <a:r>
              <a:rPr lang="en-US" altLang="zh-CN" dirty="0"/>
              <a:t>‑Mapper</a:t>
            </a:r>
            <a:r>
              <a:rPr lang="zh-CN" altLang="en-US" dirty="0"/>
              <a:t>接口，操作数据库，没有实现类</a:t>
            </a:r>
            <a:endParaRPr lang="zh-CN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4462732" y="5624423"/>
            <a:ext cx="5923472" cy="5233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业务逻辑层，写项目业务代码，调用</a:t>
            </a:r>
            <a:r>
              <a:rPr lang="en-US" altLang="zh-CN" dirty="0"/>
              <a:t>mapper</a:t>
            </a:r>
            <a:r>
              <a:rPr lang="zh-CN" altLang="en-US" dirty="0"/>
              <a:t>操作数据库</a:t>
            </a:r>
            <a:endParaRPr lang="zh-CN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4520242" y="6300180"/>
            <a:ext cx="5509404" cy="4025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小工具类：密码加密、时间处理等</a:t>
            </a:r>
            <a:endParaRPr lang="zh-CN" altLang="en-US" dirty="0"/>
          </a:p>
        </p:txBody>
      </p:sp>
      <p:cxnSp>
        <p:nvCxnSpPr>
          <p:cNvPr id="34" name="直接箭头连接符 33"/>
          <p:cNvCxnSpPr>
            <a:endCxn id="24" idx="1"/>
          </p:cNvCxnSpPr>
          <p:nvPr/>
        </p:nvCxnSpPr>
        <p:spPr>
          <a:xfrm flipV="1">
            <a:off x="1477992" y="534816"/>
            <a:ext cx="2774830" cy="1414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>
            <a:endCxn id="25" idx="1"/>
          </p:cNvCxnSpPr>
          <p:nvPr/>
        </p:nvCxnSpPr>
        <p:spPr>
          <a:xfrm flipV="1">
            <a:off x="1518249" y="1460728"/>
            <a:ext cx="2812212" cy="7505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>
            <a:endCxn id="26" idx="1"/>
          </p:cNvCxnSpPr>
          <p:nvPr/>
        </p:nvCxnSpPr>
        <p:spPr>
          <a:xfrm flipV="1">
            <a:off x="1339970" y="2211239"/>
            <a:ext cx="2990490" cy="4744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>
            <a:endCxn id="27" idx="1"/>
          </p:cNvCxnSpPr>
          <p:nvPr/>
        </p:nvCxnSpPr>
        <p:spPr>
          <a:xfrm>
            <a:off x="1265208" y="2980426"/>
            <a:ext cx="314576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>
            <a:endCxn id="28" idx="1"/>
          </p:cNvCxnSpPr>
          <p:nvPr/>
        </p:nvCxnSpPr>
        <p:spPr>
          <a:xfrm>
            <a:off x="1276709" y="3217653"/>
            <a:ext cx="3053751" cy="4917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>
            <a:endCxn id="29" idx="1"/>
          </p:cNvCxnSpPr>
          <p:nvPr/>
        </p:nvCxnSpPr>
        <p:spPr>
          <a:xfrm>
            <a:off x="1339970" y="3472157"/>
            <a:ext cx="3071003" cy="9301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>
            <a:endCxn id="30" idx="1"/>
          </p:cNvCxnSpPr>
          <p:nvPr/>
        </p:nvCxnSpPr>
        <p:spPr>
          <a:xfrm>
            <a:off x="1339970" y="3709384"/>
            <a:ext cx="3071003" cy="1440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>
            <a:endCxn id="31" idx="1"/>
          </p:cNvCxnSpPr>
          <p:nvPr/>
        </p:nvCxnSpPr>
        <p:spPr>
          <a:xfrm>
            <a:off x="1339970" y="3937252"/>
            <a:ext cx="3122762" cy="19488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>
            <a:endCxn id="32" idx="1"/>
          </p:cNvCxnSpPr>
          <p:nvPr/>
        </p:nvCxnSpPr>
        <p:spPr>
          <a:xfrm>
            <a:off x="1092679" y="4140679"/>
            <a:ext cx="3427563" cy="23607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790" y="162560"/>
            <a:ext cx="6814820" cy="63582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340</Words>
  <Application>WPS 演示</Application>
  <PresentationFormat>宽屏</PresentationFormat>
  <Paragraphs>29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宋体</vt:lpstr>
      <vt:lpstr>Wingdings</vt:lpstr>
      <vt:lpstr>等线</vt:lpstr>
      <vt:lpstr>微软雅黑</vt:lpstr>
      <vt:lpstr>Arial Unicode MS</vt:lpstr>
      <vt:lpstr>等线 Light</vt:lpstr>
      <vt:lpstr>Calibri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倩 高</dc:creator>
  <cp:lastModifiedBy>GQ</cp:lastModifiedBy>
  <cp:revision>2</cp:revision>
  <dcterms:created xsi:type="dcterms:W3CDTF">2026-10-09T06:12:00Z</dcterms:created>
  <dcterms:modified xsi:type="dcterms:W3CDTF">2026-10-14T11:49:58Z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C0BAFBAA9ABE4F58972368D84291F010_12</vt:lpwstr>
  </property>
</Properties>
</file>